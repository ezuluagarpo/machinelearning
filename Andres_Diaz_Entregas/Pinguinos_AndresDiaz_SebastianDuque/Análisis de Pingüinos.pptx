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6" r:id="rId2"/>
    <p:sldId id="257" r:id="rId3"/>
    <p:sldId id="260" r:id="rId4"/>
    <p:sldId id="258" r:id="rId5"/>
    <p:sldId id="263" r:id="rId6"/>
    <p:sldId id="264" r:id="rId7"/>
    <p:sldId id="267" r:id="rId8"/>
    <p:sldId id="269" r:id="rId9"/>
    <p:sldId id="268" r:id="rId10"/>
    <p:sldId id="261" r:id="rId11"/>
    <p:sldId id="262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Columna1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4000"/>
                      <a:satMod val="100000"/>
                      <a:lumMod val="104000"/>
                    </a:schemeClr>
                  </a:gs>
                  <a:gs pos="69000">
                    <a:schemeClr val="accent1">
                      <a:shade val="86000"/>
                      <a:satMod val="130000"/>
                      <a:lumMod val="102000"/>
                    </a:schemeClr>
                  </a:gs>
                  <a:gs pos="100000">
                    <a:schemeClr val="accent1">
                      <a:shade val="72000"/>
                      <a:satMod val="13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algn="ctr" rotWithShape="0">
                  <a:srgbClr val="000000">
                    <a:alpha val="7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 prstMaterial="matte">
                <a:bevelT w="25400" h="25400" prst="relaxedInset"/>
              </a:sp3d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4000"/>
                      <a:satMod val="100000"/>
                      <a:lumMod val="104000"/>
                    </a:schemeClr>
                  </a:gs>
                  <a:gs pos="69000">
                    <a:schemeClr val="accent2">
                      <a:shade val="86000"/>
                      <a:satMod val="130000"/>
                      <a:lumMod val="102000"/>
                    </a:schemeClr>
                  </a:gs>
                  <a:gs pos="100000">
                    <a:schemeClr val="accent2">
                      <a:shade val="72000"/>
                      <a:satMod val="13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algn="ctr" rotWithShape="0">
                  <a:srgbClr val="000000">
                    <a:alpha val="7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 prstMaterial="matte">
                <a:bevelT w="25400" h="25400" prst="relaxedInset"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1"/>
                <c:pt idx="0">
                  <c:v>Accuracy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81-4AEE-800F-C1AE25C39EA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Columna1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4000"/>
                      <a:satMod val="100000"/>
                      <a:lumMod val="104000"/>
                    </a:schemeClr>
                  </a:gs>
                  <a:gs pos="69000">
                    <a:schemeClr val="accent1">
                      <a:shade val="86000"/>
                      <a:satMod val="130000"/>
                      <a:lumMod val="102000"/>
                    </a:schemeClr>
                  </a:gs>
                  <a:gs pos="100000">
                    <a:schemeClr val="accent1">
                      <a:shade val="72000"/>
                      <a:satMod val="13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algn="ctr" rotWithShape="0">
                  <a:srgbClr val="000000">
                    <a:alpha val="7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 prstMaterial="matte">
                <a:bevelT w="25400" h="25400" prst="relaxedInset"/>
              </a:sp3d>
            </c:spPr>
            <c:extLst>
              <c:ext xmlns:c16="http://schemas.microsoft.com/office/drawing/2014/chart" uri="{C3380CC4-5D6E-409C-BE32-E72D297353CC}">
                <c16:uniqueId val="{00000001-027F-4776-AF44-53CB6FD065C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4000"/>
                      <a:satMod val="100000"/>
                      <a:lumMod val="104000"/>
                    </a:schemeClr>
                  </a:gs>
                  <a:gs pos="69000">
                    <a:schemeClr val="accent2">
                      <a:shade val="86000"/>
                      <a:satMod val="130000"/>
                      <a:lumMod val="102000"/>
                    </a:schemeClr>
                  </a:gs>
                  <a:gs pos="100000">
                    <a:schemeClr val="accent2">
                      <a:shade val="72000"/>
                      <a:satMod val="13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5400000" algn="ctr" rotWithShape="0">
                  <a:srgbClr val="000000">
                    <a:alpha val="76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/>
              </a:scene3d>
              <a:sp3d prstMaterial="matte">
                <a:bevelT w="25400" h="25400" prst="relaxedInset"/>
              </a:sp3d>
            </c:spPr>
            <c:extLst>
              <c:ext xmlns:c16="http://schemas.microsoft.com/office/drawing/2014/chart" uri="{C3380CC4-5D6E-409C-BE32-E72D297353CC}">
                <c16:uniqueId val="{00000003-027F-4776-AF44-53CB6FD065C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90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27F-4776-AF44-53CB6FD06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1"/>
                <c:pt idx="0">
                  <c:v>Accuracy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7F-4776-AF44-53CB6FD065C1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020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630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145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0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511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109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342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8610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436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256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5461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1997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4573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384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6558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895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910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DF8D9-0FD1-4768-A89B-97FD5F19EEA2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E0AFC-B039-42FF-B42D-7A5D3641C2C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35126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E3007-AD60-1255-20BD-82CCBFD56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446756"/>
            <a:ext cx="3932237" cy="621632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/>
              <a:t>Análisis de Pingüinos</a:t>
            </a:r>
            <a:endParaRPr lang="es-CO" b="1" dirty="0"/>
          </a:p>
        </p:txBody>
      </p:sp>
      <p:pic>
        <p:nvPicPr>
          <p:cNvPr id="7170" name="Picture 2" descr="El pingüino 'nihilista': origen del video viral que rompió el Internet-  Grupo Milenio">
            <a:extLst>
              <a:ext uri="{FF2B5EF4-FFF2-40B4-BE49-F238E27FC236}">
                <a16:creationId xmlns:a16="http://schemas.microsoft.com/office/drawing/2014/main" id="{8D5E39AA-F4AB-314E-C394-E8333908FC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11"/>
            <a:ext cx="12248590" cy="685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5C48EA-65E2-7839-E6F4-A5DE083A3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641" y="264695"/>
            <a:ext cx="3932237" cy="2026903"/>
          </a:xfrm>
        </p:spPr>
        <p:txBody>
          <a:bodyPr>
            <a:normAutofit fontScale="62500" lnSpcReduction="20000"/>
          </a:bodyPr>
          <a:lstStyle/>
          <a:p>
            <a:endParaRPr lang="es-MX" dirty="0"/>
          </a:p>
          <a:p>
            <a:r>
              <a:rPr lang="es-MX" sz="4700" b="1" dirty="0">
                <a:solidFill>
                  <a:schemeClr val="bg1"/>
                </a:solidFill>
              </a:rPr>
              <a:t>Pingüinos</a:t>
            </a:r>
          </a:p>
          <a:p>
            <a:endParaRPr lang="es-MX" sz="2400" b="1" dirty="0">
              <a:solidFill>
                <a:schemeClr val="bg1"/>
              </a:solidFill>
            </a:endParaRPr>
          </a:p>
          <a:p>
            <a:r>
              <a:rPr lang="es-MX" sz="2400" b="1" dirty="0">
                <a:solidFill>
                  <a:schemeClr val="bg1"/>
                </a:solidFill>
              </a:rPr>
              <a:t>Andrés Díaz</a:t>
            </a:r>
          </a:p>
          <a:p>
            <a:r>
              <a:rPr lang="es-MX" sz="2400" b="1" dirty="0" err="1">
                <a:solidFill>
                  <a:schemeClr val="bg1"/>
                </a:solidFill>
              </a:rPr>
              <a:t>Sebastian</a:t>
            </a:r>
            <a:r>
              <a:rPr lang="es-MX" sz="2400" b="1" dirty="0">
                <a:solidFill>
                  <a:schemeClr val="bg1"/>
                </a:solidFill>
              </a:rPr>
              <a:t> Duque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529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3E2E8-AA7A-DECE-B125-F0634E9D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/>
              <a:t>Descripción del </a:t>
            </a:r>
            <a:r>
              <a:rPr lang="es-CO" b="1" dirty="0" err="1"/>
              <a:t>Dataset</a:t>
            </a:r>
            <a:endParaRPr lang="es-CO" b="1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2CC9184-3D10-EC6B-B687-D1B7BF5CE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047610"/>
              </p:ext>
            </p:extLst>
          </p:nvPr>
        </p:nvGraphicFramePr>
        <p:xfrm>
          <a:off x="914400" y="2095500"/>
          <a:ext cx="1035367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168893174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314580553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968878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Variable</a:t>
                      </a:r>
                    </a:p>
                  </a:txBody>
                  <a:tcPr marL="90032" marR="90032" anchor="ctr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Descripción</a:t>
                      </a:r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Tipo de Dato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1214023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species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Especie del pingüino</a:t>
                      </a:r>
                      <a:endParaRPr lang="es-CO" dirty="0"/>
                    </a:p>
                  </a:txBody>
                  <a:tcPr marL="90032" marR="90032" anchor="ctr"/>
                </a:tc>
                <a:tc>
                  <a:txBody>
                    <a:bodyPr/>
                    <a:lstStyle/>
                    <a:p>
                      <a:r>
                        <a:rPr lang="es-CO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  <a:r>
                        <a:rPr lang="es-CO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s-CO" dirty="0"/>
                    </a:p>
                  </a:txBody>
                  <a:tcPr marL="90032" marR="90032" anchor="ctr"/>
                </a:tc>
                <a:extLst>
                  <a:ext uri="{0D108BD9-81ED-4DB2-BD59-A6C34878D82A}">
                    <a16:rowId xmlns:a16="http://schemas.microsoft.com/office/drawing/2014/main" val="400590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island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Isla donde fue observado</a:t>
                      </a:r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  <a:r>
                        <a:rPr lang="es-CO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600900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bill_length_mm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Longitud del pico</a:t>
                      </a:r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396328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bill_depth_mm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Profundidad del pico</a:t>
                      </a:r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281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flipper_length_mm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Longitud de la aleta</a:t>
                      </a:r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3409545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body_mass_g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Masa corporal</a:t>
                      </a:r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182754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sex</a:t>
                      </a:r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Sexo del pingüino</a:t>
                      </a:r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  <a:r>
                        <a:rPr lang="es-CO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2209131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year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Año de observación</a:t>
                      </a:r>
                      <a:endParaRPr lang="es-CO" dirty="0"/>
                    </a:p>
                  </a:txBody>
                  <a:tcPr marL="90032" marR="90032" anchor="ctr"/>
                </a:tc>
                <a:tc>
                  <a:txBody>
                    <a:bodyPr/>
                    <a:lstStyle/>
                    <a:p>
                      <a:r>
                        <a:rPr lang="es-CO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int64 </a:t>
                      </a:r>
                      <a:endParaRPr lang="es-CO" dirty="0"/>
                    </a:p>
                  </a:txBody>
                  <a:tcPr marL="90032" marR="90032" anchor="ctr"/>
                </a:tc>
                <a:extLst>
                  <a:ext uri="{0D108BD9-81ED-4DB2-BD59-A6C34878D82A}">
                    <a16:rowId xmlns:a16="http://schemas.microsoft.com/office/drawing/2014/main" val="3774353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914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5C533-2B9F-5490-F2FE-38D7A275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/>
              <a:t>Análisis Exploratorio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DAAC14-8686-85B6-6BFF-9D65DEBB24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El </a:t>
            </a:r>
            <a:r>
              <a:rPr lang="es-MX" dirty="0" err="1"/>
              <a:t>dataset</a:t>
            </a:r>
            <a:r>
              <a:rPr lang="es-MX" dirty="0"/>
              <a:t> contiene 344 datos de tres especies diferentes: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 err="1"/>
              <a:t>Adelie</a:t>
            </a:r>
            <a:r>
              <a:rPr lang="es-MX" b="1" dirty="0"/>
              <a:t>: </a:t>
            </a:r>
            <a:r>
              <a:rPr lang="es-MX" dirty="0"/>
              <a:t>152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Gentoo: </a:t>
            </a:r>
            <a:r>
              <a:rPr lang="es-MX" dirty="0"/>
              <a:t>124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 err="1"/>
              <a:t>Chinstrap</a:t>
            </a:r>
            <a:r>
              <a:rPr lang="es-MX" b="1" dirty="0"/>
              <a:t>: </a:t>
            </a:r>
            <a:r>
              <a:rPr lang="es-MX" dirty="0"/>
              <a:t>68</a:t>
            </a:r>
          </a:p>
          <a:p>
            <a:pPr marL="0" indent="0">
              <a:buNone/>
            </a:pPr>
            <a:r>
              <a:rPr lang="es-MX" dirty="0"/>
              <a:t>La especie </a:t>
            </a:r>
            <a:r>
              <a:rPr lang="es-MX" b="1" dirty="0" err="1"/>
              <a:t>Adelie</a:t>
            </a:r>
            <a:r>
              <a:rPr lang="es-MX" dirty="0"/>
              <a:t> es la más frecuente dentro del conjunto de datos.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CCD68869-8136-153D-A35E-9EC29D32A27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681" y="2087563"/>
            <a:ext cx="3820500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7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E97E6-E2F5-A620-3E5A-2D521358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Limpieza de Datos</a:t>
            </a:r>
            <a:endParaRPr lang="es-CO" b="1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F1C36BB-94F6-14C1-6713-267534BFE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618284"/>
              </p:ext>
            </p:extLst>
          </p:nvPr>
        </p:nvGraphicFramePr>
        <p:xfrm>
          <a:off x="914400" y="2095500"/>
          <a:ext cx="1035367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6838">
                  <a:extLst>
                    <a:ext uri="{9D8B030D-6E8A-4147-A177-3AD203B41FA5}">
                      <a16:colId xmlns:a16="http://schemas.microsoft.com/office/drawing/2014/main" val="2108337911"/>
                    </a:ext>
                  </a:extLst>
                </a:gridCol>
                <a:gridCol w="5176838">
                  <a:extLst>
                    <a:ext uri="{9D8B030D-6E8A-4147-A177-3AD203B41FA5}">
                      <a16:colId xmlns:a16="http://schemas.microsoft.com/office/drawing/2014/main" val="1660458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Variable</a:t>
                      </a:r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Valores faltantes</a:t>
                      </a:r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291687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bill_length_mm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352428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bill_depth_mm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3031960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flipper_length_mm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1511210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 err="1"/>
                        <a:t>body_mass_g</a:t>
                      </a:r>
                      <a:endParaRPr lang="es-CO" dirty="0"/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2109828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sex</a:t>
                      </a:r>
                    </a:p>
                  </a:txBody>
                  <a:tcPr marL="90032" marR="90032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11</a:t>
                      </a:r>
                      <a:endParaRPr lang="es-CO" dirty="0"/>
                    </a:p>
                  </a:txBody>
                  <a:tcPr marL="90032" marR="90032"/>
                </a:tc>
                <a:extLst>
                  <a:ext uri="{0D108BD9-81ED-4DB2-BD59-A6C34878D82A}">
                    <a16:rowId xmlns:a16="http://schemas.microsoft.com/office/drawing/2014/main" val="3658157799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5F095C51-9ECF-EA15-13A8-0B9295A9BC0A}"/>
              </a:ext>
            </a:extLst>
          </p:cNvPr>
          <p:cNvSpPr txBox="1"/>
          <p:nvPr/>
        </p:nvSpPr>
        <p:spPr>
          <a:xfrm>
            <a:off x="838200" y="4355432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Para simplificar el análisis se </a:t>
            </a:r>
            <a:r>
              <a:rPr lang="es-MX" b="1" dirty="0"/>
              <a:t>eliminaron las filas con valores nulos</a:t>
            </a:r>
            <a:r>
              <a:rPr lang="es-MX" dirty="0"/>
              <a:t>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90556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43C5E-5C13-5411-4FF7-C41B6DDD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Análisis de Correlación de Variables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04E974-8174-120D-2111-E81C9B730F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MX" dirty="0"/>
              <a:t>A medida que un pingüino es más grande físicamente (aletas más largas), su peso aumenta significativamente.</a:t>
            </a:r>
          </a:p>
          <a:p>
            <a:r>
              <a:rPr lang="es-CO" b="1" dirty="0" err="1"/>
              <a:t>bill_depth_mm</a:t>
            </a:r>
            <a:r>
              <a:rPr lang="es-CO" b="1" dirty="0"/>
              <a:t>: </a:t>
            </a:r>
            <a:r>
              <a:rPr lang="es-MX" dirty="0"/>
              <a:t>Es la única variable que muestra </a:t>
            </a:r>
            <a:r>
              <a:rPr lang="es-MX" b="1" dirty="0"/>
              <a:t>correlaciones negativas</a:t>
            </a:r>
            <a:r>
              <a:rPr lang="es-MX" dirty="0"/>
              <a:t> con todas las demás.</a:t>
            </a:r>
            <a:endParaRPr lang="es-CO" b="1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199C5D4B-5CA3-0992-4D06-9C87A0575BD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5684" y="2087563"/>
            <a:ext cx="4330494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908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A8CD5-6820-DCC3-F6EF-C3698B49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El Pico (</a:t>
            </a:r>
            <a:r>
              <a:rPr lang="es-CO" b="1" dirty="0" err="1"/>
              <a:t>bill_depth_mm</a:t>
            </a:r>
            <a:r>
              <a:rPr lang="es-MX" b="1" dirty="0"/>
              <a:t>)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66B21A-A480-4B49-DE23-E399EBDD7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Con </a:t>
            </a:r>
            <a:r>
              <a:rPr lang="es-MX" dirty="0" err="1"/>
              <a:t>flipper_length_mm</a:t>
            </a:r>
            <a:r>
              <a:rPr lang="es-MX" dirty="0"/>
              <a:t> (-0.58): Curiosamente, aletas más largas suelen asociarse con picos menos profundos (más delgados).</a:t>
            </a:r>
          </a:p>
          <a:p>
            <a:r>
              <a:rPr lang="es-MX" dirty="0"/>
              <a:t>Con </a:t>
            </a:r>
            <a:r>
              <a:rPr lang="es-MX" dirty="0" err="1"/>
              <a:t>body_mass_g</a:t>
            </a:r>
            <a:r>
              <a:rPr lang="es-MX" dirty="0"/>
              <a:t> (-0.47): Los pingüinos más pesados tienden a tener profundidades de pico menores.</a:t>
            </a:r>
          </a:p>
          <a:p>
            <a:endParaRPr lang="es-MX" dirty="0"/>
          </a:p>
          <a:p>
            <a:pPr marL="0" indent="0">
              <a:buNone/>
            </a:pPr>
            <a:r>
              <a:rPr lang="es-MX" b="1" dirty="0"/>
              <a:t>Interpretación Biológica</a:t>
            </a:r>
          </a:p>
          <a:p>
            <a:pPr marL="0" indent="0">
              <a:buNone/>
            </a:pPr>
            <a:r>
              <a:rPr lang="es-MX" dirty="0"/>
              <a:t>Esto suele indicar una diferencia entre especies. Por ejemplo, los pingüinos Gentoo son los más grandes y pesados pero tienen picos más estilizados en comparación con los Adelia, que son pequeños pero con picos más "gruesos".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50477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EFE1D-BF1A-F51E-0012-A93AEEDA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El Peligro de Ignorar los Grupos</a:t>
            </a:r>
            <a:endParaRPr lang="es-CO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68C182-7D83-147E-125A-6F6AAE9558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MX" b="1" dirty="0"/>
              <a:t>Conclusión Aparente: </a:t>
            </a:r>
            <a:r>
              <a:rPr lang="es-MX" dirty="0"/>
              <a:t>A mayor longitud del pico, menor es su profundidad.</a:t>
            </a:r>
          </a:p>
          <a:p>
            <a:endParaRPr lang="es-MX" dirty="0"/>
          </a:p>
          <a:p>
            <a:r>
              <a:rPr lang="es-MX" b="1" dirty="0"/>
              <a:t>El Riesgo: </a:t>
            </a:r>
            <a:r>
              <a:rPr lang="es-MX" dirty="0"/>
              <a:t>Analizar los datos sin considerar categorías subyacentes (especies) puede llevar a conclusiones biológicamente erróneas.</a:t>
            </a:r>
            <a:endParaRPr lang="es-CO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D8528F8-D2CE-BD4B-4CBC-B764962F435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6542" y="2087563"/>
            <a:ext cx="4788778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43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63100-476C-E65A-E542-0ED0FCDFA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/>
              <a:t>La Paradoja de Simpson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C73B7-40E7-60E7-EA68-BB37855DA2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La Paradoja de Simpson es un fenómeno estadístico donde una tendencia que aparece en varios grupos de datos desaparece o se invierte cuando estos grupos se combinan en un solo conjunto.</a:t>
            </a:r>
            <a:endParaRPr lang="es-CO" dirty="0"/>
          </a:p>
        </p:txBody>
      </p:sp>
      <p:pic>
        <p:nvPicPr>
          <p:cNvPr id="10242" name="Picture 2" descr="Interés: La Paradoja de Simpson La Paradoja de Simpson sucede cuando de un  mismo conjunto de datos se pueden encontrar conclusiones diferentes y hasta  opuestas, de acuerdo a como se agrupan los">
            <a:extLst>
              <a:ext uri="{FF2B5EF4-FFF2-40B4-BE49-F238E27FC236}">
                <a16:creationId xmlns:a16="http://schemas.microsoft.com/office/drawing/2014/main" id="{2CF9CC0A-F191-E62F-F8A1-6A383C6142F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690688"/>
            <a:ext cx="4475747" cy="4475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191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63100-476C-E65A-E542-0ED0FCDFA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/>
              <a:t>La Paradoja de Simpson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C73B7-40E7-60E7-EA68-BB37855DA2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La especie es una </a:t>
            </a:r>
            <a:r>
              <a:rPr lang="es-MX" b="1" dirty="0"/>
              <a:t>variable de confusión</a:t>
            </a:r>
            <a:r>
              <a:rPr lang="es-MX" dirty="0"/>
              <a:t>. Al mezclar grupos con morfologías distintas (</a:t>
            </a:r>
            <a:r>
              <a:rPr lang="es-MX" dirty="0" err="1"/>
              <a:t>Gentoos</a:t>
            </a:r>
            <a:r>
              <a:rPr lang="es-MX" dirty="0"/>
              <a:t> de picos largos/delgados vs. </a:t>
            </a:r>
            <a:r>
              <a:rPr lang="es-MX" dirty="0" err="1"/>
              <a:t>Adelies</a:t>
            </a:r>
            <a:r>
              <a:rPr lang="es-MX" dirty="0"/>
              <a:t> de picos cortos/gruesos), la tendencia real se oculta o se invierte.</a:t>
            </a:r>
            <a:endParaRPr lang="es-CO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EDFF6DE-B25D-A84B-288C-B81B4D8D80D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27633" y="2087563"/>
            <a:ext cx="4986596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538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E0E5F-717A-C3DA-EFA0-A29E507D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Relación entre el tamaño de la aleta y la masa</a:t>
            </a:r>
            <a:endParaRPr lang="es-CO" b="1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9DFD58-37AD-B2AB-9EFD-AB70004625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b="1" dirty="0"/>
              <a:t>Relación entre tamaño de aleta y masa: </a:t>
            </a:r>
            <a:r>
              <a:rPr lang="es-MX" dirty="0"/>
              <a:t>Se utilizó regresión lineal para predecir la </a:t>
            </a:r>
            <a:r>
              <a:rPr lang="es-MX" b="1" dirty="0"/>
              <a:t>masa corporal</a:t>
            </a:r>
            <a:r>
              <a:rPr lang="es-MX" dirty="0"/>
              <a:t> a partir de la </a:t>
            </a:r>
            <a:r>
              <a:rPr lang="es-MX" b="1" dirty="0"/>
              <a:t>longitud de la aleta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b="1" dirty="0"/>
          </a:p>
          <a:p>
            <a:pPr marL="0" indent="0">
              <a:buNone/>
            </a:pPr>
            <a:endParaRPr lang="es-MX" b="1" dirty="0"/>
          </a:p>
          <a:p>
            <a:pPr marL="0" indent="0">
              <a:buNone/>
            </a:pPr>
            <a:endParaRPr lang="es-MX" b="1" dirty="0"/>
          </a:p>
          <a:p>
            <a:pPr marL="0" indent="0">
              <a:buNone/>
            </a:pPr>
            <a:r>
              <a:rPr lang="es-CO" dirty="0"/>
              <a:t>Cada </a:t>
            </a:r>
            <a:r>
              <a:rPr lang="es-CO" b="1" dirty="0"/>
              <a:t>1 mm adicional de aleta</a:t>
            </a:r>
            <a:r>
              <a:rPr lang="es-CO" dirty="0"/>
              <a:t> aumenta aproximadamente </a:t>
            </a:r>
            <a:r>
              <a:rPr lang="es-CO" b="1" dirty="0"/>
              <a:t>50 gramos</a:t>
            </a:r>
            <a:r>
              <a:rPr lang="es-CO" dirty="0"/>
              <a:t> la masa corporal.</a:t>
            </a:r>
            <a:endParaRPr lang="es-CO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B7964E-5E37-6110-9FA0-AA246E754D4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60371" y="2087563"/>
            <a:ext cx="4721120" cy="37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52E2B37-5CB7-C23A-4FD1-0C2121BB3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177" y="3615194"/>
            <a:ext cx="2419688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4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7762D-E353-2248-303F-49C6CD25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Regresión Logística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1B7FB2-53F7-750B-45CD-1923D204C7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Para clasificar la especie del pingüino utilizamos dos variables:</a:t>
            </a:r>
          </a:p>
          <a:p>
            <a:r>
              <a:rPr lang="es-MX" dirty="0" err="1"/>
              <a:t>bill_length_mm</a:t>
            </a:r>
            <a:endParaRPr lang="es-MX" dirty="0"/>
          </a:p>
          <a:p>
            <a:r>
              <a:rPr lang="es-MX" dirty="0" err="1"/>
              <a:t>bill_depth_mm</a:t>
            </a:r>
            <a:endParaRPr lang="es-CO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FF76C2E-798C-B0C7-C6E1-9D02461E512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3788" y="2193086"/>
            <a:ext cx="5094287" cy="3492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E7D022D8-ED67-4AA9-080B-135B6088F0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6087433"/>
              </p:ext>
            </p:extLst>
          </p:nvPr>
        </p:nvGraphicFramePr>
        <p:xfrm>
          <a:off x="1643974" y="4001293"/>
          <a:ext cx="3337668" cy="2211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12073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2AC7B-16C7-56B3-B6BE-D5E6749B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Regresión Logística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DBA6DB-8833-F446-5728-F390E1E3A2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O" dirty="0"/>
              <a:t>Variables utilizadas: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 err="1"/>
              <a:t>bill_length_mm</a:t>
            </a:r>
            <a:endParaRPr lang="es-CO" dirty="0"/>
          </a:p>
          <a:p>
            <a:pPr>
              <a:buFont typeface="Arial" panose="020B0604020202020204" pitchFamily="34" charset="0"/>
              <a:buChar char="•"/>
            </a:pPr>
            <a:r>
              <a:rPr lang="es-CO" dirty="0" err="1"/>
              <a:t>bill_depth_mm</a:t>
            </a:r>
            <a:endParaRPr lang="es-CO" dirty="0"/>
          </a:p>
          <a:p>
            <a:pPr>
              <a:buFont typeface="Arial" panose="020B0604020202020204" pitchFamily="34" charset="0"/>
              <a:buChar char="•"/>
            </a:pPr>
            <a:r>
              <a:rPr lang="es-CO" dirty="0" err="1"/>
              <a:t>flipper_length_mm</a:t>
            </a:r>
            <a:endParaRPr lang="es-CO" dirty="0"/>
          </a:p>
          <a:p>
            <a:pPr>
              <a:buFont typeface="Arial" panose="020B0604020202020204" pitchFamily="34" charset="0"/>
              <a:buChar char="•"/>
            </a:pPr>
            <a:r>
              <a:rPr lang="es-CO" dirty="0" err="1"/>
              <a:t>body_mass_g</a:t>
            </a: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D0F21B5-0B84-009A-4AE0-19B96294F87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853" y="1825626"/>
            <a:ext cx="6976102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2B023784-81DF-ECC6-0165-AA42583861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3498074"/>
              </p:ext>
            </p:extLst>
          </p:nvPr>
        </p:nvGraphicFramePr>
        <p:xfrm>
          <a:off x="1052208" y="4741896"/>
          <a:ext cx="2955587" cy="1750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89043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107</TotalTime>
  <Words>508</Words>
  <Application>Microsoft Office PowerPoint</Application>
  <PresentationFormat>Panorámica</PresentationFormat>
  <Paragraphs>88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Rockwell</vt:lpstr>
      <vt:lpstr>Damask</vt:lpstr>
      <vt:lpstr>Análisis de Pingüinos</vt:lpstr>
      <vt:lpstr>Descripción del Dataset</vt:lpstr>
      <vt:lpstr>Análisis Exploratorio</vt:lpstr>
      <vt:lpstr>Limpieza de Datos</vt:lpstr>
      <vt:lpstr>Análisis de Correlación de Variables</vt:lpstr>
      <vt:lpstr>El Pico (bill_depth_mm)</vt:lpstr>
      <vt:lpstr>El Peligro de Ignorar los Grupos</vt:lpstr>
      <vt:lpstr>La Paradoja de Simpson</vt:lpstr>
      <vt:lpstr>La Paradoja de Simpson</vt:lpstr>
      <vt:lpstr>Relación entre el tamaño de la aleta y la masa</vt:lpstr>
      <vt:lpstr>Regresión Logística</vt:lpstr>
      <vt:lpstr>Regresión Logística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Pingüinos</dc:title>
  <dc:creator>Andrés Díaz Arias</dc:creator>
  <cp:lastModifiedBy>Andrés Díaz Arias</cp:lastModifiedBy>
  <cp:revision>1</cp:revision>
  <dcterms:created xsi:type="dcterms:W3CDTF">2026-03-11T20:06:58Z</dcterms:created>
  <dcterms:modified xsi:type="dcterms:W3CDTF">2026-03-11T21:54:14Z</dcterms:modified>
</cp:coreProperties>
</file>