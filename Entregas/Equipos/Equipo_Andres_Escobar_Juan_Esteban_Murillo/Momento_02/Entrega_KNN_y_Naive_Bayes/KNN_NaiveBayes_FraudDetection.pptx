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Transacciones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Legítimas (0)</c:v>
                  </c:pt>
                  <c:pt idx="1">
                    <c:v>Fraudes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Fraude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0.37</c:v>
                </c:pt>
                <c:pt idx="1">
                  <c:v>0.36</c:v>
                </c:pt>
                <c:pt idx="2">
                  <c:v>0.36</c:v>
                </c:pt>
                <c:pt idx="3">
                  <c:v>0.34</c:v>
                </c:pt>
                <c:pt idx="4">
                  <c:v>0.31</c:v>
                </c:pt>
                <c:pt idx="5">
                  <c:v>0.29</c:v>
                </c:pt>
                <c:pt idx="6">
                  <c:v>0.27</c:v>
                </c:pt>
                <c:pt idx="7">
                  <c:v>0.26</c:v>
                </c:pt>
                <c:pt idx="8">
                  <c:v>0.25</c:v>
                </c:pt>
                <c:pt idx="9">
                  <c:v>0.24</c:v>
                </c:pt>
                <c:pt idx="10">
                  <c:v>0.23</c:v>
                </c:pt>
                <c:pt idx="11">
                  <c:v>0.22</c:v>
                </c:pt>
                <c:pt idx="12">
                  <c:v>0.22</c:v>
                </c:pt>
                <c:pt idx="13">
                  <c:v>0.21</c:v>
                </c:pt>
                <c:pt idx="14">
                  <c:v>0.21</c:v>
                </c:pt>
                <c:pt idx="15">
                  <c:v>0.2</c:v>
                </c:pt>
                <c:pt idx="16">
                  <c:v>0.2</c:v>
                </c:pt>
                <c:pt idx="17">
                  <c:v>0.19</c:v>
                </c:pt>
                <c:pt idx="18">
                  <c:v>0.19</c:v>
                </c:pt>
                <c:pt idx="19">
                  <c:v>0.18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Reg. Logística</c:v>
                  </c:pt>
                  <c:pt idx="1">
                    <c:v>KNN (k=3)</c:v>
                  </c:pt>
                  <c:pt idx="2">
                    <c:v>Naive Bayes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0.193</c:v>
                </c:pt>
                <c:pt idx="1">
                  <c:v>0.3623</c:v>
                </c:pt>
                <c:pt idx="2">
                  <c:v>0.0619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Reg. Logística</c:v>
                  </c:pt>
                  <c:pt idx="1">
                    <c:v>KNN (k=3)</c:v>
                  </c:pt>
                  <c:pt idx="2">
                    <c:v>Naive Bayes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0.5561</c:v>
                </c:pt>
                <c:pt idx="1">
                  <c:v>0.6274</c:v>
                </c:pt>
                <c:pt idx="2">
                  <c:v>0.6312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91440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y Naive Bayes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 transacciones  •  30 features  •  Kaggle – MLG-ULB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1463040" cy="32004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4160520"/>
            <a:ext cx="1463040" cy="32004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4160520"/>
            <a:ext cx="1463040" cy="32004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4160520"/>
            <a:ext cx="1463040" cy="32004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4160520"/>
            <a:ext cx="1463040" cy="32004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– Kaggle MLG-ULB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2024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920240" cy="10972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2316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Fraude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143000"/>
            <a:ext cx="192024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48056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Fraude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1143000"/>
            <a:ext cx="192024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37960" y="1810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(PCA)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841248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6517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Dataset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063240"/>
            <a:ext cx="7955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Transacciones de tarjetas de crédito europeas, septiembre 2013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V1–V28 (transformadas por PCA por confidencialidad), Time y Amount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 = 0 (Legítima) | Class = 1 (Fraude)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Desbalance: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Dataset altamente desbalanceado — 99.83% legítimas vs 0.17% fraudes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Distribución de Clases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por Clase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600200"/>
          <a:ext cx="39319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097280"/>
            <a:ext cx="41605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del EDA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6916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99.83% de transacciones son legítimas (Clase 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492 casos de fraude en 284,807 registros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extremadamente desbalanceado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afecta métricas: accuracy engañosa (~99.8%)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usar F1-Score y AUC-ROC como métricas principales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Estratificación obligatoria al dividir train/test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Features y Preprocesamiento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1887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PCA (V1–V28)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componentes principales via PCA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del banco → anonimizadas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Distribuidas ~ N(0, 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requieren escalado adicional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Capturan patrones latentes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9748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1887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Originales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segundos desde primera transacción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monto de la transacción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requieren StandardScaler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0 – 172,792 segundos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$0 – $25,691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69748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18872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7220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42316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en V1 y V2 (para KNN)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80/20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Stratify=True por desbalance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227,845 | Test: 56,962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en test: 98 casos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Estadísticas Descriptivas (V1 y V2)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usadas para visualización de fronteras de decisión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distribuciones V1 y V2 por Clase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138160" cy="269748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1188720"/>
                <a:gridCol w="1188720"/>
                <a:gridCol w="1188720"/>
                <a:gridCol w="1280160"/>
              </a:tblGrid>
              <a:tr h="5394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Legítima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-56.41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Legítima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-72.72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4622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V1 y V2 muestran diferencias significativas entre clases, validando su uso para visualización de fronteras de decisión.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– Algoritmo basado en distancias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94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Recibe una nueva muestra a clasificar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Calcula la distancia a TODAS las muestras de entrenamiento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Selecciona los K vecinos más cercanos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Asigna la clase mayoritaria entre esos K vecinos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 fraude: si 3/5 vecinos son fraude → predice fraude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6052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Clave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12344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737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1737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K de vecinos (probamos 1–20)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267712"/>
            <a:ext cx="12344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267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44768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Distancia: Euclidiana (default)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798064"/>
            <a:ext cx="12344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7980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27980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/ distance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328416"/>
            <a:ext cx="12344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3284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33284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ball_tree / kd_tree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840480"/>
            <a:ext cx="388620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8587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KNN es sensible a la escala → StandardScaler obligatorio antes de entrenar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– Resultados y Selección de 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inicial → búsqueda óptima k=3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2024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– Clase Legítima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0.3623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– Clase Fraude (k=3)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92024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– Fraudes (k=5)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0972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– Fraudes (k=5)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85039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487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vs Valor de K (K=1 a 20) — Mejor K = 3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11480" y="2834640"/>
          <a:ext cx="83210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– Probabilidad y Teorema de Bayes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Matemático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7490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P(Fraude | X) = P(X | Fraude) × P(Fraude) / P(X)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P(Fraude|X): probabilidad posterior (lo que buscamos)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P(X|Fraude): verosimilitud — ¿qué tan probable es X dado fraude?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P(Fraude): prior — 0.17% en nuestro dataset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'naive': V1 y V2 son independientes entre sí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GaussianNB: asume distribución normal para cada feature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6052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del Modelo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Muy rápido de entrenar y predecir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Funciona bien con datos escasos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6700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Robusto frente al ruido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1455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Supuesto de independencia raramente verdadero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62102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Prior bajo de fraude → sesgado hacia clase 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0965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Fronteras de decisión simples (gaussianas)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840480"/>
            <a:ext cx="388620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8587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 prior P(Fraude)=0.17% penaliza automáticamente las predicciones de fraude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– Resultados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GaussianNB sobre Credit Card Fraud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2024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– Clase Legítima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10972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0.0619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– Clase Fraude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920240" cy="10972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– Fraudes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– Fraudes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85039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4871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907792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3%: de cada 100 transacciones marcadas como fraude, solo 3 son realmente fraudes (muchos falsos positivos)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28%: detecta el 28% de los fraudes reales — deja pasar 72% de los fraudes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99% engañosa: casi siempre predice 'legítima' (mayoría), ignorando el desbalance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prior P(Fraude)=0.0017 hace que el modelo sea extremadamente conservador para marcar fraudes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los 3 Modelos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vs KNN (k=3) vs Naive Bayes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– Clase Fraude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627632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097280"/>
            <a:ext cx="416052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– Capacidad Discriminativa</a:t>
            </a:r>
            <a:endParaRPr lang="en-US" sz="13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709160" y="1627632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Detallada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completas por modelo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Fraude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(k=3)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794760"/>
            <a:ext cx="201168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F1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160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(k=3)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0.3623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3794760"/>
            <a:ext cx="2011680" cy="10058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1460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AUC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14600" y="4160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0.6312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3794760"/>
            <a:ext cx="201168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Prec.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63440" y="4160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69%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12280" y="3794760"/>
            <a:ext cx="2011680" cy="10058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1228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Recall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12280" y="4160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28%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Fronteras de Decisión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612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visual de los 3 clasificadores (V1 vs V2)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42316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242316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2286000" cy="164592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lineal. Separa el espacio con una línea recta. Simple pero limitado para datos no lineales.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69748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80160"/>
            <a:ext cx="24231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280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719072"/>
            <a:ext cx="242316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1828800"/>
            <a:ext cx="822960" cy="640080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94560"/>
            <a:ext cx="731520" cy="548640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743200"/>
            <a:ext cx="640080" cy="502920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irregular y no lineal. Adapta la forma a los datos. Captura mejor los patrones locales.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097280"/>
            <a:ext cx="269748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280160"/>
            <a:ext cx="24231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280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719072"/>
            <a:ext cx="242316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1874520"/>
            <a:ext cx="1691640" cy="141732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3524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gaussiana suave. Basada en distribuciones normales. Simple pero efectiva para recall.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(k=3) logró el mejor F1-Score (0.36) para detectar fraudes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801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superó en AUC-ROC (0.63) pero con precision muy baja (3%)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3957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desbalance extremo (0.17%) es el mayor obstáculo para todos los modelos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990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no es métrica válida para datasets desbalanceados — usar F1 y AUC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5844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usaron V1 y V2 — más features mejorarían significativamente los modelos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1097280"/>
            <a:ext cx="3749040" cy="3246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664208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todas las 30 features disponibles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SMOTE o undersampling para el desbalance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Random Forest y Gradient Boosting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umbrales de decisión (threshold tuning)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completa (k-fold estratificado)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y Naive Bayes  •  Credit Card Fraud Detection  •  Scikit-learn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KNN y Naive Bayes – Credit Card Fraud Detection</dc:title>
  <dc:subject>PptxGenJS Presentation</dc:subject>
  <dc:creator>PptxGenJS</dc:creator>
  <cp:lastModifiedBy>PptxGenJS</cp:lastModifiedBy>
  <cp:revision>1</cp:revision>
  <dcterms:created xsi:type="dcterms:W3CDTF">2026-03-25T20:04:12Z</dcterms:created>
  <dcterms:modified xsi:type="dcterms:W3CDTF">2026-03-25T20:04:12Z</dcterms:modified>
</cp:coreProperties>
</file>