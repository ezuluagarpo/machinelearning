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47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</a:rPr>
              <a:t>MACHINE LEARNING · 4 TALLERES UNIFICADOS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Detección de Fraude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en Tarjetas de Crédito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26700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6B6D4"/>
                </a:solidFill>
              </a:rPr>
              <a:t>SVM · Kernels · K-Means · Métricas Supervisadas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384048"/>
            <a:ext cx="2651760" cy="804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63640" y="384048"/>
            <a:ext cx="64008" cy="8046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530352"/>
            <a:ext cx="475488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53035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95160" y="4754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SVM Lineal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95160" y="8046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Hiperplano de máximo margen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298448"/>
            <a:ext cx="2651760" cy="804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298448"/>
            <a:ext cx="64008" cy="8046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1444752"/>
            <a:ext cx="475488" cy="4937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4475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95160" y="13898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Kernels SVM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17190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Lineal · Polinómico · RBF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63640" y="2212848"/>
            <a:ext cx="2651760" cy="804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212848"/>
            <a:ext cx="64008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2359152"/>
            <a:ext cx="475488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35915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23042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K-Means Clustering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633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Aprendizaje no supervisado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3127248"/>
            <a:ext cx="2651760" cy="804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127248"/>
            <a:ext cx="64008" cy="8046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3273552"/>
            <a:ext cx="475488" cy="4937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73552"/>
            <a:ext cx="475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32186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Métricas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3547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 · Recall · AUC-ROC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526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Universidad de San Buenaventura Medellín  ·  Dataset: Kaggle Credit Card Fraud Detection  ·  284,807 transacciones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El Dataset — Credit Card Fraud Detection (Kaggle)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011680" cy="11155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78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284,807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transacciones totales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04872" y="914400"/>
            <a:ext cx="2011680" cy="11155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978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492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96312" y="1527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fraudes — solo 0.17%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81144" y="914400"/>
            <a:ext cx="2011680" cy="11155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978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72584" y="1527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variables de entrada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57416" y="914400"/>
            <a:ext cx="2011680" cy="11155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978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48856" y="1527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valores nulos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176272"/>
            <a:ext cx="4160520" cy="1170432"/>
          </a:xfrm>
          <a:prstGeom prst="rect">
            <a:avLst/>
          </a:prstGeom>
          <a:solidFill>
            <a:srgbClr val="2D0F0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76272"/>
            <a:ext cx="64008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311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El problema del desbalance extremo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5786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Un modelo que prediga siempre 'Legítima' obtiene 99.83% de accuracy sin detectar un solo fraude. Por eso accuracy es una métrica engañosa aquí — se necesitan Recall y ROC-AUC.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76272"/>
            <a:ext cx="4251960" cy="1170432"/>
          </a:xfrm>
          <a:prstGeom prst="rect">
            <a:avLst/>
          </a:prstGeom>
          <a:solidFill>
            <a:srgbClr val="0F2D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76272"/>
            <a:ext cx="64008" cy="11704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311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Soluciones aplicadas en el notebook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5786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StandardScaler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en Amount y Time — SVM calcula distancias; sin escalar, Amount domina.
</a:t>
            </a:r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Undersampling 50/50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— 284,315 legítimas reducidas a 492 para balancear.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stratify=y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— misma proporción de clases en train y test.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493008"/>
            <a:ext cx="8686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493008"/>
            <a:ext cx="868680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5295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Estructura de variables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V1 – V28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142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Componentes PCA anonimizados (ya escalados por la fuente)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0320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Time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60320" y="4142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Segundos desde la primera transacción — escalado con StandardScaler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Amount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4142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Monto en euros — escalado con StandardScaler (rango 0–25,691€ en el dataset crudo)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0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Class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0" y="41422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Variable objetivo: 0 = Legítima, 1 = Fraude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SVM — Clasificador Lineal: Concepto y Resultados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977640" cy="1828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96926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¿Qué construye SVM?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SVM busca el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hiperplano de máximo margen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 que separa las dos clases en el espacio de 30 dimensiones.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Los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vectores de soporte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 son los puntos más cercanos al hiperplano — los únicos que definen la frontera.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El parámetro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C=1.0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 balancea margen amplio vs tolerancia a errores.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841248"/>
            <a:ext cx="4389120" cy="3017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" y="2816352"/>
            <a:ext cx="3977640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2816352"/>
            <a:ext cx="64008" cy="19385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" y="2880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Resultados reales obtenidos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3255264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VN=8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legítimas correctas 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FP=0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 falsas alarmas
</a:t>
            </a:r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FN=1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fraude no detectado  </a:t>
            </a:r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VP=6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 fraudes detectados
</a:t>
            </a:r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Recall fraude = 6/7 = 85.7%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Solo 1 fraude pasó desapercibido de 7 reales. El modelo no generó ninguna falsa alarma (FP=0), lo que indica una frontera lineal ajustada al espacio PCA.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SVM — Comparación de Kernels: Resultados Reales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816352" cy="1078992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41248"/>
            <a:ext cx="28163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8961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55648" y="877824"/>
            <a:ext cx="117043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8778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AUC = 1.0000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</a:rPr>
              <a:t>K(x,y) = xᵀy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Frontera recta en 30D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841248"/>
            <a:ext cx="2816352" cy="1078992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41248"/>
            <a:ext cx="28163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300984" y="8961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Polinómico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27448" y="877824"/>
            <a:ext cx="117043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8778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AUC = 1.0000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0984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</a:rPr>
              <a:t>K(x,y) = (γxᵀy + r)³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00984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Frontera curva de grado 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841248"/>
            <a:ext cx="2816352" cy="1078992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841248"/>
            <a:ext cx="2816352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8961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RBF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99248" y="877824"/>
            <a:ext cx="117043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7699248" y="87782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AUC = 1.0000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K(x,y) = exp(−γ‖x−y‖²)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72784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Frontera de burbujas locales</a:t>
            </a:r>
            <a:endParaRPr lang="en-US" sz="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011680"/>
            <a:ext cx="4297680" cy="283464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11680"/>
            <a:ext cx="4297680" cy="283464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201168" y="4791456"/>
            <a:ext cx="42976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6"/>
          <p:cNvSpPr/>
          <p:nvPr/>
        </p:nvSpPr>
        <p:spPr>
          <a:xfrm>
            <a:off x="274320" y="480974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Curvas ROC — Los 3 kernels alcanzan AUC=1.0 en el conjunto de prueba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663440" y="4791456"/>
            <a:ext cx="42976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28"/>
          <p:cNvSpPr/>
          <p:nvPr/>
        </p:nvSpPr>
        <p:spPr>
          <a:xfrm>
            <a:off x="4736592" y="480974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</a:rPr>
              <a:t>Matriz del mejor kernel (Lineal): 8VN · 0FP · 1FN · 6VP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SVM — Interpretación Profunda de los Resultados de Kernels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8631936" cy="804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96112"/>
            <a:ext cx="64008" cy="8046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950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Hallazgo principal: los 3 kernels alcanzan AUC = 1.0000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En el conjunto de prueba balanceado (50/50), los tres kernels lograron separación perfecta. Esto ocurre porque tras el preprocesamiento (PCA + escalado + undersampling 50/50), las clases quedaron bien definidas en el espacio de 30 dimensiones.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84708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847088"/>
            <a:ext cx="64008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19385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PCA ya separó las clases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0624" y="22768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Las variables V1–V28 son componentes PCA calculados por los investigadores de Kaggle con el objetivo implícito de capturar patrones de fraude. El espacio resultante es inherentemente favorable para clasificadores lineales.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21868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218688"/>
            <a:ext cx="64008" cy="1234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33101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Undersampling elimina el ruido de clase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" y="36484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Al reducir 284,315 transacciones legítimas a solo 492, se eliminaron las transacciones limítrofes. El subconjunto resultante contiene los patrones más representativos de cada clase.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84708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847088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19385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Conjunto de prueba pequeño (N=296)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2768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 solo ~148 muestras por clase en el test set, un AUC=1.0 no garantiza comportamiento en producción con millones de transacciones. Es una señal positiva, no una garantía.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1868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218688"/>
            <a:ext cx="64008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33101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¿Qué significa para producción?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484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En un sistema real, se usaría validación cruzada estratificada y se evaluaría sobre el dataset completo sin undersampling. AUC=1.0 en test balanceado indica que el modelo aprendió las diferencias estructurales entre clases.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K-Means — Clustering No Supervisado: Concepto y Método del Codo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4114800" cy="1920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9692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¿Qué hace K-Means?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3749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Aprendizaje NO supervisado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K-Means agrupa transacciones por similitud geométrica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sin ver la variable Class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. El algoritmo asigna cada punto al centroide más cercano y actualiza los centroides iterativamente hasta convergencia.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Pregunta clave: ¿puede el algoritmo descubrir la frontera fraude/legítima sin etiquetas?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04672"/>
            <a:ext cx="4343400" cy="2926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" y="2999232"/>
            <a:ext cx="4114800" cy="1316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2999232"/>
            <a:ext cx="64008" cy="13167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Lectura — gráfica real del codo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38912" y="34107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k=1 → Inercia ≈ 4,600: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 todos en un grupo, distancias máximas.
</a:t>
            </a:r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k=2 → Inercia ≈ 1,100: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 caída brusca. Este es el codo más pronunciado.
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k≥3: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 curva plana.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El codo en k=2 coincide con las 2 clases reales.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3794760"/>
            <a:ext cx="434340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384048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El quiebre en k=2 valida estadísticamente que el dataset tiene dos grupos naturales — y que K-Means puede descubrirlos sin supervisión.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K-Means — Interpretación: Supervisado vs No Supervisado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932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Aspecto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932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SVM (Supervisado)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932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K-Means (No supervisado)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8631936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4081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Usa etiquetas Class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0" y="14081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Sí — las conoce durante entrenamiento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14081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No — solo ve coordenadas en el espacio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1938528"/>
            <a:ext cx="8631936" cy="566928"/>
          </a:xfrm>
          <a:prstGeom prst="rect">
            <a:avLst/>
          </a:prstGeom>
          <a:solidFill>
            <a:srgbClr val="E2EDF9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Frontera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Hiperplano óptimo de máximo margen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Asignación al centroide más cercano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560320"/>
            <a:ext cx="8631936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Evaluación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Accuracy · Recall · Precision · AUC-ROC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Inercia · Silhouette Score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182112"/>
            <a:ext cx="8631936" cy="566928"/>
          </a:xfrm>
          <a:prstGeom prst="rect">
            <a:avLst/>
          </a:prstGeom>
          <a:solidFill>
            <a:srgbClr val="E2EDF9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273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Resultado k=2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273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Recall fraude ≈ 85.7% con kernel lineal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3273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Puede descubrir los 2 grupos naturales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803904"/>
            <a:ext cx="8631936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8953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Uso práctico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38953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Sistema de decisión en producción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38953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Exploración, perfilado, detección anómala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462272"/>
            <a:ext cx="8631936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" y="4462272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452628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Insight clave: el codo en k=2 y la estructura PCA indican que la diferencia entre transacciones normales y fraudulentas es geométricamente distinguible incluso sin etiquetas. Esto valida que el dataset tiene señal real de fraude — no ruido aleatorio.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Métricas Supervisadas — Resultados y Curva ROC Real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96112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932688"/>
            <a:ext cx="14173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32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280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(VP+VN)/Total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20240" y="9418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¿% total acertados?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932688"/>
            <a:ext cx="987552" cy="640080"/>
          </a:xfrm>
          <a:prstGeom prst="rect">
            <a:avLst/>
          </a:prstGeom>
          <a:solidFill>
            <a:srgbClr val="2D1A0F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98755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Engañosa con desbalance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70078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1700784"/>
            <a:ext cx="64008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" y="1737360"/>
            <a:ext cx="14173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7373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VP/(VP+FP)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20240" y="174650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¿Alarmas reales?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1737360"/>
            <a:ext cx="987552" cy="640080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179222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Calidad de alertas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2505456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2505456"/>
            <a:ext cx="64008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" y="2542032"/>
            <a:ext cx="14173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542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Recall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VP/(VP+FN)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20240" y="255117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¿Fraudes detectados?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2542032"/>
            <a:ext cx="987552" cy="640080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259689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PRIORIDAD en fraude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310128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310128"/>
            <a:ext cx="64008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Shape 30"/>
          <p:cNvSpPr/>
          <p:nvPr/>
        </p:nvSpPr>
        <p:spPr>
          <a:xfrm>
            <a:off x="384048" y="3346704"/>
            <a:ext cx="14173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346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F1-score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2·P·R/(P+R)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20240" y="3355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¿Balance P y R?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91840" y="3346704"/>
            <a:ext cx="987552" cy="640080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37" name="Text 35"/>
          <p:cNvSpPr/>
          <p:nvPr/>
        </p:nvSpPr>
        <p:spPr>
          <a:xfrm>
            <a:off x="3310128" y="3401568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Equilibrio entre ambas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41148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4114800"/>
            <a:ext cx="64008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0" name="Shape 38"/>
          <p:cNvSpPr/>
          <p:nvPr/>
        </p:nvSpPr>
        <p:spPr>
          <a:xfrm>
            <a:off x="384048" y="4151376"/>
            <a:ext cx="141732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41513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ROC-AUC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84048" y="4498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Área bajo ROC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920240" y="416052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¿Discrimina todos umbrales?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4151376"/>
            <a:ext cx="987552" cy="640080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45" name="Text 43"/>
          <p:cNvSpPr/>
          <p:nvPr/>
        </p:nvSpPr>
        <p:spPr>
          <a:xfrm>
            <a:off x="3310128" y="420624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Métrica más robusta</a:t>
            </a:r>
            <a:endParaRPr lang="en-US" sz="8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22960"/>
            <a:ext cx="4343400" cy="2926080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4572000" y="3822192"/>
            <a:ext cx="434340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572000" y="3822192"/>
            <a:ext cx="64008" cy="12618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9" name="Text 46"/>
          <p:cNvSpPr/>
          <p:nvPr/>
        </p:nvSpPr>
        <p:spPr>
          <a:xfrm>
            <a:off x="4754880" y="3886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Interpretación curva ROC real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4754880" y="42245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Ambos modelos (RL y SVM Lineal) alcanzan AUC=1.0000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sobre el conjunto de prueba balanceado. La curva sube verticalmente en FPR≈0 y se mantiene en TPR=1.0 — indicando que con el umbral correcto se pueden detectar todos los fraudes sin ninguna falsa alarma.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Resultados Comparativos — Los 4 Modelos sobre el mismo Dataset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8631936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23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Modelo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11680" y="923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Accuracy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154680" y="923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Precision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51960" y="923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Recall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49240" y="923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F1-score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923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ROC-AUC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06640" y="923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¿Detecta todos los fraudes?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353312"/>
            <a:ext cx="8631936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353312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1444752"/>
            <a:ext cx="27432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" y="1517904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SVM Lineal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11680" y="15179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15179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~100%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15179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~86%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15179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15179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1.0000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1426464"/>
            <a:ext cx="1389888" cy="475488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23" name="Text 21"/>
          <p:cNvSpPr/>
          <p:nvPr/>
        </p:nvSpPr>
        <p:spPr>
          <a:xfrm>
            <a:off x="7424928" y="144475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AUC=1.0 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(1 FN)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066544"/>
            <a:ext cx="8631936" cy="640080"/>
          </a:xfrm>
          <a:prstGeom prst="rect">
            <a:avLst/>
          </a:prstGeom>
          <a:solidFill>
            <a:srgbClr val="E2EDF9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" y="2066544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" y="2157984"/>
            <a:ext cx="2743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1579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" y="223113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SVM Polinómico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11680" y="22311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~93%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54680" y="22311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~100%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22311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~86%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2311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~92%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22311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1.0000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2139696"/>
            <a:ext cx="1389888" cy="475488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35" name="Text 33"/>
          <p:cNvSpPr/>
          <p:nvPr/>
        </p:nvSpPr>
        <p:spPr>
          <a:xfrm>
            <a:off x="7424928" y="2157984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AUC=1.0 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(1 FN)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2779776"/>
            <a:ext cx="8631936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56032" y="2779776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" y="2871216"/>
            <a:ext cx="2743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28712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" y="29443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SVM RBF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011680" y="2944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~93%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154680" y="2944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~100%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51960" y="2944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~86%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2944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~92%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46520" y="2944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1.0000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06640" y="2852928"/>
            <a:ext cx="1389888" cy="475488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47" name="Text 45"/>
          <p:cNvSpPr/>
          <p:nvPr/>
        </p:nvSpPr>
        <p:spPr>
          <a:xfrm>
            <a:off x="7424928" y="287121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AUC=1.0 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(1 FN)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3493008"/>
            <a:ext cx="8631936" cy="640080"/>
          </a:xfrm>
          <a:prstGeom prst="rect">
            <a:avLst/>
          </a:prstGeom>
          <a:solidFill>
            <a:srgbClr val="E2EDF9"/>
          </a:solidFill>
          <a:ln/>
        </p:spPr>
      </p:sp>
      <p:sp>
        <p:nvSpPr>
          <p:cNvPr id="49" name="Shape 47"/>
          <p:cNvSpPr/>
          <p:nvPr/>
        </p:nvSpPr>
        <p:spPr>
          <a:xfrm>
            <a:off x="256032" y="3493008"/>
            <a:ext cx="54864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0" name="Shape 48"/>
          <p:cNvSpPr/>
          <p:nvPr/>
        </p:nvSpPr>
        <p:spPr>
          <a:xfrm>
            <a:off x="347472" y="3584448"/>
            <a:ext cx="274320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1" name="Text 49"/>
          <p:cNvSpPr/>
          <p:nvPr/>
        </p:nvSpPr>
        <p:spPr>
          <a:xfrm>
            <a:off x="347472" y="35844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" y="36576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Reg. Logística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01168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~93%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15468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~100%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5196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~86%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4924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~92%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1.0000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406640" y="3566160"/>
            <a:ext cx="1389888" cy="475488"/>
          </a:xfrm>
          <a:prstGeom prst="rect">
            <a:avLst/>
          </a:prstGeom>
          <a:solidFill>
            <a:srgbClr val="0F2D1A"/>
          </a:solidFill>
          <a:ln/>
        </p:spPr>
      </p:sp>
      <p:sp>
        <p:nvSpPr>
          <p:cNvPr id="59" name="Text 57"/>
          <p:cNvSpPr/>
          <p:nvPr/>
        </p:nvSpPr>
        <p:spPr>
          <a:xfrm>
            <a:off x="7424928" y="358444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AUC=1.0 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(1 FN)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6032" y="4315968"/>
            <a:ext cx="8631936" cy="74980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56032" y="4315968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2" name="Text 60"/>
          <p:cNvSpPr/>
          <p:nvPr/>
        </p:nvSpPr>
        <p:spPr>
          <a:xfrm>
            <a:off x="438912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Por qué todos obtienen resultados similares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38912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El preprocesamiento (PCA + escalado + undersampling 50/50) generó un conjunto de prueba donde las clases están bien separadas. El AUC=1.0 indica separación perfecta en el espacio transformado — todos los modelos aprovechan esta estructura. El falso negativo residual (1 FN) corresponde a una transacción en la zona de decisión más ambigua.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Conclusiones y Aprendizajes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8631936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96112"/>
            <a:ext cx="64008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60704"/>
            <a:ext cx="521208" cy="5212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6070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96926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Preprocesamiento: la decisión más importante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12984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Escalar y balancear clases no fue un paso técnico menor — fue lo que hizo posible que SVM, K-Means y Regresión Logística funcionaran correctamente. Sin undersampling, todos habrían ignorado la clase de fraude.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883664"/>
            <a:ext cx="8631936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883664"/>
            <a:ext cx="64008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048256"/>
            <a:ext cx="521208" cy="5212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04825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19568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Los 3 kernels funcionaron igual de bien — y eso tiene significado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2286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AUC=1.0 en los 3 kernels revela que el espacio PCA del dataset es linealmente separable. El kernel lineal, siendo el más simple, fue suficiente — un principio de parsimonia: no usar más complejidad de la necesaria.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871216"/>
            <a:ext cx="8631936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71216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035808"/>
            <a:ext cx="521208" cy="5212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03580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29443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K-Means descubrió los 2 grupos sin etiquetas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78992" y="32735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El codo en k=2 y la comparación visual clusters vs clases reales demostró que la estructura de fraude es geométricamente distinguible. K-Means puede usarse como sistema de alerta temprana sin necesidad de datos etiquetados.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3858768"/>
            <a:ext cx="8631936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858768"/>
            <a:ext cx="64008" cy="8686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4023360"/>
            <a:ext cx="521208" cy="5212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2336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3931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Recall y ROC-AUC son las métricas correctas para fraude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78992" y="426110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Un modelo que predice siempre 'Legítima' tiene 99.83% de accuracy. En este proyecto, todos los modelos alcanzaron AUC=1.0 y Recall ~86% con solo 1 fraude no detectado de 7 — un resultado sólido sobre datos reales.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554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Dataset real · 4 algoritmos · AUC=1.0 · 1 fraude no detectado de 7 en prueba · Pipeline reproducible en Google Colab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— Detección de Fraude — Final</dc:title>
  <dc:subject>PptxGenJS Presentation</dc:subject>
  <dc:creator>Juanes</dc:creator>
  <cp:lastModifiedBy>Juanes</cp:lastModifiedBy>
  <cp:revision>1</cp:revision>
  <dcterms:created xsi:type="dcterms:W3CDTF">2026-04-17T14:40:13Z</dcterms:created>
  <dcterms:modified xsi:type="dcterms:W3CDTF">2026-04-17T14:40:13Z</dcterms:modified>
</cp:coreProperties>
</file>