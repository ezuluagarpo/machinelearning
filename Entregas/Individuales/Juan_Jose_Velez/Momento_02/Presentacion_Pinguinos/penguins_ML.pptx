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44466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444466"/>
                </a:solidFill>
                <a:latin typeface="Arial"/>
              </a:rPr>
              <a:t>Masa Corporal Media por Especie (g)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(g)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B8-4AAF-8C9E-29074CE38B0F}"/>
              </c:ext>
            </c:extLst>
          </c:dPt>
          <c:dPt>
            <c:idx val="1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B8-4AAF-8C9E-29074CE38B0F}"/>
              </c:ext>
            </c:extLst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B8-4AAF-8C9E-29074CE38B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Adelie</c:v>
                </c:pt>
                <c:pt idx="1">
                  <c:v>Chinstrap</c:v>
                </c:pt>
                <c:pt idx="2">
                  <c:v>Gentoo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3706</c:v>
                </c:pt>
                <c:pt idx="1">
                  <c:v>3733</c:v>
                </c:pt>
                <c:pt idx="2">
                  <c:v>5092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7B8-4AAF-8C9E-29074CE38B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32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4114800" cy="6400800"/>
          </a:xfrm>
          <a:prstGeom prst="rect">
            <a:avLst/>
          </a:prstGeom>
          <a:solidFill>
            <a:srgbClr val="1A3D6B"/>
          </a:solidFill>
          <a:ln w="12700">
            <a:solidFill>
              <a:srgbClr val="1A3D6B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Machine Learning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Palmer Penguins Dataset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11480" y="2514600"/>
            <a:ext cx="3200400" cy="27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&amp; Logística  •  EDA  •  Clasificación de Especies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Esteban Murillo Gómez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Machine Learning  | 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del Proyecto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43000" y="941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Reales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4356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técnicas de ML sobre un dataset biológico real con mediciones de pingüinos.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4892040" y="91440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577840" y="9418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92040" y="143560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análisis exploratorio de datos para identificar patrones y relaciones.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20040" y="269748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43000" y="2862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modelos de regresión lineal y logística supervisados.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69748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4754880" y="2697480"/>
            <a:ext cx="54864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892040" y="28346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577840" y="286207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92040" y="335584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resultados para la toma de decisiones basada en datos.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Dataset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4114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Palmer Penguins Dataset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Mediciones biológicas de tres especies de pingüinos recolectadas entre 2007 y 2009 en la Antártida.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601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60120" y="2971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Gentoo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97180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20040" cy="32004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960120" y="36118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Chinstrap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36118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685800"/>
            <a:ext cx="4114800" cy="4023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846320" y="822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Principales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40680" y="14538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del pico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955280" y="1472184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955280" y="147218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002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↕️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40680" y="20391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del pico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955280" y="2057400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955280" y="20574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🦭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40680" y="26243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 la aleta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955280" y="2642616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955280" y="26426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172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40680" y="320954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corporal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0" y="3227832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7955280" y="3227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7581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🐧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440680" y="3794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955280" y="3813048"/>
            <a:ext cx="685800" cy="274320"/>
          </a:xfrm>
          <a:prstGeom prst="roundRect">
            <a:avLst>
              <a:gd name="adj" fmla="val 13333"/>
            </a:avLst>
          </a:prstGeom>
          <a:solidFill>
            <a:srgbClr val="E8F4FD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7955280" y="3813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658368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64008" cy="14173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7132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Reemplazo de 'NA'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097280"/>
            <a:ext cx="3840480" cy="38404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66928" y="1115568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df.replace("NA", np.nan, inplace=True)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517904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cadenas 'NA' se convierten en valores nulos (NaN) reconocidos por Pandas.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740664"/>
            <a:ext cx="4114800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4709160" y="658368"/>
            <a:ext cx="64008" cy="14173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92040" y="7132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Valores Nulos Encontrados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097280"/>
            <a:ext cx="3017520" cy="160020"/>
          </a:xfrm>
          <a:prstGeom prst="rect">
            <a:avLst/>
          </a:prstGeom>
          <a:solidFill>
            <a:srgbClr val="0A2342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956048" y="1097280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178040" y="1097280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1261872"/>
            <a:ext cx="3017520" cy="1600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4956048" y="1261872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bill_length_mm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1280160"/>
            <a:ext cx="548640" cy="123444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178040" y="1261872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892040" y="1426464"/>
            <a:ext cx="3017520" cy="160020"/>
          </a:xfrm>
          <a:prstGeom prst="rect">
            <a:avLst/>
          </a:prstGeom>
          <a:solidFill>
            <a:srgbClr val="F0F7FF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4956048" y="1426464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bill_depth_mm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78040" y="1444752"/>
            <a:ext cx="548640" cy="123444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7178040" y="1426464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1591056"/>
            <a:ext cx="3017520" cy="1600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4956048" y="1591056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flipper_length_mm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178040" y="1609344"/>
            <a:ext cx="548640" cy="123444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7178040" y="1591056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1755648"/>
            <a:ext cx="3017520" cy="160020"/>
          </a:xfrm>
          <a:prstGeom prst="rect">
            <a:avLst/>
          </a:prstGeom>
          <a:solidFill>
            <a:srgbClr val="F0F7FF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4956048" y="1755648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body_mass_g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178040" y="1773936"/>
            <a:ext cx="548640" cy="123444"/>
          </a:xfrm>
          <a:prstGeom prst="roundRect">
            <a:avLst>
              <a:gd name="adj" fmla="val 22222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7178040" y="1755648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92040" y="1920240"/>
            <a:ext cx="3017520" cy="160020"/>
          </a:xfrm>
          <a:prstGeom prst="rect">
            <a:avLst/>
          </a:prstGeom>
          <a:solidFill>
            <a:srgbClr val="FFFFFF"/>
          </a:solidFill>
          <a:ln w="381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4956048" y="1920240"/>
            <a:ext cx="219456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sex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78040" y="1938528"/>
            <a:ext cx="548640" cy="123444"/>
          </a:xfrm>
          <a:prstGeom prst="roundRect">
            <a:avLst>
              <a:gd name="adj" fmla="val 22222"/>
            </a:avLst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178040" y="1920240"/>
            <a:ext cx="5486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2212848"/>
            <a:ext cx="41605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320040" y="2212848"/>
            <a:ext cx="64008" cy="1600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502920" y="2267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Eliminación de Registros Incompletos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" y="2651760"/>
            <a:ext cx="3840480" cy="3200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566928" y="2660904"/>
            <a:ext cx="3703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df.dropna()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94360" y="30175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344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9436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920240" y="30175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192024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246120" y="30175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3246120" y="34381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2212848"/>
            <a:ext cx="64008" cy="1600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4956048" y="267919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A8D8EA"/>
                </a:solidFill>
                <a:latin typeface="Consolas" pitchFamily="34" charset="0"/>
              </a:rPr>
              <a:t>I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956048" y="284413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320040" y="3950208"/>
            <a:ext cx="850392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457200" y="395020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Dataset final:  333 registros  •  4 columnas float64  •  0 valores nulos  •  Listo para modelado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 (EDA)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74980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70432" y="84124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morfológicas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18872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clara entre las tres especies en el espacio de características físicas medidas.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1755648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320040" y="175564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02920" y="1920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70432" y="1847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positiva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70432" y="219456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tamaño corporal correlaciona con mayor longitud de aleta en todas las especies.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292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70432" y="28529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significativa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20040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físicas presentan correlaciones estadísticamente significativas entre sí.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85039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20"/>
          <p:cNvSpPr/>
          <p:nvPr/>
        </p:nvSpPr>
        <p:spPr>
          <a:xfrm>
            <a:off x="320040" y="3767328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50292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70432" y="385876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Separabilidad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206240"/>
            <a:ext cx="7406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muestran separabilidad adecuada para aplicar modelos de clasificación supervisada.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Descriptivas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685800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685800"/>
            <a:ext cx="2011680" cy="7315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320040" y="8046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43.9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±5.4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Length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685800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468880" y="685800"/>
            <a:ext cx="201168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468880" y="8046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246888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46888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±1.9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Depth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685800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617720" y="685800"/>
            <a:ext cx="2011680" cy="731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617720" y="8046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200.9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61772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1772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±14.0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Flipper Len.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66560" y="685800"/>
            <a:ext cx="20116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6766560" y="685800"/>
            <a:ext cx="20116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766560" y="80467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4,207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766560" y="1481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176479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±805.2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Mass</a:t>
            </a:r>
            <a:endParaRPr lang="en-US" sz="1100" dirty="0"/>
          </a:p>
        </p:txBody>
      </p:sp>
      <p:graphicFrame>
        <p:nvGraphicFramePr>
          <p:cNvPr id="30" name="Chart 0"/>
          <p:cNvGraphicFramePr/>
          <p:nvPr/>
        </p:nvGraphicFramePr>
        <p:xfrm>
          <a:off x="320040" y="2834640"/>
          <a:ext cx="85039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predecir la masa corporal del pingüino a partir de sus características físicas.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0233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Predictoras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664208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04672" y="162763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del pico (bill_length_mm)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804672" y="2157984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 del pico (bill_depth_mm)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24912"/>
            <a:ext cx="164592" cy="16459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804672" y="268833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 de la aleta (flipper_length_mm)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3657600" cy="27432"/>
          </a:xfrm>
          <a:prstGeom prst="rect">
            <a:avLst/>
          </a:prstGeom>
          <a:solidFill>
            <a:srgbClr val="D0E4F5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del Modelo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169164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2377440" y="3493008"/>
            <a:ext cx="1691640" cy="1005840"/>
          </a:xfrm>
          <a:prstGeom prst="rect">
            <a:avLst/>
          </a:prstGeom>
          <a:solidFill>
            <a:srgbClr val="1C5E8C"/>
          </a:solidFill>
          <a:ln w="12700">
            <a:solidFill>
              <a:srgbClr val="1C5E8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377440" y="3511296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79476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142,415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17720" y="1051560"/>
            <a:ext cx="42062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4754880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Predicho</a:t>
            </a:r>
            <a:endParaRPr lang="en-US" sz="14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63440" y="1481328"/>
            <a:ext cx="4069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clasificar la especie del pingüino usando características del pico.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663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466344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11480" y="11612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General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48132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11480" y="2286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precisión con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pico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143000"/>
            <a:ext cx="27432" cy="3383280"/>
          </a:xfrm>
          <a:prstGeom prst="rect">
            <a:avLst/>
          </a:prstGeom>
          <a:solidFill>
            <a:srgbClr val="D0E4F5"/>
          </a:solidFill>
          <a:ln w="1270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514600" y="11612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por Especie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14600" y="1600200"/>
            <a:ext cx="685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2514600" y="16002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600200"/>
            <a:ext cx="50292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246120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94760" y="1600200"/>
            <a:ext cx="54864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794760" y="160020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1600200"/>
            <a:ext cx="50292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343400" y="160020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14600" y="1929384"/>
            <a:ext cx="685800" cy="530352"/>
          </a:xfrm>
          <a:prstGeom prst="rect">
            <a:avLst/>
          </a:prstGeom>
          <a:solidFill>
            <a:srgbClr val="EEF5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2514600" y="192938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Adelie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1929384"/>
            <a:ext cx="50292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91840" y="2295144"/>
            <a:ext cx="349758" cy="91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46120" y="19293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94760" y="1929384"/>
            <a:ext cx="54864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Shape 26"/>
          <p:cNvSpPr/>
          <p:nvPr/>
        </p:nvSpPr>
        <p:spPr>
          <a:xfrm>
            <a:off x="3840480" y="2295144"/>
            <a:ext cx="45720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3794760" y="1929384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343400" y="1929384"/>
            <a:ext cx="50292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4389120" y="2295144"/>
            <a:ext cx="370332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4343400" y="19293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2496312"/>
            <a:ext cx="685800" cy="530352"/>
          </a:xfrm>
          <a:prstGeom prst="rect">
            <a:avLst/>
          </a:prstGeom>
          <a:solidFill>
            <a:srgbClr val="EEF5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2514600" y="249631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Chinstrap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2496312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3291840" y="2862072"/>
            <a:ext cx="185166" cy="91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3246120" y="2496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94760" y="2496312"/>
            <a:ext cx="548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3840480" y="2862072"/>
            <a:ext cx="2057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3794760" y="249631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343400" y="2496312"/>
            <a:ext cx="502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40"/>
          <p:cNvSpPr/>
          <p:nvPr/>
        </p:nvSpPr>
        <p:spPr>
          <a:xfrm>
            <a:off x="4389120" y="2862072"/>
            <a:ext cx="185166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4343400" y="249631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514600" y="3063240"/>
            <a:ext cx="685800" cy="530352"/>
          </a:xfrm>
          <a:prstGeom prst="rect">
            <a:avLst/>
          </a:prstGeom>
          <a:solidFill>
            <a:srgbClr val="EEF5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2514600" y="3063240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Gentoo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46120" y="3063240"/>
            <a:ext cx="50292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5"/>
          <p:cNvSpPr/>
          <p:nvPr/>
        </p:nvSpPr>
        <p:spPr>
          <a:xfrm>
            <a:off x="3291840" y="3429000"/>
            <a:ext cx="288036" cy="914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8" name="Text 46"/>
          <p:cNvSpPr/>
          <p:nvPr/>
        </p:nvSpPr>
        <p:spPr>
          <a:xfrm>
            <a:off x="324612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794760" y="3063240"/>
            <a:ext cx="54864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0" name="Shape 48"/>
          <p:cNvSpPr/>
          <p:nvPr/>
        </p:nvSpPr>
        <p:spPr>
          <a:xfrm>
            <a:off x="3840480" y="3429000"/>
            <a:ext cx="205740" cy="914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3794760" y="30632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343400" y="3063240"/>
            <a:ext cx="502920" cy="530352"/>
          </a:xfrm>
          <a:prstGeom prst="rect">
            <a:avLst/>
          </a:prstGeom>
          <a:solidFill>
            <a:srgbClr val="F0F7FF"/>
          </a:solidFill>
          <a:ln w="6350">
            <a:solidFill>
              <a:srgbClr val="D8E8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3" name="Shape 51"/>
          <p:cNvSpPr/>
          <p:nvPr/>
        </p:nvSpPr>
        <p:spPr>
          <a:xfrm>
            <a:off x="4389120" y="3429000"/>
            <a:ext cx="226314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Text 52"/>
          <p:cNvSpPr/>
          <p:nvPr/>
        </p:nvSpPr>
        <p:spPr>
          <a:xfrm>
            <a:off x="4343400" y="30632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166360" y="1051560"/>
            <a:ext cx="3657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6" name="Text 54"/>
          <p:cNvSpPr/>
          <p:nvPr/>
        </p:nvSpPr>
        <p:spPr>
          <a:xfrm>
            <a:off x="5303520" y="1143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n-US" sz="1400" dirty="0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12080" y="1481328"/>
            <a:ext cx="352044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20040" y="45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0040" y="4572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4206240" cy="43891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Patrones Biológicos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EDA permitió identificar diferencias morfológicas claras entre las tres especies de pingüinos.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206240" cy="43891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Regresión Lineal — R² = 0.76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30759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físicas explican el 76% de la variabilidad del peso. La aleta es el predictor más potente.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78892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20040" y="2788920"/>
            <a:ext cx="420624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11480" y="27889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Regresión Logística — 94% Accuracy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1927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características del pico son suficientes para clasificar la especie con alta precisión.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42062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C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20624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4846320" y="278892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Aplicaciones Prácticas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3319272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pueden automatizar monitoreo ecológico e identificación de especies en campo.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6583680" y="27432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0" dirty="0">
                <a:solidFill>
                  <a:srgbClr val="000000"/>
                </a:solidFill>
              </a:rPr>
              <a:t>🐧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Machine Learning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datos en</a:t>
            </a:r>
            <a:endParaRPr lang="en-US" sz="3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" y="2880360"/>
            <a:ext cx="27432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1148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 •  Regresión Lineal  •  Regresión Logística  •  Clasificación Automática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38404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1148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8C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Machine Learning  •  Palmer Penguins Dataset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607</Words>
  <Application>Microsoft Office PowerPoint</Application>
  <PresentationFormat>Presentación en pantalla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Machine Learning - Palmer Penguins</dc:title>
  <dc:subject>PptxGenJS Presentation</dc:subject>
  <dc:creator>PptxGenJS</dc:creator>
  <cp:lastModifiedBy>MURILLO G�MEZ JUAN ESTEBAN</cp:lastModifiedBy>
  <cp:revision>3</cp:revision>
  <dcterms:created xsi:type="dcterms:W3CDTF">2026-03-11T21:33:50Z</dcterms:created>
  <dcterms:modified xsi:type="dcterms:W3CDTF">2026-03-11T21:57:35Z</dcterms:modified>
</cp:coreProperties>
</file>