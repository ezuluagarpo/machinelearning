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6256000" cy="9144000"/>
  <p:notesSz cx="9144000" cy="16256000"/>
  <p:embeddedFontLst>
    <p:embeddedFont>
      <p:font typeface="Liter" panose="020B0604020202020204" charset="0"/>
      <p:regular r:id="rId15"/>
    </p:embeddedFont>
    <p:embeddedFont>
      <p:font typeface="Quattrocento Sans" panose="020B0502050000020003" pitchFamily="34" charset="0"/>
      <p:regular r:id="rId16"/>
      <p:bold r:id="rId17"/>
      <p:italic r:id="rId18"/>
      <p:boldItalic r:id="rId19"/>
    </p:embeddedFont>
  </p:embeddedFontLst>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Estilo temático 1 - Énfasis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979" autoAdjust="0"/>
    <p:restoredTop sz="94610"/>
  </p:normalViewPr>
  <p:slideViewPr>
    <p:cSldViewPr snapToGrid="0" snapToObjects="1">
      <p:cViewPr varScale="1">
        <p:scale>
          <a:sx n="62" d="100"/>
          <a:sy n="62" d="100"/>
        </p:scale>
        <p:origin x="883"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doughnutChart>
        <c:varyColors val="1"/>
        <c:ser>
          <c:idx val="0"/>
          <c:order val="0"/>
          <c:tx>
            <c:strRef>
              <c:f>Sheet1!$B$1</c:f>
              <c:strCache>
                <c:ptCount val="1"/>
                <c:pt idx="0">
                  <c:v>value</c:v>
                </c:pt>
              </c:strCache>
            </c:strRef>
          </c:tx>
          <c:spPr>
            <a:solidFill>
              <a:schemeClr val="accent1"/>
            </a:solidFill>
            <a:ln w="9525" cap="flat">
              <a:solidFill>
                <a:srgbClr val="F9F9F9"/>
              </a:solidFill>
              <a:prstDash val="solid"/>
              <a:round/>
            </a:ln>
            <a:effectLst/>
          </c:spPr>
          <c:dPt>
            <c:idx val="0"/>
            <c:bubble3D val="0"/>
            <c:spPr>
              <a:solidFill>
                <a:srgbClr val="B8860B"/>
              </a:solidFill>
              <a:effectLst/>
            </c:spPr>
            <c:extLst>
              <c:ext xmlns:c16="http://schemas.microsoft.com/office/drawing/2014/chart" uri="{C3380CC4-5D6E-409C-BE32-E72D297353CC}">
                <c16:uniqueId val="{00000001-4D07-47E2-8F4B-17BA68FCDCD2}"/>
              </c:ext>
            </c:extLst>
          </c:dPt>
          <c:dPt>
            <c:idx val="1"/>
            <c:bubble3D val="0"/>
            <c:spPr>
              <a:solidFill>
                <a:srgbClr val="6A5ACD"/>
              </a:solidFill>
              <a:effectLst/>
            </c:spPr>
            <c:extLst>
              <c:ext xmlns:c16="http://schemas.microsoft.com/office/drawing/2014/chart" uri="{C3380CC4-5D6E-409C-BE32-E72D297353CC}">
                <c16:uniqueId val="{00000003-4D07-47E2-8F4B-17BA68FCDCD2}"/>
              </c:ext>
            </c:extLst>
          </c:dPt>
          <c:dPt>
            <c:idx val="2"/>
            <c:bubble3D val="0"/>
            <c:spPr>
              <a:solidFill>
                <a:srgbClr val="9CA3AF"/>
              </a:solidFill>
              <a:effectLst/>
            </c:spPr>
            <c:extLst>
              <c:ext xmlns:c16="http://schemas.microsoft.com/office/drawing/2014/chart" uri="{C3380CC4-5D6E-409C-BE32-E72D297353CC}">
                <c16:uniqueId val="{00000005-4D07-47E2-8F4B-17BA68FCDCD2}"/>
              </c:ext>
            </c:extLst>
          </c:dPt>
          <c:dLbls>
            <c:dLbl>
              <c:idx val="0"/>
              <c:numFmt formatCode="0%" sourceLinked="0"/>
              <c:spPr/>
              <c:txPr>
                <a:bodyPr/>
                <a:lstStyle/>
                <a:p>
                  <a:pPr>
                    <a:defRPr sz="1600" b="0" i="0" u="none" strike="noStrike">
                      <a:solidFill>
                        <a:srgbClr val="FFFFFF"/>
                      </a:solidFill>
                      <a:latin typeface="Arial"/>
                    </a:defRPr>
                  </a:pPr>
                  <a:endParaRPr lang="es-CO"/>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4D07-47E2-8F4B-17BA68FCDCD2}"/>
                </c:ext>
              </c:extLst>
            </c:dLbl>
            <c:dLbl>
              <c:idx val="1"/>
              <c:numFmt formatCode="0%" sourceLinked="0"/>
              <c:spPr/>
              <c:txPr>
                <a:bodyPr/>
                <a:lstStyle/>
                <a:p>
                  <a:pPr>
                    <a:defRPr sz="1600" b="0" i="0" u="none" strike="noStrike">
                      <a:solidFill>
                        <a:srgbClr val="FFFFFF"/>
                      </a:solidFill>
                      <a:latin typeface="Arial"/>
                    </a:defRPr>
                  </a:pPr>
                  <a:endParaRPr lang="es-CO"/>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4D07-47E2-8F4B-17BA68FCDCD2}"/>
                </c:ext>
              </c:extLst>
            </c:dLbl>
            <c:dLbl>
              <c:idx val="2"/>
              <c:numFmt formatCode="0%" sourceLinked="0"/>
              <c:spPr/>
              <c:txPr>
                <a:bodyPr/>
                <a:lstStyle/>
                <a:p>
                  <a:pPr>
                    <a:defRPr sz="1600" b="0" i="0" u="none" strike="noStrike">
                      <a:solidFill>
                        <a:srgbClr val="FFFFFF"/>
                      </a:solidFill>
                      <a:latin typeface="Arial"/>
                    </a:defRPr>
                  </a:pPr>
                  <a:endParaRPr lang="es-CO"/>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4D07-47E2-8F4B-17BA68FCDCD2}"/>
                </c:ext>
              </c:extLst>
            </c:dLbl>
            <c:numFmt formatCode="0%" sourceLinked="0"/>
            <c:spPr>
              <a:noFill/>
              <a:ln>
                <a:noFill/>
              </a:ln>
              <a:effectLst/>
            </c:spPr>
            <c:txPr>
              <a:bodyPr/>
              <a:lstStyle/>
              <a:p>
                <a:pPr>
                  <a:defRPr sz="1800" b="0" i="0" u="none" strike="noStrike">
                    <a:solidFill>
                      <a:srgbClr val="000000"/>
                    </a:solidFill>
                    <a:latin typeface="Arial"/>
                  </a:defRPr>
                </a:pPr>
                <a:endParaRPr lang="es-CO"/>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Sheet1!$A$2:$A$4</c:f>
              <c:strCache>
                <c:ptCount val="3"/>
                <c:pt idx="0">
                  <c:v>DAB / TP53+</c:v>
                </c:pt>
                <c:pt idx="1">
                  <c:v>Hematoxilina</c:v>
                </c:pt>
                <c:pt idx="2">
                  <c:v>Fondo/Lumen</c:v>
                </c:pt>
              </c:strCache>
            </c:strRef>
          </c:cat>
          <c:val>
            <c:numRef>
              <c:f>Sheet1!$B$2:$B$4</c:f>
              <c:numCache>
                <c:formatCode>General</c:formatCode>
                <c:ptCount val="3"/>
                <c:pt idx="0">
                  <c:v>29.2</c:v>
                </c:pt>
                <c:pt idx="1">
                  <c:v>40.5</c:v>
                </c:pt>
                <c:pt idx="2">
                  <c:v>30.3</c:v>
                </c:pt>
              </c:numCache>
            </c:numRef>
          </c:val>
          <c:extLst>
            <c:ext xmlns:c16="http://schemas.microsoft.com/office/drawing/2014/chart" uri="{C3380CC4-5D6E-409C-BE32-E72D297353CC}">
              <c16:uniqueId val="{00000006-4D07-47E2-8F4B-17BA68FCDCD2}"/>
            </c:ext>
          </c:extLst>
        </c:ser>
        <c:dLbls>
          <c:showLegendKey val="0"/>
          <c:showVal val="0"/>
          <c:showCatName val="0"/>
          <c:showSerName val="0"/>
          <c:showPercent val="0"/>
          <c:showBubbleSize val="0"/>
          <c:showLeaderLines val="0"/>
        </c:dLbls>
        <c:firstSliceAng val="0"/>
        <c:holeSize val="50"/>
      </c:doughnutChart>
      <c:spPr>
        <a:noFill/>
        <a:ln>
          <a:noFill/>
        </a:ln>
        <a:effectLst/>
      </c:spPr>
    </c:plotArea>
    <c:legend>
      <c:legendPos val="b"/>
      <c:overlay val="0"/>
      <c:txPr>
        <a:bodyPr/>
        <a:lstStyle/>
        <a:p>
          <a:pPr>
            <a:defRPr sz="1400">
              <a:solidFill>
                <a:srgbClr val="9CA3AF"/>
              </a:solidFill>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622286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A0F"/>
        </a:solidFill>
        <a:effectLst/>
      </p:bgPr>
    </p:bg>
    <p:spTree>
      <p:nvGrpSpPr>
        <p:cNvPr id="1" name=""/>
        <p:cNvGrpSpPr/>
        <p:nvPr/>
      </p:nvGrpSpPr>
      <p:grpSpPr>
        <a:xfrm>
          <a:off x="0" y="0"/>
          <a:ext cx="0" cy="0"/>
          <a:chOff x="0" y="0"/>
          <a:chExt cx="0" cy="0"/>
        </a:xfrm>
      </p:grpSpPr>
      <p:sp>
        <p:nvSpPr>
          <p:cNvPr id="2" name="Shape 0"/>
          <p:cNvSpPr/>
          <p:nvPr/>
        </p:nvSpPr>
        <p:spPr>
          <a:xfrm>
            <a:off x="0" y="0"/>
            <a:ext cx="16256000" cy="50800"/>
          </a:xfrm>
          <a:prstGeom prst="rect">
            <a:avLst/>
          </a:prstGeom>
          <a:gradFill flip="none" rotWithShape="1">
            <a:gsLst>
              <a:gs pos="0">
                <a:srgbClr val="008080"/>
              </a:gs>
              <a:gs pos="50000">
                <a:srgbClr val="B8860B"/>
              </a:gs>
              <a:gs pos="100000">
                <a:srgbClr val="6A5ACD"/>
              </a:gs>
            </a:gsLst>
            <a:lin ang="0" scaled="1"/>
          </a:gradFill>
          <a:ln/>
        </p:spPr>
        <p:txBody>
          <a:bodyPr/>
          <a:lstStyle/>
          <a:p>
            <a:endParaRPr lang="es-CO"/>
          </a:p>
        </p:txBody>
      </p:sp>
      <p:sp>
        <p:nvSpPr>
          <p:cNvPr id="3" name="Text 1"/>
          <p:cNvSpPr/>
          <p:nvPr/>
        </p:nvSpPr>
        <p:spPr>
          <a:xfrm>
            <a:off x="1270000" y="2286000"/>
            <a:ext cx="13716000" cy="3048000"/>
          </a:xfrm>
          <a:prstGeom prst="rect">
            <a:avLst/>
          </a:prstGeom>
          <a:noFill/>
          <a:ln/>
        </p:spPr>
        <p:txBody>
          <a:bodyPr wrap="square" lIns="0" tIns="0" rIns="0" bIns="0" rtlCol="0" anchor="ctr"/>
          <a:lstStyle/>
          <a:p>
            <a:pPr algn="ctr">
              <a:lnSpc>
                <a:spcPct val="120000"/>
              </a:lnSpc>
            </a:pPr>
            <a:r>
              <a:rPr lang="en-US" sz="4400" b="1" kern="0" spc="100" dirty="0">
                <a:solidFill>
                  <a:srgbClr val="FFFFFF"/>
                </a:solidFill>
                <a:latin typeface="QuattrocentoSans" pitchFamily="34" charset="0"/>
                <a:ea typeface="QuattrocentoSans" pitchFamily="34" charset="-122"/>
                <a:cs typeface="QuattrocentoSans" pitchFamily="34" charset="-120"/>
              </a:rPr>
              <a:t>SEGMENTACIÓN AUTOMATIZADA DE CÁNCER COLORRECTAL</a:t>
            </a:r>
            <a:endParaRPr lang="en-US" sz="4400" dirty="0"/>
          </a:p>
          <a:p>
            <a:pPr algn="ctr">
              <a:lnSpc>
                <a:spcPct val="120000"/>
              </a:lnSpc>
            </a:pPr>
            <a:r>
              <a:rPr lang="en-US" sz="3600" kern="0" spc="100" dirty="0">
                <a:solidFill>
                  <a:srgbClr val="B8860B"/>
                </a:solidFill>
                <a:latin typeface="QuattrocentoSans" pitchFamily="34" charset="0"/>
                <a:ea typeface="QuattrocentoSans" pitchFamily="34" charset="-122"/>
                <a:cs typeface="QuattrocentoSans" pitchFamily="34" charset="-120"/>
              </a:rPr>
              <a:t>CUANTIFICACIÓN DE TP53 MEDIANTE CLUSTERING NO SUPERVISADO</a:t>
            </a:r>
            <a:endParaRPr lang="en-US" sz="4400" dirty="0"/>
          </a:p>
        </p:txBody>
      </p:sp>
      <p:sp>
        <p:nvSpPr>
          <p:cNvPr id="4" name="Shape 2"/>
          <p:cNvSpPr/>
          <p:nvPr/>
        </p:nvSpPr>
        <p:spPr>
          <a:xfrm>
            <a:off x="6858000" y="5588000"/>
            <a:ext cx="2540000" cy="25400"/>
          </a:xfrm>
          <a:prstGeom prst="rect">
            <a:avLst/>
          </a:prstGeom>
          <a:solidFill>
            <a:srgbClr val="008080"/>
          </a:solidFill>
          <a:ln/>
        </p:spPr>
        <p:txBody>
          <a:bodyPr/>
          <a:lstStyle/>
          <a:p>
            <a:endParaRPr lang="es-CO"/>
          </a:p>
        </p:txBody>
      </p:sp>
      <p:sp>
        <p:nvSpPr>
          <p:cNvPr id="5" name="Text 3"/>
          <p:cNvSpPr/>
          <p:nvPr/>
        </p:nvSpPr>
        <p:spPr>
          <a:xfrm>
            <a:off x="1270000" y="5842000"/>
            <a:ext cx="13716000" cy="1016000"/>
          </a:xfrm>
          <a:prstGeom prst="rect">
            <a:avLst/>
          </a:prstGeom>
          <a:noFill/>
          <a:ln/>
        </p:spPr>
        <p:txBody>
          <a:bodyPr wrap="square" lIns="0" tIns="0" rIns="0" bIns="0" rtlCol="0" anchor="ctr"/>
          <a:lstStyle/>
          <a:p>
            <a:pPr algn="ctr">
              <a:lnSpc>
                <a:spcPct val="140000"/>
              </a:lnSpc>
            </a:pPr>
            <a:r>
              <a:rPr lang="en-US" sz="2200" dirty="0">
                <a:solidFill>
                  <a:srgbClr val="9CA3AF"/>
                </a:solidFill>
                <a:latin typeface="Liter" pitchFamily="34" charset="0"/>
                <a:ea typeface="Liter" pitchFamily="34" charset="-122"/>
                <a:cs typeface="Liter" pitchFamily="34" charset="-120"/>
              </a:rPr>
              <a:t>Pipeline de Patología Digital | K-Means · Mean Shift · Espacio HSV | Análisis de </a:t>
            </a:r>
            <a:r>
              <a:rPr lang="en-US" sz="2200" dirty="0" err="1">
                <a:solidFill>
                  <a:srgbClr val="9CA3AF"/>
                </a:solidFill>
                <a:latin typeface="Liter" pitchFamily="34" charset="0"/>
                <a:ea typeface="Liter" pitchFamily="34" charset="-122"/>
                <a:cs typeface="Liter" pitchFamily="34" charset="-120"/>
              </a:rPr>
              <a:t>Micrografías</a:t>
            </a:r>
            <a:r>
              <a:rPr lang="en-US" sz="2200" dirty="0">
                <a:solidFill>
                  <a:srgbClr val="9CA3AF"/>
                </a:solidFill>
                <a:latin typeface="Liter" pitchFamily="34" charset="0"/>
                <a:ea typeface="Liter" pitchFamily="34" charset="-122"/>
                <a:cs typeface="Liter" pitchFamily="34" charset="-120"/>
              </a:rPr>
              <a:t> IHC</a:t>
            </a:r>
          </a:p>
          <a:p>
            <a:pPr algn="ctr">
              <a:lnSpc>
                <a:spcPct val="140000"/>
              </a:lnSpc>
            </a:pPr>
            <a:endParaRPr lang="en-US" sz="2200" dirty="0">
              <a:solidFill>
                <a:srgbClr val="9CA3AF"/>
              </a:solidFill>
              <a:latin typeface="Liter" pitchFamily="34" charset="0"/>
            </a:endParaRPr>
          </a:p>
          <a:p>
            <a:pPr algn="ctr">
              <a:lnSpc>
                <a:spcPct val="140000"/>
              </a:lnSpc>
            </a:pPr>
            <a:r>
              <a:rPr lang="en-US" sz="2200" dirty="0">
                <a:solidFill>
                  <a:srgbClr val="9CA3AF"/>
                </a:solidFill>
                <a:latin typeface="Liter" pitchFamily="34" charset="0"/>
              </a:rPr>
              <a:t>Emanuel Zuluaga Restrepo – Nicolas Paez Lancheros – Julian Cañas Saldarriaga</a:t>
            </a:r>
            <a:endParaRPr lang="en-US" sz="2200" dirty="0"/>
          </a:p>
        </p:txBody>
      </p:sp>
      <p:sp>
        <p:nvSpPr>
          <p:cNvPr id="6" name="Text 4"/>
          <p:cNvSpPr/>
          <p:nvPr/>
        </p:nvSpPr>
        <p:spPr>
          <a:xfrm>
            <a:off x="1270000" y="7375611"/>
            <a:ext cx="13716000" cy="762000"/>
          </a:xfrm>
          <a:prstGeom prst="rect">
            <a:avLst/>
          </a:prstGeom>
          <a:noFill/>
          <a:ln/>
        </p:spPr>
        <p:txBody>
          <a:bodyPr wrap="square" lIns="0" tIns="0" rIns="0" bIns="0" rtlCol="0" anchor="ctr"/>
          <a:lstStyle/>
          <a:p>
            <a:pPr algn="ctr">
              <a:lnSpc>
                <a:spcPct val="150000"/>
              </a:lnSpc>
            </a:pPr>
            <a:r>
              <a:rPr lang="en-US" sz="1600" dirty="0">
                <a:solidFill>
                  <a:srgbClr val="008080"/>
                </a:solidFill>
                <a:latin typeface="Liter" pitchFamily="34" charset="0"/>
                <a:ea typeface="Liter" pitchFamily="34" charset="-122"/>
                <a:cs typeface="Liter" pitchFamily="34" charset="-120"/>
              </a:rPr>
              <a:t>CLUSTERING NO SUPERVISADO</a:t>
            </a:r>
            <a:r>
              <a:rPr lang="en-US" sz="1600" dirty="0">
                <a:solidFill>
                  <a:srgbClr val="9CA3AF"/>
                </a:solidFill>
                <a:latin typeface="Liter" pitchFamily="34" charset="0"/>
                <a:ea typeface="Liter" pitchFamily="34" charset="-122"/>
                <a:cs typeface="Liter" pitchFamily="34" charset="-120"/>
              </a:rPr>
              <a:t> · </a:t>
            </a:r>
            <a:r>
              <a:rPr lang="en-US" sz="1600" dirty="0">
                <a:solidFill>
                  <a:srgbClr val="B8860B"/>
                </a:solidFill>
                <a:latin typeface="Liter" pitchFamily="34" charset="0"/>
                <a:ea typeface="Liter" pitchFamily="34" charset="-122"/>
                <a:cs typeface="Liter" pitchFamily="34" charset="-120"/>
              </a:rPr>
              <a:t>CENTROIDES CROMÁTICOS</a:t>
            </a:r>
            <a:r>
              <a:rPr lang="en-US" sz="1600" dirty="0">
                <a:solidFill>
                  <a:srgbClr val="9CA3AF"/>
                </a:solidFill>
                <a:latin typeface="Liter" pitchFamily="34" charset="0"/>
                <a:ea typeface="Liter" pitchFamily="34" charset="-122"/>
                <a:cs typeface="Liter" pitchFamily="34" charset="-120"/>
              </a:rPr>
              <a:t> · </a:t>
            </a:r>
            <a:r>
              <a:rPr lang="en-US" sz="1600" dirty="0">
                <a:solidFill>
                  <a:srgbClr val="6A5ACD"/>
                </a:solidFill>
                <a:latin typeface="Liter" pitchFamily="34" charset="0"/>
                <a:ea typeface="Liter" pitchFamily="34" charset="-122"/>
                <a:cs typeface="Liter" pitchFamily="34" charset="-120"/>
              </a:rPr>
              <a:t>SILHOUETTE SCORE</a:t>
            </a:r>
            <a:endParaRPr lang="en-US" sz="1600" dirty="0"/>
          </a:p>
        </p:txBody>
      </p:sp>
      <p:sp>
        <p:nvSpPr>
          <p:cNvPr id="7" name="Shape 5"/>
          <p:cNvSpPr/>
          <p:nvPr/>
        </p:nvSpPr>
        <p:spPr>
          <a:xfrm>
            <a:off x="0" y="9093200"/>
            <a:ext cx="16256000" cy="50800"/>
          </a:xfrm>
          <a:prstGeom prst="rect">
            <a:avLst/>
          </a:prstGeom>
          <a:gradFill flip="none" rotWithShape="1">
            <a:gsLst>
              <a:gs pos="0">
                <a:srgbClr val="6A5ACD"/>
              </a:gs>
              <a:gs pos="50000">
                <a:srgbClr val="B8860B"/>
              </a:gs>
              <a:gs pos="100000">
                <a:srgbClr val="008080"/>
              </a:gs>
            </a:gsLst>
            <a:lin ang="0" scaled="1"/>
          </a:gradFill>
          <a:ln/>
        </p:spPr>
        <p:txBody>
          <a:bodyPr/>
          <a:lstStyle/>
          <a:p>
            <a:endParaRPr lang="es-CO"/>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A0F"/>
        </a:solidFill>
        <a:effectLst/>
      </p:bgPr>
    </p:bg>
    <p:spTree>
      <p:nvGrpSpPr>
        <p:cNvPr id="1" name=""/>
        <p:cNvGrpSpPr/>
        <p:nvPr/>
      </p:nvGrpSpPr>
      <p:grpSpPr>
        <a:xfrm>
          <a:off x="0" y="0"/>
          <a:ext cx="0" cy="0"/>
          <a:chOff x="0" y="0"/>
          <a:chExt cx="0" cy="0"/>
        </a:xfrm>
      </p:grpSpPr>
      <p:sp>
        <p:nvSpPr>
          <p:cNvPr id="2" name="Text 0"/>
          <p:cNvSpPr/>
          <p:nvPr/>
        </p:nvSpPr>
        <p:spPr>
          <a:xfrm>
            <a:off x="762000" y="508000"/>
            <a:ext cx="14732000" cy="1016000"/>
          </a:xfrm>
          <a:prstGeom prst="rect">
            <a:avLst/>
          </a:prstGeom>
          <a:noFill/>
          <a:ln/>
        </p:spPr>
        <p:txBody>
          <a:bodyPr wrap="square" lIns="0" tIns="0" rIns="0" bIns="0" rtlCol="0" anchor="t"/>
          <a:lstStyle/>
          <a:p>
            <a:pPr>
              <a:lnSpc>
                <a:spcPct val="130000"/>
              </a:lnSpc>
            </a:pPr>
            <a:r>
              <a:rPr lang="en-US" sz="3200" kern="0" spc="50" dirty="0">
                <a:solidFill>
                  <a:srgbClr val="008080"/>
                </a:solidFill>
                <a:latin typeface="QuattrocentoSans" pitchFamily="34" charset="0"/>
                <a:ea typeface="QuattrocentoSans" pitchFamily="34" charset="-122"/>
                <a:cs typeface="QuattrocentoSans" pitchFamily="34" charset="-120"/>
              </a:rPr>
              <a:t>RESUMEN EJECUTIVO</a:t>
            </a:r>
            <a:r>
              <a:rPr lang="en-US" sz="3200" kern="0" spc="50" dirty="0">
                <a:solidFill>
                  <a:srgbClr val="FFFFFF"/>
                </a:solidFill>
                <a:latin typeface="QuattrocentoSans" pitchFamily="34" charset="0"/>
                <a:ea typeface="QuattrocentoSans" pitchFamily="34" charset="-122"/>
                <a:cs typeface="QuattrocentoSans" pitchFamily="34" charset="-120"/>
              </a:rPr>
              <a:t> — Paradigma No Supervisado para Patología Digital</a:t>
            </a:r>
            <a:endParaRPr lang="en-US" sz="3200" dirty="0"/>
          </a:p>
        </p:txBody>
      </p:sp>
      <p:sp>
        <p:nvSpPr>
          <p:cNvPr id="3" name="Shape 1"/>
          <p:cNvSpPr/>
          <p:nvPr/>
        </p:nvSpPr>
        <p:spPr>
          <a:xfrm>
            <a:off x="762000" y="1587500"/>
            <a:ext cx="14732000" cy="12700"/>
          </a:xfrm>
          <a:prstGeom prst="rect">
            <a:avLst/>
          </a:prstGeom>
          <a:solidFill>
            <a:srgbClr val="2A2A35"/>
          </a:solidFill>
          <a:ln/>
        </p:spPr>
        <p:txBody>
          <a:bodyPr/>
          <a:lstStyle/>
          <a:p>
            <a:endParaRPr lang="es-CO"/>
          </a:p>
        </p:txBody>
      </p:sp>
      <p:sp>
        <p:nvSpPr>
          <p:cNvPr id="4" name="Shape 2"/>
          <p:cNvSpPr/>
          <p:nvPr/>
        </p:nvSpPr>
        <p:spPr>
          <a:xfrm>
            <a:off x="762000" y="1524000"/>
            <a:ext cx="4572000" cy="3937000"/>
          </a:xfrm>
          <a:prstGeom prst="rect">
            <a:avLst/>
          </a:prstGeom>
          <a:solidFill>
            <a:srgbClr val="14141B"/>
          </a:solidFill>
          <a:ln w="12700">
            <a:solidFill>
              <a:srgbClr val="008080"/>
            </a:solidFill>
            <a:prstDash val="solid"/>
          </a:ln>
        </p:spPr>
        <p:txBody>
          <a:bodyPr/>
          <a:lstStyle/>
          <a:p>
            <a:endParaRPr lang="es-CO"/>
          </a:p>
        </p:txBody>
      </p:sp>
      <p:sp>
        <p:nvSpPr>
          <p:cNvPr id="5" name="Shape 3"/>
          <p:cNvSpPr/>
          <p:nvPr/>
        </p:nvSpPr>
        <p:spPr>
          <a:xfrm>
            <a:off x="762000" y="1524000"/>
            <a:ext cx="4572000" cy="50800"/>
          </a:xfrm>
          <a:prstGeom prst="rect">
            <a:avLst/>
          </a:prstGeom>
          <a:solidFill>
            <a:srgbClr val="008080"/>
          </a:solidFill>
          <a:ln/>
        </p:spPr>
        <p:txBody>
          <a:bodyPr/>
          <a:lstStyle/>
          <a:p>
            <a:endParaRPr lang="es-CO"/>
          </a:p>
        </p:txBody>
      </p:sp>
      <p:sp>
        <p:nvSpPr>
          <p:cNvPr id="6" name="Shape 4"/>
          <p:cNvSpPr/>
          <p:nvPr/>
        </p:nvSpPr>
        <p:spPr>
          <a:xfrm>
            <a:off x="1041400" y="1879600"/>
            <a:ext cx="457200" cy="406400"/>
          </a:xfrm>
          <a:custGeom>
            <a:avLst/>
            <a:gdLst/>
            <a:ahLst/>
            <a:cxnLst/>
            <a:rect l="l" t="t" r="r" b="b"/>
            <a:pathLst>
              <a:path w="457200" h="406400">
                <a:moveTo>
                  <a:pt x="228600" y="-12700"/>
                </a:moveTo>
                <a:cubicBezTo>
                  <a:pt x="242649" y="-12700"/>
                  <a:pt x="254000" y="-1349"/>
                  <a:pt x="254000" y="12700"/>
                </a:cubicBezTo>
                <a:lnTo>
                  <a:pt x="254000" y="27226"/>
                </a:lnTo>
                <a:cubicBezTo>
                  <a:pt x="331867" y="38338"/>
                  <a:pt x="393462" y="99933"/>
                  <a:pt x="404574" y="177800"/>
                </a:cubicBezTo>
                <a:lnTo>
                  <a:pt x="419100" y="177800"/>
                </a:lnTo>
                <a:cubicBezTo>
                  <a:pt x="433149" y="177800"/>
                  <a:pt x="444500" y="189151"/>
                  <a:pt x="444500" y="203200"/>
                </a:cubicBezTo>
                <a:cubicBezTo>
                  <a:pt x="444500" y="217249"/>
                  <a:pt x="433149" y="228600"/>
                  <a:pt x="419100" y="228600"/>
                </a:cubicBezTo>
                <a:lnTo>
                  <a:pt x="404574" y="228600"/>
                </a:lnTo>
                <a:cubicBezTo>
                  <a:pt x="393462" y="306467"/>
                  <a:pt x="331867" y="368062"/>
                  <a:pt x="254000" y="379174"/>
                </a:cubicBezTo>
                <a:lnTo>
                  <a:pt x="254000" y="393700"/>
                </a:lnTo>
                <a:cubicBezTo>
                  <a:pt x="254000" y="407749"/>
                  <a:pt x="242649" y="419100"/>
                  <a:pt x="228600" y="419100"/>
                </a:cubicBezTo>
                <a:cubicBezTo>
                  <a:pt x="214551" y="419100"/>
                  <a:pt x="203200" y="407749"/>
                  <a:pt x="203200" y="393700"/>
                </a:cubicBezTo>
                <a:lnTo>
                  <a:pt x="203200" y="379174"/>
                </a:lnTo>
                <a:cubicBezTo>
                  <a:pt x="125333" y="368062"/>
                  <a:pt x="63738" y="306467"/>
                  <a:pt x="52626" y="228600"/>
                </a:cubicBezTo>
                <a:lnTo>
                  <a:pt x="38100" y="228600"/>
                </a:lnTo>
                <a:cubicBezTo>
                  <a:pt x="24051" y="228600"/>
                  <a:pt x="12700" y="217249"/>
                  <a:pt x="12700" y="203200"/>
                </a:cubicBezTo>
                <a:cubicBezTo>
                  <a:pt x="12700" y="189151"/>
                  <a:pt x="24051" y="177800"/>
                  <a:pt x="38100" y="177800"/>
                </a:cubicBezTo>
                <a:lnTo>
                  <a:pt x="52626" y="177800"/>
                </a:lnTo>
                <a:cubicBezTo>
                  <a:pt x="63738" y="99933"/>
                  <a:pt x="125333" y="38338"/>
                  <a:pt x="203200" y="27226"/>
                </a:cubicBezTo>
                <a:lnTo>
                  <a:pt x="203200" y="12700"/>
                </a:lnTo>
                <a:cubicBezTo>
                  <a:pt x="203200" y="-1349"/>
                  <a:pt x="214551" y="-12700"/>
                  <a:pt x="228600" y="-12700"/>
                </a:cubicBezTo>
                <a:close/>
                <a:moveTo>
                  <a:pt x="104140" y="228600"/>
                </a:moveTo>
                <a:cubicBezTo>
                  <a:pt x="114221" y="278368"/>
                  <a:pt x="153432" y="317579"/>
                  <a:pt x="203200" y="327660"/>
                </a:cubicBezTo>
                <a:lnTo>
                  <a:pt x="203200" y="317500"/>
                </a:lnTo>
                <a:cubicBezTo>
                  <a:pt x="203200" y="303451"/>
                  <a:pt x="214551" y="292100"/>
                  <a:pt x="228600" y="292100"/>
                </a:cubicBezTo>
                <a:cubicBezTo>
                  <a:pt x="242649" y="292100"/>
                  <a:pt x="254000" y="303451"/>
                  <a:pt x="254000" y="317500"/>
                </a:cubicBezTo>
                <a:lnTo>
                  <a:pt x="254000" y="327660"/>
                </a:lnTo>
                <a:cubicBezTo>
                  <a:pt x="303768" y="317579"/>
                  <a:pt x="342979" y="278368"/>
                  <a:pt x="353060" y="228600"/>
                </a:cubicBezTo>
                <a:lnTo>
                  <a:pt x="342900" y="228600"/>
                </a:lnTo>
                <a:cubicBezTo>
                  <a:pt x="328851" y="228600"/>
                  <a:pt x="317500" y="217249"/>
                  <a:pt x="317500" y="203200"/>
                </a:cubicBezTo>
                <a:cubicBezTo>
                  <a:pt x="317500" y="189151"/>
                  <a:pt x="328851" y="177800"/>
                  <a:pt x="342900" y="177800"/>
                </a:cubicBezTo>
                <a:lnTo>
                  <a:pt x="353060" y="177800"/>
                </a:lnTo>
                <a:cubicBezTo>
                  <a:pt x="342979" y="128032"/>
                  <a:pt x="303768" y="88821"/>
                  <a:pt x="254000" y="78740"/>
                </a:cubicBezTo>
                <a:lnTo>
                  <a:pt x="254000" y="88900"/>
                </a:lnTo>
                <a:cubicBezTo>
                  <a:pt x="254000" y="102949"/>
                  <a:pt x="242649" y="114300"/>
                  <a:pt x="228600" y="114300"/>
                </a:cubicBezTo>
                <a:cubicBezTo>
                  <a:pt x="214551" y="114300"/>
                  <a:pt x="203200" y="102949"/>
                  <a:pt x="203200" y="88900"/>
                </a:cubicBezTo>
                <a:lnTo>
                  <a:pt x="203200" y="78740"/>
                </a:lnTo>
                <a:cubicBezTo>
                  <a:pt x="153432" y="88821"/>
                  <a:pt x="114221" y="128032"/>
                  <a:pt x="104140" y="177800"/>
                </a:cubicBezTo>
                <a:lnTo>
                  <a:pt x="114300" y="177800"/>
                </a:lnTo>
                <a:cubicBezTo>
                  <a:pt x="128349" y="177800"/>
                  <a:pt x="139700" y="189151"/>
                  <a:pt x="139700" y="203200"/>
                </a:cubicBezTo>
                <a:cubicBezTo>
                  <a:pt x="139700" y="217249"/>
                  <a:pt x="128349" y="228600"/>
                  <a:pt x="114300" y="228600"/>
                </a:cubicBezTo>
                <a:lnTo>
                  <a:pt x="104140" y="228600"/>
                </a:lnTo>
                <a:close/>
                <a:moveTo>
                  <a:pt x="228600" y="165100"/>
                </a:moveTo>
                <a:cubicBezTo>
                  <a:pt x="249628" y="165100"/>
                  <a:pt x="266700" y="182172"/>
                  <a:pt x="266700" y="203200"/>
                </a:cubicBezTo>
                <a:cubicBezTo>
                  <a:pt x="266700" y="224228"/>
                  <a:pt x="249628" y="241300"/>
                  <a:pt x="228600" y="241300"/>
                </a:cubicBezTo>
                <a:cubicBezTo>
                  <a:pt x="207572" y="241300"/>
                  <a:pt x="190500" y="224228"/>
                  <a:pt x="190500" y="203200"/>
                </a:cubicBezTo>
                <a:cubicBezTo>
                  <a:pt x="190500" y="182172"/>
                  <a:pt x="207572" y="165100"/>
                  <a:pt x="228600" y="165100"/>
                </a:cubicBezTo>
                <a:close/>
              </a:path>
            </a:pathLst>
          </a:custGeom>
          <a:solidFill>
            <a:srgbClr val="008080"/>
          </a:solidFill>
          <a:ln/>
        </p:spPr>
        <p:txBody>
          <a:bodyPr/>
          <a:lstStyle/>
          <a:p>
            <a:endParaRPr lang="es-CO"/>
          </a:p>
        </p:txBody>
      </p:sp>
      <p:sp>
        <p:nvSpPr>
          <p:cNvPr id="7" name="Text 5"/>
          <p:cNvSpPr/>
          <p:nvPr/>
        </p:nvSpPr>
        <p:spPr>
          <a:xfrm>
            <a:off x="1066800" y="2489200"/>
            <a:ext cx="3962400" cy="279400"/>
          </a:xfrm>
          <a:prstGeom prst="rect">
            <a:avLst/>
          </a:prstGeom>
          <a:noFill/>
          <a:ln/>
        </p:spPr>
        <p:txBody>
          <a:bodyPr wrap="none" lIns="0" tIns="0" rIns="0" bIns="0" rtlCol="0" anchor="ctr"/>
          <a:lstStyle/>
          <a:p>
            <a:pPr>
              <a:lnSpc>
                <a:spcPct val="140000"/>
              </a:lnSpc>
            </a:pPr>
            <a:r>
              <a:rPr lang="en-US" sz="1400" kern="0" spc="100" dirty="0">
                <a:solidFill>
                  <a:srgbClr val="9CA3AF"/>
                </a:solidFill>
                <a:latin typeface="Liter" pitchFamily="34" charset="0"/>
                <a:ea typeface="Liter" pitchFamily="34" charset="-122"/>
                <a:cs typeface="Liter" pitchFamily="34" charset="-120"/>
              </a:rPr>
              <a:t>OBJETIVO</a:t>
            </a:r>
            <a:endParaRPr lang="en-US" sz="1400" dirty="0"/>
          </a:p>
        </p:txBody>
      </p:sp>
      <p:sp>
        <p:nvSpPr>
          <p:cNvPr id="8" name="Text 6"/>
          <p:cNvSpPr/>
          <p:nvPr/>
        </p:nvSpPr>
        <p:spPr>
          <a:xfrm>
            <a:off x="1066800" y="2895600"/>
            <a:ext cx="3962400" cy="698500"/>
          </a:xfrm>
          <a:prstGeom prst="rect">
            <a:avLst/>
          </a:prstGeom>
          <a:noFill/>
          <a:ln/>
        </p:spPr>
        <p:txBody>
          <a:bodyPr wrap="none" lIns="0" tIns="0" rIns="0" bIns="0" rtlCol="0" anchor="ctr"/>
          <a:lstStyle/>
          <a:p>
            <a:pPr>
              <a:lnSpc>
                <a:spcPct val="110000"/>
              </a:lnSpc>
            </a:pPr>
            <a:r>
              <a:rPr lang="en-US" sz="4800" b="1" dirty="0">
                <a:solidFill>
                  <a:srgbClr val="008080"/>
                </a:solidFill>
                <a:latin typeface="Liter" pitchFamily="34" charset="0"/>
                <a:ea typeface="Liter" pitchFamily="34" charset="-122"/>
                <a:cs typeface="Liter" pitchFamily="34" charset="-120"/>
              </a:rPr>
              <a:t>613,860</a:t>
            </a:r>
            <a:endParaRPr lang="en-US" sz="4800" dirty="0"/>
          </a:p>
        </p:txBody>
      </p:sp>
      <p:sp>
        <p:nvSpPr>
          <p:cNvPr id="9" name="Text 7"/>
          <p:cNvSpPr/>
          <p:nvPr/>
        </p:nvSpPr>
        <p:spPr>
          <a:xfrm>
            <a:off x="1066800" y="3683000"/>
            <a:ext cx="3962400" cy="279400"/>
          </a:xfrm>
          <a:prstGeom prst="rect">
            <a:avLst/>
          </a:prstGeom>
          <a:noFill/>
          <a:ln/>
        </p:spPr>
        <p:txBody>
          <a:bodyPr wrap="none" lIns="0" tIns="0" rIns="0" bIns="0" rtlCol="0" anchor="ctr"/>
          <a:lstStyle/>
          <a:p>
            <a:pPr>
              <a:lnSpc>
                <a:spcPct val="150000"/>
              </a:lnSpc>
            </a:pPr>
            <a:r>
              <a:rPr lang="en-US" sz="1600" dirty="0">
                <a:solidFill>
                  <a:srgbClr val="008080"/>
                </a:solidFill>
                <a:latin typeface="Liter" pitchFamily="34" charset="0"/>
                <a:ea typeface="Liter" pitchFamily="34" charset="-122"/>
                <a:cs typeface="Liter" pitchFamily="34" charset="-120"/>
              </a:rPr>
              <a:t>PIXELES ANALIZADOS</a:t>
            </a:r>
            <a:endParaRPr lang="en-US" sz="1600" dirty="0"/>
          </a:p>
        </p:txBody>
      </p:sp>
      <p:sp>
        <p:nvSpPr>
          <p:cNvPr id="10" name="Text 8"/>
          <p:cNvSpPr/>
          <p:nvPr/>
        </p:nvSpPr>
        <p:spPr>
          <a:xfrm>
            <a:off x="1066800" y="4114800"/>
            <a:ext cx="3962400" cy="1206500"/>
          </a:xfrm>
          <a:prstGeom prst="rect">
            <a:avLst/>
          </a:prstGeom>
          <a:noFill/>
          <a:ln/>
        </p:spPr>
        <p:txBody>
          <a:bodyPr wrap="square" lIns="0" tIns="0" rIns="0" bIns="0" rtlCol="0" anchor="t"/>
          <a:lstStyle/>
          <a:p>
            <a:pPr>
              <a:lnSpc>
                <a:spcPct val="150000"/>
              </a:lnSpc>
            </a:pPr>
            <a:r>
              <a:rPr lang="en-US" sz="1600" dirty="0">
                <a:solidFill>
                  <a:srgbClr val="9CA3AF"/>
                </a:solidFill>
                <a:latin typeface="Liter" pitchFamily="34" charset="0"/>
                <a:ea typeface="Liter" pitchFamily="34" charset="-122"/>
                <a:cs typeface="Liter" pitchFamily="34" charset="-120"/>
              </a:rPr>
              <a:t>Clustering no supervisado sobre micrografía IHC para segmentar tejido tumoral, estroma y lumen.</a:t>
            </a:r>
            <a:endParaRPr lang="en-US" sz="1600" dirty="0"/>
          </a:p>
        </p:txBody>
      </p:sp>
      <p:sp>
        <p:nvSpPr>
          <p:cNvPr id="11" name="Shape 9"/>
          <p:cNvSpPr/>
          <p:nvPr/>
        </p:nvSpPr>
        <p:spPr>
          <a:xfrm>
            <a:off x="5842000" y="1524000"/>
            <a:ext cx="4572000" cy="3937000"/>
          </a:xfrm>
          <a:prstGeom prst="rect">
            <a:avLst/>
          </a:prstGeom>
          <a:solidFill>
            <a:srgbClr val="14141B"/>
          </a:solidFill>
          <a:ln w="12700">
            <a:solidFill>
              <a:srgbClr val="B8860B"/>
            </a:solidFill>
            <a:prstDash val="solid"/>
          </a:ln>
        </p:spPr>
        <p:txBody>
          <a:bodyPr/>
          <a:lstStyle/>
          <a:p>
            <a:endParaRPr lang="es-CO"/>
          </a:p>
        </p:txBody>
      </p:sp>
      <p:sp>
        <p:nvSpPr>
          <p:cNvPr id="12" name="Shape 10"/>
          <p:cNvSpPr/>
          <p:nvPr/>
        </p:nvSpPr>
        <p:spPr>
          <a:xfrm>
            <a:off x="5842000" y="1524000"/>
            <a:ext cx="4572000" cy="50800"/>
          </a:xfrm>
          <a:prstGeom prst="rect">
            <a:avLst/>
          </a:prstGeom>
          <a:solidFill>
            <a:srgbClr val="B8860B"/>
          </a:solidFill>
          <a:ln/>
        </p:spPr>
        <p:txBody>
          <a:bodyPr/>
          <a:lstStyle/>
          <a:p>
            <a:endParaRPr lang="es-CO"/>
          </a:p>
        </p:txBody>
      </p:sp>
      <p:sp>
        <p:nvSpPr>
          <p:cNvPr id="13" name="Shape 11"/>
          <p:cNvSpPr/>
          <p:nvPr/>
        </p:nvSpPr>
        <p:spPr>
          <a:xfrm>
            <a:off x="6146800" y="1879600"/>
            <a:ext cx="406400" cy="406400"/>
          </a:xfrm>
          <a:custGeom>
            <a:avLst/>
            <a:gdLst/>
            <a:ahLst/>
            <a:cxnLst/>
            <a:rect l="l" t="t" r="r" b="b"/>
            <a:pathLst>
              <a:path w="406400" h="406400">
                <a:moveTo>
                  <a:pt x="291465" y="327422"/>
                </a:moveTo>
                <a:lnTo>
                  <a:pt x="78978" y="114935"/>
                </a:lnTo>
                <a:cubicBezTo>
                  <a:pt x="61198" y="139859"/>
                  <a:pt x="50800" y="170339"/>
                  <a:pt x="50800" y="203200"/>
                </a:cubicBezTo>
                <a:cubicBezTo>
                  <a:pt x="50800" y="287338"/>
                  <a:pt x="119063" y="355600"/>
                  <a:pt x="203200" y="355600"/>
                </a:cubicBezTo>
                <a:cubicBezTo>
                  <a:pt x="236141" y="355600"/>
                  <a:pt x="266621" y="345202"/>
                  <a:pt x="291465" y="327422"/>
                </a:cubicBezTo>
                <a:close/>
                <a:moveTo>
                  <a:pt x="327422" y="291465"/>
                </a:moveTo>
                <a:cubicBezTo>
                  <a:pt x="345202" y="266541"/>
                  <a:pt x="355600" y="236061"/>
                  <a:pt x="355600" y="203200"/>
                </a:cubicBezTo>
                <a:cubicBezTo>
                  <a:pt x="355600" y="119063"/>
                  <a:pt x="287338" y="50800"/>
                  <a:pt x="203200" y="50800"/>
                </a:cubicBezTo>
                <a:cubicBezTo>
                  <a:pt x="170259" y="50800"/>
                  <a:pt x="139779" y="61198"/>
                  <a:pt x="114935" y="78978"/>
                </a:cubicBezTo>
                <a:lnTo>
                  <a:pt x="327422" y="291465"/>
                </a:lnTo>
                <a:close/>
                <a:moveTo>
                  <a:pt x="0" y="203200"/>
                </a:moveTo>
                <a:cubicBezTo>
                  <a:pt x="0" y="91051"/>
                  <a:pt x="91051" y="0"/>
                  <a:pt x="203200" y="0"/>
                </a:cubicBezTo>
                <a:cubicBezTo>
                  <a:pt x="315349" y="0"/>
                  <a:pt x="406400" y="91051"/>
                  <a:pt x="406400" y="203200"/>
                </a:cubicBezTo>
                <a:cubicBezTo>
                  <a:pt x="406400" y="315349"/>
                  <a:pt x="315349" y="406400"/>
                  <a:pt x="203200" y="406400"/>
                </a:cubicBezTo>
                <a:cubicBezTo>
                  <a:pt x="91051" y="406400"/>
                  <a:pt x="0" y="315349"/>
                  <a:pt x="0" y="203200"/>
                </a:cubicBezTo>
                <a:close/>
              </a:path>
            </a:pathLst>
          </a:custGeom>
          <a:solidFill>
            <a:srgbClr val="B8860B"/>
          </a:solidFill>
          <a:ln/>
        </p:spPr>
        <p:txBody>
          <a:bodyPr/>
          <a:lstStyle/>
          <a:p>
            <a:endParaRPr lang="es-CO"/>
          </a:p>
        </p:txBody>
      </p:sp>
      <p:sp>
        <p:nvSpPr>
          <p:cNvPr id="14" name="Text 12"/>
          <p:cNvSpPr/>
          <p:nvPr/>
        </p:nvSpPr>
        <p:spPr>
          <a:xfrm>
            <a:off x="6146800" y="2489200"/>
            <a:ext cx="3962400" cy="279400"/>
          </a:xfrm>
          <a:prstGeom prst="rect">
            <a:avLst/>
          </a:prstGeom>
          <a:noFill/>
          <a:ln/>
        </p:spPr>
        <p:txBody>
          <a:bodyPr wrap="none" lIns="0" tIns="0" rIns="0" bIns="0" rtlCol="0" anchor="ctr"/>
          <a:lstStyle/>
          <a:p>
            <a:pPr>
              <a:lnSpc>
                <a:spcPct val="140000"/>
              </a:lnSpc>
            </a:pPr>
            <a:r>
              <a:rPr lang="en-US" sz="1400" kern="0" spc="100" dirty="0">
                <a:solidFill>
                  <a:srgbClr val="9CA3AF"/>
                </a:solidFill>
                <a:latin typeface="Liter" pitchFamily="34" charset="0"/>
                <a:ea typeface="Liter" pitchFamily="34" charset="-122"/>
                <a:cs typeface="Liter" pitchFamily="34" charset="-120"/>
              </a:rPr>
              <a:t>ELIMINACION DE SUBJETIVIDAD</a:t>
            </a:r>
            <a:endParaRPr lang="en-US" sz="1400" dirty="0"/>
          </a:p>
        </p:txBody>
      </p:sp>
      <p:sp>
        <p:nvSpPr>
          <p:cNvPr id="15" name="Text 13"/>
          <p:cNvSpPr/>
          <p:nvPr/>
        </p:nvSpPr>
        <p:spPr>
          <a:xfrm>
            <a:off x="6146800" y="2895600"/>
            <a:ext cx="3962400" cy="698500"/>
          </a:xfrm>
          <a:prstGeom prst="rect">
            <a:avLst/>
          </a:prstGeom>
          <a:noFill/>
          <a:ln/>
        </p:spPr>
        <p:txBody>
          <a:bodyPr wrap="none" lIns="0" tIns="0" rIns="0" bIns="0" rtlCol="0" anchor="ctr"/>
          <a:lstStyle/>
          <a:p>
            <a:pPr>
              <a:lnSpc>
                <a:spcPct val="110000"/>
              </a:lnSpc>
            </a:pPr>
            <a:r>
              <a:rPr lang="en-US" sz="4800" b="1" dirty="0">
                <a:solidFill>
                  <a:srgbClr val="B8860B"/>
                </a:solidFill>
                <a:latin typeface="Liter" pitchFamily="34" charset="0"/>
                <a:ea typeface="Liter" pitchFamily="34" charset="-122"/>
                <a:cs typeface="Liter" pitchFamily="34" charset="-120"/>
              </a:rPr>
              <a:t>100%</a:t>
            </a:r>
            <a:endParaRPr lang="en-US" sz="4800" dirty="0"/>
          </a:p>
        </p:txBody>
      </p:sp>
      <p:sp>
        <p:nvSpPr>
          <p:cNvPr id="16" name="Text 14"/>
          <p:cNvSpPr/>
          <p:nvPr/>
        </p:nvSpPr>
        <p:spPr>
          <a:xfrm>
            <a:off x="6146800" y="3683000"/>
            <a:ext cx="3962400" cy="279400"/>
          </a:xfrm>
          <a:prstGeom prst="rect">
            <a:avLst/>
          </a:prstGeom>
          <a:noFill/>
          <a:ln/>
        </p:spPr>
        <p:txBody>
          <a:bodyPr wrap="none" lIns="0" tIns="0" rIns="0" bIns="0" rtlCol="0" anchor="ctr"/>
          <a:lstStyle/>
          <a:p>
            <a:pPr>
              <a:lnSpc>
                <a:spcPct val="150000"/>
              </a:lnSpc>
            </a:pPr>
            <a:r>
              <a:rPr lang="en-US" sz="1600" dirty="0">
                <a:solidFill>
                  <a:srgbClr val="B8860B"/>
                </a:solidFill>
                <a:latin typeface="Liter" pitchFamily="34" charset="0"/>
                <a:ea typeface="Liter" pitchFamily="34" charset="-122"/>
                <a:cs typeface="Liter" pitchFamily="34" charset="-120"/>
              </a:rPr>
              <a:t>OBJETIVIDAD</a:t>
            </a:r>
            <a:endParaRPr lang="en-US" sz="1600" dirty="0"/>
          </a:p>
        </p:txBody>
      </p:sp>
      <p:sp>
        <p:nvSpPr>
          <p:cNvPr id="17" name="Text 15"/>
          <p:cNvSpPr/>
          <p:nvPr/>
        </p:nvSpPr>
        <p:spPr>
          <a:xfrm>
            <a:off x="6146800" y="4114800"/>
            <a:ext cx="3962400" cy="1206500"/>
          </a:xfrm>
          <a:prstGeom prst="rect">
            <a:avLst/>
          </a:prstGeom>
          <a:noFill/>
          <a:ln/>
        </p:spPr>
        <p:txBody>
          <a:bodyPr wrap="square" lIns="0" tIns="0" rIns="0" bIns="0" rtlCol="0" anchor="t"/>
          <a:lstStyle/>
          <a:p>
            <a:pPr>
              <a:lnSpc>
                <a:spcPct val="150000"/>
              </a:lnSpc>
            </a:pPr>
            <a:r>
              <a:rPr lang="en-US" sz="1600" dirty="0">
                <a:solidFill>
                  <a:srgbClr val="9CA3AF"/>
                </a:solidFill>
                <a:latin typeface="Liter" pitchFamily="34" charset="0"/>
                <a:ea typeface="Liter" pitchFamily="34" charset="-122"/>
                <a:cs typeface="Liter" pitchFamily="34" charset="-120"/>
              </a:rPr>
              <a:t>Reemplazo del juicio interobservador por centroides cromáticos objetivos del espacio HSV.</a:t>
            </a:r>
            <a:endParaRPr lang="en-US" sz="1600" dirty="0"/>
          </a:p>
        </p:txBody>
      </p:sp>
      <p:sp>
        <p:nvSpPr>
          <p:cNvPr id="18" name="Shape 16"/>
          <p:cNvSpPr/>
          <p:nvPr/>
        </p:nvSpPr>
        <p:spPr>
          <a:xfrm>
            <a:off x="10922000" y="1524000"/>
            <a:ext cx="4572000" cy="3937000"/>
          </a:xfrm>
          <a:prstGeom prst="rect">
            <a:avLst/>
          </a:prstGeom>
          <a:solidFill>
            <a:srgbClr val="14141B"/>
          </a:solidFill>
          <a:ln w="12700">
            <a:solidFill>
              <a:srgbClr val="6A5ACD"/>
            </a:solidFill>
            <a:prstDash val="solid"/>
          </a:ln>
        </p:spPr>
        <p:txBody>
          <a:bodyPr/>
          <a:lstStyle/>
          <a:p>
            <a:endParaRPr lang="es-CO"/>
          </a:p>
        </p:txBody>
      </p:sp>
      <p:sp>
        <p:nvSpPr>
          <p:cNvPr id="19" name="Shape 17"/>
          <p:cNvSpPr/>
          <p:nvPr/>
        </p:nvSpPr>
        <p:spPr>
          <a:xfrm>
            <a:off x="10922000" y="1524000"/>
            <a:ext cx="4572000" cy="50800"/>
          </a:xfrm>
          <a:prstGeom prst="rect">
            <a:avLst/>
          </a:prstGeom>
          <a:solidFill>
            <a:srgbClr val="6A5ACD"/>
          </a:solidFill>
          <a:ln/>
        </p:spPr>
        <p:txBody>
          <a:bodyPr/>
          <a:lstStyle/>
          <a:p>
            <a:endParaRPr lang="es-CO"/>
          </a:p>
        </p:txBody>
      </p:sp>
      <p:sp>
        <p:nvSpPr>
          <p:cNvPr id="20" name="Shape 18"/>
          <p:cNvSpPr/>
          <p:nvPr/>
        </p:nvSpPr>
        <p:spPr>
          <a:xfrm>
            <a:off x="11226800" y="1879600"/>
            <a:ext cx="406400" cy="406400"/>
          </a:xfrm>
          <a:custGeom>
            <a:avLst/>
            <a:gdLst/>
            <a:ahLst/>
            <a:cxnLst/>
            <a:rect l="l" t="t" r="r" b="b"/>
            <a:pathLst>
              <a:path w="406400" h="406400">
                <a:moveTo>
                  <a:pt x="50800" y="50800"/>
                </a:moveTo>
                <a:cubicBezTo>
                  <a:pt x="50800" y="36751"/>
                  <a:pt x="39449" y="25400"/>
                  <a:pt x="25400" y="25400"/>
                </a:cubicBezTo>
                <a:cubicBezTo>
                  <a:pt x="11351" y="25400"/>
                  <a:pt x="0" y="36751"/>
                  <a:pt x="0" y="50800"/>
                </a:cubicBezTo>
                <a:lnTo>
                  <a:pt x="0" y="317500"/>
                </a:lnTo>
                <a:cubicBezTo>
                  <a:pt x="0" y="352584"/>
                  <a:pt x="28416" y="381000"/>
                  <a:pt x="63500" y="381000"/>
                </a:cubicBezTo>
                <a:lnTo>
                  <a:pt x="381000" y="381000"/>
                </a:lnTo>
                <a:cubicBezTo>
                  <a:pt x="395049" y="381000"/>
                  <a:pt x="406400" y="369649"/>
                  <a:pt x="406400" y="355600"/>
                </a:cubicBezTo>
                <a:cubicBezTo>
                  <a:pt x="406400" y="341551"/>
                  <a:pt x="395049" y="330200"/>
                  <a:pt x="381000" y="330200"/>
                </a:cubicBezTo>
                <a:lnTo>
                  <a:pt x="63500" y="330200"/>
                </a:lnTo>
                <a:cubicBezTo>
                  <a:pt x="56515" y="330200"/>
                  <a:pt x="50800" y="324485"/>
                  <a:pt x="50800" y="317500"/>
                </a:cubicBezTo>
                <a:lnTo>
                  <a:pt x="50800" y="50800"/>
                </a:lnTo>
                <a:close/>
                <a:moveTo>
                  <a:pt x="373539" y="119539"/>
                </a:moveTo>
                <a:cubicBezTo>
                  <a:pt x="383461" y="109617"/>
                  <a:pt x="383461" y="93504"/>
                  <a:pt x="373539" y="83582"/>
                </a:cubicBezTo>
                <a:cubicBezTo>
                  <a:pt x="363617" y="73660"/>
                  <a:pt x="347504" y="73660"/>
                  <a:pt x="337582" y="83582"/>
                </a:cubicBezTo>
                <a:lnTo>
                  <a:pt x="254000" y="167243"/>
                </a:lnTo>
                <a:lnTo>
                  <a:pt x="208439" y="121761"/>
                </a:lnTo>
                <a:cubicBezTo>
                  <a:pt x="198517" y="111839"/>
                  <a:pt x="182404" y="111839"/>
                  <a:pt x="172482" y="121761"/>
                </a:cubicBezTo>
                <a:lnTo>
                  <a:pt x="96282" y="197961"/>
                </a:lnTo>
                <a:cubicBezTo>
                  <a:pt x="86360" y="207883"/>
                  <a:pt x="86360" y="223996"/>
                  <a:pt x="96282" y="233918"/>
                </a:cubicBezTo>
                <a:cubicBezTo>
                  <a:pt x="106204" y="243840"/>
                  <a:pt x="122317" y="243840"/>
                  <a:pt x="132239" y="233918"/>
                </a:cubicBezTo>
                <a:lnTo>
                  <a:pt x="190500" y="175657"/>
                </a:lnTo>
                <a:lnTo>
                  <a:pt x="236061" y="221218"/>
                </a:lnTo>
                <a:cubicBezTo>
                  <a:pt x="245983" y="231140"/>
                  <a:pt x="262096" y="231140"/>
                  <a:pt x="272018" y="221218"/>
                </a:cubicBezTo>
                <a:lnTo>
                  <a:pt x="373618" y="119618"/>
                </a:lnTo>
                <a:close/>
              </a:path>
            </a:pathLst>
          </a:custGeom>
          <a:solidFill>
            <a:srgbClr val="6A5ACD"/>
          </a:solidFill>
          <a:ln/>
        </p:spPr>
        <p:txBody>
          <a:bodyPr/>
          <a:lstStyle/>
          <a:p>
            <a:endParaRPr lang="es-CO"/>
          </a:p>
        </p:txBody>
      </p:sp>
      <p:sp>
        <p:nvSpPr>
          <p:cNvPr id="21" name="Text 19"/>
          <p:cNvSpPr/>
          <p:nvPr/>
        </p:nvSpPr>
        <p:spPr>
          <a:xfrm>
            <a:off x="11226800" y="2489200"/>
            <a:ext cx="3962400" cy="279400"/>
          </a:xfrm>
          <a:prstGeom prst="rect">
            <a:avLst/>
          </a:prstGeom>
          <a:noFill/>
          <a:ln/>
        </p:spPr>
        <p:txBody>
          <a:bodyPr wrap="none" lIns="0" tIns="0" rIns="0" bIns="0" rtlCol="0" anchor="ctr"/>
          <a:lstStyle/>
          <a:p>
            <a:pPr>
              <a:lnSpc>
                <a:spcPct val="140000"/>
              </a:lnSpc>
            </a:pPr>
            <a:r>
              <a:rPr lang="en-US" sz="1400" kern="0" spc="100" dirty="0">
                <a:solidFill>
                  <a:srgbClr val="9CA3AF"/>
                </a:solidFill>
                <a:latin typeface="Liter" pitchFamily="34" charset="0"/>
                <a:ea typeface="Liter" pitchFamily="34" charset="-122"/>
                <a:cs typeface="Liter" pitchFamily="34" charset="-120"/>
              </a:rPr>
              <a:t>VALOR CLINICO</a:t>
            </a:r>
            <a:endParaRPr lang="en-US" sz="1400" dirty="0"/>
          </a:p>
        </p:txBody>
      </p:sp>
      <p:sp>
        <p:nvSpPr>
          <p:cNvPr id="22" name="Text 20"/>
          <p:cNvSpPr/>
          <p:nvPr/>
        </p:nvSpPr>
        <p:spPr>
          <a:xfrm>
            <a:off x="11226800" y="2895600"/>
            <a:ext cx="3962400" cy="698500"/>
          </a:xfrm>
          <a:prstGeom prst="rect">
            <a:avLst/>
          </a:prstGeom>
          <a:noFill/>
          <a:ln/>
        </p:spPr>
        <p:txBody>
          <a:bodyPr wrap="none" lIns="0" tIns="0" rIns="0" bIns="0" rtlCol="0" anchor="ctr"/>
          <a:lstStyle/>
          <a:p>
            <a:pPr>
              <a:lnSpc>
                <a:spcPct val="110000"/>
              </a:lnSpc>
            </a:pPr>
            <a:r>
              <a:rPr lang="en-US" sz="4800" b="1" dirty="0">
                <a:solidFill>
                  <a:srgbClr val="6A5ACD"/>
                </a:solidFill>
                <a:latin typeface="Liter" pitchFamily="34" charset="0"/>
                <a:ea typeface="Liter" pitchFamily="34" charset="-122"/>
                <a:cs typeface="Liter" pitchFamily="34" charset="-120"/>
              </a:rPr>
              <a:t>H-SCORE</a:t>
            </a:r>
            <a:endParaRPr lang="en-US" sz="4800" dirty="0"/>
          </a:p>
        </p:txBody>
      </p:sp>
      <p:sp>
        <p:nvSpPr>
          <p:cNvPr id="23" name="Text 21"/>
          <p:cNvSpPr/>
          <p:nvPr/>
        </p:nvSpPr>
        <p:spPr>
          <a:xfrm>
            <a:off x="11226800" y="3683000"/>
            <a:ext cx="3962400" cy="279400"/>
          </a:xfrm>
          <a:prstGeom prst="rect">
            <a:avLst/>
          </a:prstGeom>
          <a:noFill/>
          <a:ln/>
        </p:spPr>
        <p:txBody>
          <a:bodyPr wrap="none" lIns="0" tIns="0" rIns="0" bIns="0" rtlCol="0" anchor="ctr"/>
          <a:lstStyle/>
          <a:p>
            <a:pPr>
              <a:lnSpc>
                <a:spcPct val="150000"/>
              </a:lnSpc>
            </a:pPr>
            <a:r>
              <a:rPr lang="en-US" sz="1600" dirty="0">
                <a:solidFill>
                  <a:srgbClr val="6A5ACD"/>
                </a:solidFill>
                <a:latin typeface="Liter" pitchFamily="34" charset="0"/>
                <a:ea typeface="Liter" pitchFamily="34" charset="-122"/>
                <a:cs typeface="Liter" pitchFamily="34" charset="-120"/>
              </a:rPr>
              <a:t>CALCULO AUTOMATIZADO</a:t>
            </a:r>
            <a:endParaRPr lang="en-US" sz="1600" dirty="0"/>
          </a:p>
        </p:txBody>
      </p:sp>
      <p:sp>
        <p:nvSpPr>
          <p:cNvPr id="24" name="Text 22"/>
          <p:cNvSpPr/>
          <p:nvPr/>
        </p:nvSpPr>
        <p:spPr>
          <a:xfrm>
            <a:off x="11226800" y="4114800"/>
            <a:ext cx="3962400" cy="1206500"/>
          </a:xfrm>
          <a:prstGeom prst="rect">
            <a:avLst/>
          </a:prstGeom>
          <a:noFill/>
          <a:ln/>
        </p:spPr>
        <p:txBody>
          <a:bodyPr wrap="square" lIns="0" tIns="0" rIns="0" bIns="0" rtlCol="0" anchor="t"/>
          <a:lstStyle/>
          <a:p>
            <a:pPr>
              <a:lnSpc>
                <a:spcPct val="150000"/>
              </a:lnSpc>
            </a:pPr>
            <a:r>
              <a:rPr lang="en-US" sz="1600" dirty="0">
                <a:solidFill>
                  <a:srgbClr val="9CA3AF"/>
                </a:solidFill>
                <a:latin typeface="Liter" pitchFamily="34" charset="0"/>
                <a:ea typeface="Liter" pitchFamily="34" charset="-122"/>
                <a:cs typeface="Liter" pitchFamily="34" charset="-120"/>
              </a:rPr>
              <a:t>Cálculo automatizado del H-score mediante recuento pixel-level de positividad TP53.</a:t>
            </a:r>
            <a:endParaRPr lang="en-US" sz="1600" dirty="0"/>
          </a:p>
        </p:txBody>
      </p:sp>
      <p:sp>
        <p:nvSpPr>
          <p:cNvPr id="25" name="Text 23"/>
          <p:cNvSpPr/>
          <p:nvPr/>
        </p:nvSpPr>
        <p:spPr>
          <a:xfrm>
            <a:off x="762000" y="5588000"/>
            <a:ext cx="14732000" cy="3048000"/>
          </a:xfrm>
          <a:prstGeom prst="rect">
            <a:avLst/>
          </a:prstGeom>
          <a:noFill/>
          <a:ln/>
        </p:spPr>
        <p:txBody>
          <a:bodyPr wrap="square" lIns="0" tIns="0" rIns="0" bIns="0" rtlCol="0" anchor="t"/>
          <a:lstStyle/>
          <a:p>
            <a:pPr>
              <a:lnSpc>
                <a:spcPct val="160000"/>
              </a:lnSpc>
            </a:pPr>
            <a:r>
              <a:rPr lang="en-US" sz="1800" b="1" dirty="0">
                <a:solidFill>
                  <a:srgbClr val="008080"/>
                </a:solidFill>
                <a:latin typeface="Liter" pitchFamily="34" charset="0"/>
                <a:ea typeface="Liter" pitchFamily="34" charset="-122"/>
                <a:cs typeface="Liter" pitchFamily="34" charset="-120"/>
              </a:rPr>
              <a:t>Insight Estratégico:</a:t>
            </a:r>
            <a:r>
              <a:rPr lang="en-US" sz="1800" dirty="0">
                <a:solidFill>
                  <a:srgbClr val="E8E8E8"/>
                </a:solidFill>
                <a:latin typeface="Liter" pitchFamily="34" charset="0"/>
                <a:ea typeface="Liter" pitchFamily="34" charset="-122"/>
                <a:cs typeface="Liter" pitchFamily="34" charset="-120"/>
              </a:rPr>
              <a:t> El paradigma no supervisado transforma la patología digital de un arte subjetivo en una ciencia cuantitativa. Al operar directamente sobre el espacio de color HSV de las micrografías IHC, el pipeline elimina la necesidad de anotación manual pixel-a-píxel — proceso que consume ~4 horas por lámina y sufre variabilidad interobservador del 15-30% en la cuantificación de biomarcadores.</a:t>
            </a:r>
            <a:endParaRPr lang="en-US" sz="1800" dirty="0"/>
          </a:p>
          <a:p>
            <a:pPr>
              <a:lnSpc>
                <a:spcPct val="160000"/>
              </a:lnSpc>
              <a:spcBef>
                <a:spcPts val="1200"/>
              </a:spcBef>
            </a:pPr>
            <a:r>
              <a:rPr lang="en-US" sz="1800" dirty="0">
                <a:solidFill>
                  <a:srgbClr val="E8E8E8"/>
                </a:solidFill>
                <a:latin typeface="Liter" pitchFamily="34" charset="0"/>
                <a:ea typeface="Liter" pitchFamily="34" charset="-122"/>
                <a:cs typeface="Liter" pitchFamily="34" charset="-120"/>
              </a:rPr>
              <a:t>Los </a:t>
            </a:r>
            <a:r>
              <a:rPr lang="en-US" sz="1800" b="1" dirty="0">
                <a:solidFill>
                  <a:srgbClr val="B8860B"/>
                </a:solidFill>
                <a:latin typeface="Liter" pitchFamily="34" charset="0"/>
                <a:ea typeface="Liter" pitchFamily="34" charset="-122"/>
                <a:cs typeface="Liter" pitchFamily="34" charset="-120"/>
              </a:rPr>
              <a:t>centroides cromáticos</a:t>
            </a:r>
            <a:r>
              <a:rPr lang="en-US" sz="1800" dirty="0">
                <a:solidFill>
                  <a:srgbClr val="E8E8E8"/>
                </a:solidFill>
                <a:latin typeface="Liter" pitchFamily="34" charset="0"/>
                <a:ea typeface="Liter" pitchFamily="34" charset="-122"/>
                <a:cs typeface="Liter" pitchFamily="34" charset="-120"/>
              </a:rPr>
              <a:t> actúan como surrogates mutacionales: cada cluster codifica una estructura biológica distinta (DAB+ = TP53 mutado, Hematoxilina = estroma sano, Fondo = lumen), permitiendo que un algoritmo matemático infera estados patológicos sin conocimiento médico explícito.</a:t>
            </a:r>
            <a:endParaRPr lang="en-US" sz="1800" dirty="0"/>
          </a:p>
        </p:txBody>
      </p:sp>
      <p:sp>
        <p:nvSpPr>
          <p:cNvPr id="26" name="Shape 24"/>
          <p:cNvSpPr/>
          <p:nvPr/>
        </p:nvSpPr>
        <p:spPr>
          <a:xfrm>
            <a:off x="762000" y="8763000"/>
            <a:ext cx="14732000" cy="12700"/>
          </a:xfrm>
          <a:prstGeom prst="rect">
            <a:avLst/>
          </a:prstGeom>
          <a:solidFill>
            <a:srgbClr val="2A2A35"/>
          </a:solidFill>
          <a:ln/>
        </p:spPr>
        <p:txBody>
          <a:bodyPr/>
          <a:lstStyle/>
          <a:p>
            <a:endParaRPr lang="es-CO"/>
          </a:p>
        </p:txBody>
      </p:sp>
      <p:sp>
        <p:nvSpPr>
          <p:cNvPr id="27" name="Text 25"/>
          <p:cNvSpPr/>
          <p:nvPr/>
        </p:nvSpPr>
        <p:spPr>
          <a:xfrm>
            <a:off x="762000" y="8839200"/>
            <a:ext cx="5080000" cy="254000"/>
          </a:xfrm>
          <a:prstGeom prst="rect">
            <a:avLst/>
          </a:prstGeom>
          <a:noFill/>
          <a:ln/>
        </p:spPr>
        <p:txBody>
          <a:bodyPr wrap="none" lIns="0" tIns="0" rIns="0" bIns="0" rtlCol="0" anchor="ctr"/>
          <a:lstStyle/>
          <a:p>
            <a:pPr>
              <a:lnSpc>
                <a:spcPct val="140000"/>
              </a:lnSpc>
            </a:pPr>
            <a:r>
              <a:rPr lang="en-US" sz="1400" dirty="0">
                <a:solidFill>
                  <a:srgbClr val="9CA3AF"/>
                </a:solidFill>
                <a:latin typeface="Liter" pitchFamily="34" charset="0"/>
                <a:ea typeface="Liter" pitchFamily="34" charset="-122"/>
                <a:cs typeface="Liter" pitchFamily="34" charset="-120"/>
              </a:rPr>
              <a:t>Pipeline: OpenCV + scikit-learn | Silhouette Score ≥ 0.57</a:t>
            </a:r>
            <a:endParaRPr lang="en-US" sz="1400" dirty="0"/>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A0F"/>
        </a:solidFill>
        <a:effectLst/>
      </p:bgPr>
    </p:bg>
    <p:spTree>
      <p:nvGrpSpPr>
        <p:cNvPr id="1" name=""/>
        <p:cNvGrpSpPr/>
        <p:nvPr/>
      </p:nvGrpSpPr>
      <p:grpSpPr>
        <a:xfrm>
          <a:off x="0" y="0"/>
          <a:ext cx="0" cy="0"/>
          <a:chOff x="0" y="0"/>
          <a:chExt cx="0" cy="0"/>
        </a:xfrm>
      </p:grpSpPr>
      <p:sp>
        <p:nvSpPr>
          <p:cNvPr id="2" name="Text 0"/>
          <p:cNvSpPr/>
          <p:nvPr/>
        </p:nvSpPr>
        <p:spPr>
          <a:xfrm>
            <a:off x="762000" y="508000"/>
            <a:ext cx="14732000" cy="1016000"/>
          </a:xfrm>
          <a:prstGeom prst="rect">
            <a:avLst/>
          </a:prstGeom>
          <a:noFill/>
          <a:ln/>
        </p:spPr>
        <p:txBody>
          <a:bodyPr wrap="square" lIns="0" tIns="0" rIns="0" bIns="0" rtlCol="0" anchor="t"/>
          <a:lstStyle/>
          <a:p>
            <a:pPr>
              <a:lnSpc>
                <a:spcPct val="130000"/>
              </a:lnSpc>
            </a:pPr>
            <a:r>
              <a:rPr lang="en-US" sz="3200" kern="0" spc="50" dirty="0">
                <a:solidFill>
                  <a:srgbClr val="008080"/>
                </a:solidFill>
                <a:latin typeface="QuattrocentoSans" pitchFamily="34" charset="0"/>
                <a:ea typeface="QuattrocentoSans" pitchFamily="34" charset="-122"/>
                <a:cs typeface="QuattrocentoSans" pitchFamily="34" charset="-120"/>
              </a:rPr>
              <a:t>CONTEXTO BIOLÓGICO</a:t>
            </a:r>
            <a:r>
              <a:rPr lang="en-US" sz="3200" kern="0" spc="50" dirty="0">
                <a:solidFill>
                  <a:srgbClr val="FFFFFF"/>
                </a:solidFill>
                <a:latin typeface="QuattrocentoSans" pitchFamily="34" charset="0"/>
                <a:ea typeface="QuattrocentoSans" pitchFamily="34" charset="-122"/>
                <a:cs typeface="QuattrocentoSans" pitchFamily="34" charset="-120"/>
              </a:rPr>
              <a:t> — El Cromógeno DAB como Revelador Cuantitativo</a:t>
            </a:r>
            <a:endParaRPr lang="en-US" sz="3200" dirty="0"/>
          </a:p>
        </p:txBody>
      </p:sp>
      <p:sp>
        <p:nvSpPr>
          <p:cNvPr id="3" name="Shape 1"/>
          <p:cNvSpPr/>
          <p:nvPr/>
        </p:nvSpPr>
        <p:spPr>
          <a:xfrm>
            <a:off x="762000" y="1587500"/>
            <a:ext cx="14732000" cy="12700"/>
          </a:xfrm>
          <a:prstGeom prst="rect">
            <a:avLst/>
          </a:prstGeom>
          <a:solidFill>
            <a:srgbClr val="2A2A35"/>
          </a:solidFill>
          <a:ln/>
        </p:spPr>
        <p:txBody>
          <a:bodyPr/>
          <a:lstStyle/>
          <a:p>
            <a:endParaRPr lang="es-CO"/>
          </a:p>
        </p:txBody>
      </p:sp>
      <p:sp>
        <p:nvSpPr>
          <p:cNvPr id="4" name="Text 2"/>
          <p:cNvSpPr/>
          <p:nvPr/>
        </p:nvSpPr>
        <p:spPr>
          <a:xfrm>
            <a:off x="1270000" y="1651000"/>
            <a:ext cx="762000" cy="762000"/>
          </a:xfrm>
          <a:prstGeom prst="rect">
            <a:avLst/>
          </a:prstGeom>
          <a:noFill/>
          <a:ln/>
        </p:spPr>
        <p:txBody>
          <a:bodyPr wrap="none" lIns="0" tIns="0" rIns="0" bIns="0" rtlCol="0" anchor="t"/>
          <a:lstStyle/>
          <a:p>
            <a:pPr>
              <a:lnSpc>
                <a:spcPct val="100000"/>
              </a:lnSpc>
            </a:pPr>
            <a:r>
              <a:rPr lang="en-US" sz="4800" dirty="0">
                <a:solidFill>
                  <a:srgbClr val="B8860B"/>
                </a:solidFill>
                <a:latin typeface="Quattrocento Sans" pitchFamily="34" charset="0"/>
                <a:ea typeface="Quattrocento Sans" pitchFamily="34" charset="-122"/>
                <a:cs typeface="Quattrocento Sans" pitchFamily="34" charset="-120"/>
              </a:rPr>
              <a:t>"</a:t>
            </a:r>
            <a:endParaRPr lang="en-US" sz="1600" dirty="0"/>
          </a:p>
        </p:txBody>
      </p:sp>
      <p:sp>
        <p:nvSpPr>
          <p:cNvPr id="5" name="Text 3"/>
          <p:cNvSpPr/>
          <p:nvPr/>
        </p:nvSpPr>
        <p:spPr>
          <a:xfrm>
            <a:off x="2032000" y="1778000"/>
            <a:ext cx="12192000" cy="2286000"/>
          </a:xfrm>
          <a:prstGeom prst="rect">
            <a:avLst/>
          </a:prstGeom>
          <a:noFill/>
          <a:ln/>
        </p:spPr>
        <p:txBody>
          <a:bodyPr wrap="square" lIns="0" tIns="0" rIns="0" bIns="0" rtlCol="0" anchor="t"/>
          <a:lstStyle/>
          <a:p>
            <a:pPr>
              <a:lnSpc>
                <a:spcPct val="150000"/>
              </a:lnSpc>
            </a:pPr>
            <a:r>
              <a:rPr lang="en-US" sz="2400" dirty="0">
                <a:solidFill>
                  <a:srgbClr val="B8860B"/>
                </a:solidFill>
                <a:latin typeface="QuattrocentoSans" pitchFamily="34" charset="0"/>
                <a:ea typeface="QuattrocentoSans" pitchFamily="34" charset="-122"/>
                <a:cs typeface="QuattrocentoSans" pitchFamily="34" charset="-120"/>
              </a:rPr>
              <a:t>El cromógeno DAB funciona como un revelador histopatológico cuantitativo que, al reaccionar con la proteína TP53 mutada, genera un precipitado marrón que señaliza la acumulación nuclear tumoral, diferenciándola del estroma sano contrateñido con hematoxilina.</a:t>
            </a:r>
            <a:endParaRPr lang="en-US" sz="2400" dirty="0"/>
          </a:p>
        </p:txBody>
      </p:sp>
      <p:sp>
        <p:nvSpPr>
          <p:cNvPr id="6" name="Text 4"/>
          <p:cNvSpPr/>
          <p:nvPr/>
        </p:nvSpPr>
        <p:spPr>
          <a:xfrm>
            <a:off x="13462000" y="4191000"/>
            <a:ext cx="762000" cy="762000"/>
          </a:xfrm>
          <a:prstGeom prst="rect">
            <a:avLst/>
          </a:prstGeom>
          <a:noFill/>
          <a:ln/>
        </p:spPr>
        <p:txBody>
          <a:bodyPr wrap="none" lIns="0" tIns="0" rIns="0" bIns="0" rtlCol="0" anchor="t"/>
          <a:lstStyle/>
          <a:p>
            <a:pPr algn="r">
              <a:lnSpc>
                <a:spcPct val="100000"/>
              </a:lnSpc>
            </a:pPr>
            <a:r>
              <a:rPr lang="en-US" sz="4800" dirty="0">
                <a:solidFill>
                  <a:srgbClr val="B8860B"/>
                </a:solidFill>
                <a:latin typeface="Quattrocento Sans" pitchFamily="34" charset="0"/>
                <a:ea typeface="Quattrocento Sans" pitchFamily="34" charset="-122"/>
                <a:cs typeface="Quattrocento Sans" pitchFamily="34" charset="-120"/>
              </a:rPr>
              <a:t>"</a:t>
            </a:r>
            <a:endParaRPr lang="en-US" sz="1600" dirty="0"/>
          </a:p>
        </p:txBody>
      </p:sp>
      <p:sp>
        <p:nvSpPr>
          <p:cNvPr id="7" name="Shape 5"/>
          <p:cNvSpPr/>
          <p:nvPr/>
        </p:nvSpPr>
        <p:spPr>
          <a:xfrm>
            <a:off x="2032000" y="4191000"/>
            <a:ext cx="2540000" cy="38100"/>
          </a:xfrm>
          <a:prstGeom prst="rect">
            <a:avLst/>
          </a:prstGeom>
          <a:solidFill>
            <a:srgbClr val="B8860B"/>
          </a:solidFill>
          <a:ln/>
        </p:spPr>
        <p:txBody>
          <a:bodyPr/>
          <a:lstStyle/>
          <a:p>
            <a:endParaRPr lang="es-CO"/>
          </a:p>
        </p:txBody>
      </p:sp>
      <p:sp>
        <p:nvSpPr>
          <p:cNvPr id="8" name="Shape 6"/>
          <p:cNvSpPr/>
          <p:nvPr/>
        </p:nvSpPr>
        <p:spPr>
          <a:xfrm>
            <a:off x="762000" y="5080000"/>
            <a:ext cx="14732000" cy="3429000"/>
          </a:xfrm>
          <a:prstGeom prst="rect">
            <a:avLst/>
          </a:prstGeom>
          <a:solidFill>
            <a:srgbClr val="14141B"/>
          </a:solidFill>
          <a:ln w="12700">
            <a:solidFill>
              <a:srgbClr val="2A2A35"/>
            </a:solidFill>
            <a:prstDash val="solid"/>
          </a:ln>
        </p:spPr>
        <p:txBody>
          <a:bodyPr/>
          <a:lstStyle/>
          <a:p>
            <a:endParaRPr lang="es-CO"/>
          </a:p>
        </p:txBody>
      </p:sp>
      <p:sp>
        <p:nvSpPr>
          <p:cNvPr id="9" name="Text 7"/>
          <p:cNvSpPr/>
          <p:nvPr/>
        </p:nvSpPr>
        <p:spPr>
          <a:xfrm>
            <a:off x="1270000" y="5283200"/>
            <a:ext cx="3810000" cy="381000"/>
          </a:xfrm>
          <a:prstGeom prst="rect">
            <a:avLst/>
          </a:prstGeom>
          <a:noFill/>
          <a:ln/>
        </p:spPr>
        <p:txBody>
          <a:bodyPr wrap="none" lIns="0" tIns="0" rIns="0" bIns="0" rtlCol="0" anchor="ctr"/>
          <a:lstStyle/>
          <a:p>
            <a:pPr>
              <a:lnSpc>
                <a:spcPct val="160000"/>
              </a:lnSpc>
            </a:pPr>
            <a:r>
              <a:rPr lang="en-US" sz="1800" b="1" dirty="0">
                <a:solidFill>
                  <a:srgbClr val="008080"/>
                </a:solidFill>
                <a:latin typeface="Liter" pitchFamily="34" charset="0"/>
                <a:ea typeface="Liter" pitchFamily="34" charset="-122"/>
                <a:cs typeface="Liter" pitchFamily="34" charset="-120"/>
              </a:rPr>
              <a:t>NOTA TÉCNICA</a:t>
            </a:r>
            <a:endParaRPr lang="en-US" sz="1800" dirty="0"/>
          </a:p>
        </p:txBody>
      </p:sp>
      <p:sp>
        <p:nvSpPr>
          <p:cNvPr id="10" name="Shape 8"/>
          <p:cNvSpPr/>
          <p:nvPr/>
        </p:nvSpPr>
        <p:spPr>
          <a:xfrm>
            <a:off x="1270000" y="5765800"/>
            <a:ext cx="13716000" cy="12700"/>
          </a:xfrm>
          <a:prstGeom prst="rect">
            <a:avLst/>
          </a:prstGeom>
          <a:solidFill>
            <a:srgbClr val="2A2A35"/>
          </a:solidFill>
          <a:ln/>
        </p:spPr>
        <p:txBody>
          <a:bodyPr/>
          <a:lstStyle/>
          <a:p>
            <a:endParaRPr lang="es-CO"/>
          </a:p>
        </p:txBody>
      </p:sp>
      <p:sp>
        <p:nvSpPr>
          <p:cNvPr id="11" name="Text 9"/>
          <p:cNvSpPr/>
          <p:nvPr/>
        </p:nvSpPr>
        <p:spPr>
          <a:xfrm>
            <a:off x="1270000" y="5918200"/>
            <a:ext cx="13716000" cy="2540000"/>
          </a:xfrm>
          <a:prstGeom prst="rect">
            <a:avLst/>
          </a:prstGeom>
          <a:noFill/>
          <a:ln/>
        </p:spPr>
        <p:txBody>
          <a:bodyPr wrap="square" lIns="0" tIns="0" rIns="0" bIns="0" rtlCol="0" anchor="t"/>
          <a:lstStyle/>
          <a:p>
            <a:pPr>
              <a:lnSpc>
                <a:spcPct val="160000"/>
              </a:lnSpc>
            </a:pPr>
            <a:r>
              <a:rPr lang="en-US" sz="1800" dirty="0">
                <a:solidFill>
                  <a:srgbClr val="E8E8E8"/>
                </a:solidFill>
                <a:latin typeface="Liter" pitchFamily="34" charset="0"/>
                <a:ea typeface="Liter" pitchFamily="34" charset="-122"/>
                <a:cs typeface="Liter" pitchFamily="34" charset="-120"/>
              </a:rPr>
              <a:t>La tinción </a:t>
            </a:r>
            <a:r>
              <a:rPr lang="en-US" sz="1800" b="1" dirty="0">
                <a:solidFill>
                  <a:srgbClr val="B8860B"/>
                </a:solidFill>
                <a:latin typeface="Liter" pitchFamily="34" charset="0"/>
                <a:ea typeface="Liter" pitchFamily="34" charset="-122"/>
                <a:cs typeface="Liter" pitchFamily="34" charset="-120"/>
              </a:rPr>
              <a:t>IHC dual</a:t>
            </a:r>
            <a:r>
              <a:rPr lang="en-US" sz="1800" dirty="0">
                <a:solidFill>
                  <a:srgbClr val="E8E8E8"/>
                </a:solidFill>
                <a:latin typeface="Liter" pitchFamily="34" charset="0"/>
                <a:ea typeface="Liter" pitchFamily="34" charset="-122"/>
                <a:cs typeface="Liter" pitchFamily="34" charset="-120"/>
              </a:rPr>
              <a:t> (DAB + hematoxilina) genera una distribución </a:t>
            </a:r>
            <a:r>
              <a:rPr lang="en-US" sz="1800" b="1" dirty="0">
                <a:solidFill>
                  <a:srgbClr val="E8E8E8"/>
                </a:solidFill>
                <a:latin typeface="Liter" pitchFamily="34" charset="0"/>
                <a:ea typeface="Liter" pitchFamily="34" charset="-122"/>
                <a:cs typeface="Liter" pitchFamily="34" charset="-120"/>
              </a:rPr>
              <a:t>trimodal</a:t>
            </a:r>
            <a:r>
              <a:rPr lang="en-US" sz="1800" dirty="0">
                <a:solidFill>
                  <a:srgbClr val="E8E8E8"/>
                </a:solidFill>
                <a:latin typeface="Liter" pitchFamily="34" charset="0"/>
                <a:ea typeface="Liter" pitchFamily="34" charset="-122"/>
                <a:cs typeface="Liter" pitchFamily="34" charset="-120"/>
              </a:rPr>
              <a:t> en el espacio de color que el algoritmo explora como </a:t>
            </a:r>
            <a:r>
              <a:rPr lang="en-US" sz="1800" b="1" dirty="0">
                <a:solidFill>
                  <a:srgbClr val="008080"/>
                </a:solidFill>
                <a:latin typeface="Liter" pitchFamily="34" charset="0"/>
                <a:ea typeface="Liter" pitchFamily="34" charset="-122"/>
                <a:cs typeface="Liter" pitchFamily="34" charset="-120"/>
              </a:rPr>
              <a:t>clusters latentes</a:t>
            </a:r>
            <a:r>
              <a:rPr lang="en-US" sz="1800" dirty="0">
                <a:solidFill>
                  <a:srgbClr val="E8E8E8"/>
                </a:solidFill>
                <a:latin typeface="Liter" pitchFamily="34" charset="0"/>
                <a:ea typeface="Liter" pitchFamily="34" charset="-122"/>
                <a:cs typeface="Liter" pitchFamily="34" charset="-120"/>
              </a:rPr>
              <a:t>:</a:t>
            </a:r>
            <a:endParaRPr lang="en-US" sz="1800" dirty="0"/>
          </a:p>
          <a:p>
            <a:pPr>
              <a:lnSpc>
                <a:spcPct val="160000"/>
              </a:lnSpc>
              <a:spcBef>
                <a:spcPts val="800"/>
              </a:spcBef>
            </a:pPr>
            <a:r>
              <a:rPr lang="en-US" sz="1800" dirty="0">
                <a:solidFill>
                  <a:srgbClr val="B8860B"/>
                </a:solidFill>
                <a:latin typeface="Liter" pitchFamily="34" charset="0"/>
                <a:ea typeface="Liter" pitchFamily="34" charset="-122"/>
                <a:cs typeface="Liter" pitchFamily="34" charset="-120"/>
              </a:rPr>
              <a:t>■</a:t>
            </a:r>
            <a:r>
              <a:rPr lang="en-US" sz="1800" dirty="0">
                <a:solidFill>
                  <a:srgbClr val="E8E8E8"/>
                </a:solidFill>
                <a:latin typeface="Liter" pitchFamily="34" charset="0"/>
                <a:ea typeface="Liter" pitchFamily="34" charset="-122"/>
                <a:cs typeface="Liter" pitchFamily="34" charset="-120"/>
              </a:rPr>
              <a:t> </a:t>
            </a:r>
            <a:r>
              <a:rPr lang="en-US" sz="1800" b="1" dirty="0">
                <a:solidFill>
                  <a:srgbClr val="E8E8E8"/>
                </a:solidFill>
                <a:latin typeface="Liter" pitchFamily="34" charset="0"/>
                <a:ea typeface="Liter" pitchFamily="34" charset="-122"/>
                <a:cs typeface="Liter" pitchFamily="34" charset="-120"/>
              </a:rPr>
              <a:t>DAB:</a:t>
            </a:r>
            <a:r>
              <a:rPr lang="en-US" sz="1800" dirty="0">
                <a:solidFill>
                  <a:srgbClr val="E8E8E8"/>
                </a:solidFill>
                <a:latin typeface="Liter" pitchFamily="34" charset="0"/>
                <a:ea typeface="Liter" pitchFamily="34" charset="-122"/>
                <a:cs typeface="Liter" pitchFamily="34" charset="-120"/>
              </a:rPr>
              <a:t> Cromógeno oxidado por HRP que precipita en marrón-anaranjado. Rango H en HSV: ~15-30°.</a:t>
            </a:r>
            <a:endParaRPr lang="en-US" sz="1800" dirty="0"/>
          </a:p>
          <a:p>
            <a:pPr>
              <a:lnSpc>
                <a:spcPct val="160000"/>
              </a:lnSpc>
              <a:spcBef>
                <a:spcPts val="800"/>
              </a:spcBef>
            </a:pPr>
            <a:r>
              <a:rPr lang="en-US" sz="1800" dirty="0">
                <a:solidFill>
                  <a:srgbClr val="6A5ACD"/>
                </a:solidFill>
                <a:latin typeface="Liter" pitchFamily="34" charset="0"/>
                <a:ea typeface="Liter" pitchFamily="34" charset="-122"/>
                <a:cs typeface="Liter" pitchFamily="34" charset="-120"/>
              </a:rPr>
              <a:t>■</a:t>
            </a:r>
            <a:r>
              <a:rPr lang="en-US" sz="1800" dirty="0">
                <a:solidFill>
                  <a:srgbClr val="E8E8E8"/>
                </a:solidFill>
                <a:latin typeface="Liter" pitchFamily="34" charset="0"/>
                <a:ea typeface="Liter" pitchFamily="34" charset="-122"/>
                <a:cs typeface="Liter" pitchFamily="34" charset="-120"/>
              </a:rPr>
              <a:t> </a:t>
            </a:r>
            <a:r>
              <a:rPr lang="en-US" sz="1800" b="1" dirty="0">
                <a:solidFill>
                  <a:srgbClr val="E8E8E8"/>
                </a:solidFill>
                <a:latin typeface="Liter" pitchFamily="34" charset="0"/>
                <a:ea typeface="Liter" pitchFamily="34" charset="-122"/>
                <a:cs typeface="Liter" pitchFamily="34" charset="-120"/>
              </a:rPr>
              <a:t>Hematoxilina:</a:t>
            </a:r>
            <a:r>
              <a:rPr lang="en-US" sz="1800" dirty="0">
                <a:solidFill>
                  <a:srgbClr val="E8E8E8"/>
                </a:solidFill>
                <a:latin typeface="Liter" pitchFamily="34" charset="0"/>
                <a:ea typeface="Liter" pitchFamily="34" charset="-122"/>
                <a:cs typeface="Liter" pitchFamily="34" charset="-120"/>
              </a:rPr>
              <a:t> Colorante básico que tiñe núcleos en azul-violáceo. Rango H en HSV: ~100-130°.</a:t>
            </a:r>
            <a:endParaRPr lang="en-US" sz="1800" dirty="0"/>
          </a:p>
          <a:p>
            <a:pPr>
              <a:lnSpc>
                <a:spcPct val="160000"/>
              </a:lnSpc>
              <a:spcBef>
                <a:spcPts val="800"/>
              </a:spcBef>
            </a:pPr>
            <a:r>
              <a:rPr lang="en-US" sz="1800" dirty="0">
                <a:solidFill>
                  <a:srgbClr val="9CA3AF"/>
                </a:solidFill>
                <a:latin typeface="Liter" pitchFamily="34" charset="0"/>
                <a:ea typeface="Liter" pitchFamily="34" charset="-122"/>
                <a:cs typeface="Liter" pitchFamily="34" charset="-120"/>
              </a:rPr>
              <a:t>■</a:t>
            </a:r>
            <a:r>
              <a:rPr lang="en-US" sz="1800" dirty="0">
                <a:solidFill>
                  <a:srgbClr val="E8E8E8"/>
                </a:solidFill>
                <a:latin typeface="Liter" pitchFamily="34" charset="0"/>
                <a:ea typeface="Liter" pitchFamily="34" charset="-122"/>
                <a:cs typeface="Liter" pitchFamily="34" charset="-120"/>
              </a:rPr>
              <a:t> </a:t>
            </a:r>
            <a:r>
              <a:rPr lang="en-US" sz="1800" b="1" dirty="0">
                <a:solidFill>
                  <a:srgbClr val="E8E8E8"/>
                </a:solidFill>
                <a:latin typeface="Liter" pitchFamily="34" charset="0"/>
                <a:ea typeface="Liter" pitchFamily="34" charset="-122"/>
                <a:cs typeface="Liter" pitchFamily="34" charset="-120"/>
              </a:rPr>
              <a:t>Fondo / Lumen:</a:t>
            </a:r>
            <a:r>
              <a:rPr lang="en-US" sz="1800" dirty="0">
                <a:solidFill>
                  <a:srgbClr val="E8E8E8"/>
                </a:solidFill>
                <a:latin typeface="Liter" pitchFamily="34" charset="0"/>
                <a:ea typeface="Liter" pitchFamily="34" charset="-122"/>
                <a:cs typeface="Liter" pitchFamily="34" charset="-120"/>
              </a:rPr>
              <a:t> Espacios sin tejido. Valores HSV: baja saturación, alta luminosidad.</a:t>
            </a:r>
            <a:endParaRPr lang="en-US" sz="1800" dirty="0"/>
          </a:p>
        </p:txBody>
      </p:sp>
      <p:sp>
        <p:nvSpPr>
          <p:cNvPr id="12" name="Shape 10"/>
          <p:cNvSpPr/>
          <p:nvPr/>
        </p:nvSpPr>
        <p:spPr>
          <a:xfrm>
            <a:off x="762000" y="8763000"/>
            <a:ext cx="14732000" cy="12700"/>
          </a:xfrm>
          <a:prstGeom prst="rect">
            <a:avLst/>
          </a:prstGeom>
          <a:solidFill>
            <a:srgbClr val="2A2A35"/>
          </a:solidFill>
          <a:ln/>
        </p:spPr>
        <p:txBody>
          <a:bodyPr/>
          <a:lstStyle/>
          <a:p>
            <a:endParaRPr lang="es-CO"/>
          </a:p>
        </p:txBody>
      </p:sp>
      <p:sp>
        <p:nvSpPr>
          <p:cNvPr id="13" name="Text 11"/>
          <p:cNvSpPr/>
          <p:nvPr/>
        </p:nvSpPr>
        <p:spPr>
          <a:xfrm>
            <a:off x="762000" y="8839200"/>
            <a:ext cx="6350000" cy="254000"/>
          </a:xfrm>
          <a:prstGeom prst="rect">
            <a:avLst/>
          </a:prstGeom>
          <a:noFill/>
          <a:ln/>
        </p:spPr>
        <p:txBody>
          <a:bodyPr wrap="none" lIns="0" tIns="0" rIns="0" bIns="0" rtlCol="0" anchor="ctr"/>
          <a:lstStyle/>
          <a:p>
            <a:pPr>
              <a:lnSpc>
                <a:spcPct val="140000"/>
              </a:lnSpc>
            </a:pPr>
            <a:r>
              <a:rPr lang="en-US" sz="1400" dirty="0">
                <a:solidFill>
                  <a:srgbClr val="9CA3AF"/>
                </a:solidFill>
                <a:latin typeface="Liter" pitchFamily="34" charset="0"/>
                <a:ea typeface="Liter" pitchFamily="34" charset="-122"/>
                <a:cs typeface="Liter" pitchFamily="34" charset="-120"/>
              </a:rPr>
              <a:t>Fuente: Human Protein Atlas — IHC colorrectal, marcador TP53</a:t>
            </a:r>
            <a:endParaRPr lang="en-US" sz="1400" dirty="0"/>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A0F"/>
        </a:solidFill>
        <a:effectLst/>
      </p:bgPr>
    </p:bg>
    <p:spTree>
      <p:nvGrpSpPr>
        <p:cNvPr id="1" name=""/>
        <p:cNvGrpSpPr/>
        <p:nvPr/>
      </p:nvGrpSpPr>
      <p:grpSpPr>
        <a:xfrm>
          <a:off x="0" y="0"/>
          <a:ext cx="0" cy="0"/>
          <a:chOff x="0" y="0"/>
          <a:chExt cx="0" cy="0"/>
        </a:xfrm>
      </p:grpSpPr>
      <p:sp>
        <p:nvSpPr>
          <p:cNvPr id="2" name="Text 0"/>
          <p:cNvSpPr/>
          <p:nvPr/>
        </p:nvSpPr>
        <p:spPr>
          <a:xfrm>
            <a:off x="762000" y="508000"/>
            <a:ext cx="14732000" cy="1016000"/>
          </a:xfrm>
          <a:prstGeom prst="rect">
            <a:avLst/>
          </a:prstGeom>
          <a:noFill/>
          <a:ln/>
        </p:spPr>
        <p:txBody>
          <a:bodyPr wrap="square" lIns="0" tIns="0" rIns="0" bIns="0" rtlCol="0" anchor="t"/>
          <a:lstStyle/>
          <a:p>
            <a:pPr>
              <a:lnSpc>
                <a:spcPct val="130000"/>
              </a:lnSpc>
            </a:pPr>
            <a:r>
              <a:rPr lang="en-US" sz="3200" kern="0" spc="50" dirty="0">
                <a:solidFill>
                  <a:srgbClr val="008080"/>
                </a:solidFill>
                <a:latin typeface="QuattrocentoSans" pitchFamily="34" charset="0"/>
                <a:ea typeface="QuattrocentoSans" pitchFamily="34" charset="-122"/>
                <a:cs typeface="QuattrocentoSans" pitchFamily="34" charset="-120"/>
              </a:rPr>
              <a:t>METODOLOGÍA</a:t>
            </a:r>
            <a:r>
              <a:rPr lang="en-US" sz="3200" kern="0" spc="50" dirty="0">
                <a:solidFill>
                  <a:srgbClr val="FFFFFF"/>
                </a:solidFill>
                <a:latin typeface="QuattrocentoSans" pitchFamily="34" charset="0"/>
                <a:ea typeface="QuattrocentoSans" pitchFamily="34" charset="-122"/>
                <a:cs typeface="QuattrocentoSans" pitchFamily="34" charset="-120"/>
              </a:rPr>
              <a:t> — Pipeline de Colab: De la Micrografía a la Segmentación</a:t>
            </a:r>
            <a:endParaRPr lang="en-US" sz="3200" dirty="0"/>
          </a:p>
        </p:txBody>
      </p:sp>
      <p:sp>
        <p:nvSpPr>
          <p:cNvPr id="3" name="Shape 1"/>
          <p:cNvSpPr/>
          <p:nvPr/>
        </p:nvSpPr>
        <p:spPr>
          <a:xfrm>
            <a:off x="762000" y="1587500"/>
            <a:ext cx="14732000" cy="12700"/>
          </a:xfrm>
          <a:prstGeom prst="rect">
            <a:avLst/>
          </a:prstGeom>
          <a:solidFill>
            <a:srgbClr val="2A2A35"/>
          </a:solidFill>
          <a:ln/>
        </p:spPr>
        <p:txBody>
          <a:bodyPr/>
          <a:lstStyle/>
          <a:p>
            <a:endParaRPr lang="es-CO"/>
          </a:p>
        </p:txBody>
      </p:sp>
      <p:sp>
        <p:nvSpPr>
          <p:cNvPr id="4" name="Shape 2"/>
          <p:cNvSpPr/>
          <p:nvPr/>
        </p:nvSpPr>
        <p:spPr>
          <a:xfrm>
            <a:off x="762000" y="1651000"/>
            <a:ext cx="3302000" cy="3556000"/>
          </a:xfrm>
          <a:prstGeom prst="rect">
            <a:avLst/>
          </a:prstGeom>
          <a:solidFill>
            <a:srgbClr val="14141B"/>
          </a:solidFill>
          <a:ln w="12700">
            <a:solidFill>
              <a:srgbClr val="008080"/>
            </a:solidFill>
            <a:prstDash val="solid"/>
          </a:ln>
        </p:spPr>
        <p:txBody>
          <a:bodyPr/>
          <a:lstStyle/>
          <a:p>
            <a:endParaRPr lang="es-CO"/>
          </a:p>
        </p:txBody>
      </p:sp>
      <p:sp>
        <p:nvSpPr>
          <p:cNvPr id="5" name="Text 3"/>
          <p:cNvSpPr/>
          <p:nvPr/>
        </p:nvSpPr>
        <p:spPr>
          <a:xfrm>
            <a:off x="1016000" y="1841500"/>
            <a:ext cx="762000" cy="508000"/>
          </a:xfrm>
          <a:prstGeom prst="rect">
            <a:avLst/>
          </a:prstGeom>
          <a:noFill/>
          <a:ln/>
        </p:spPr>
        <p:txBody>
          <a:bodyPr wrap="none" lIns="0" tIns="0" rIns="0" bIns="0" rtlCol="0" anchor="ctr"/>
          <a:lstStyle/>
          <a:p>
            <a:pPr>
              <a:lnSpc>
                <a:spcPct val="100000"/>
              </a:lnSpc>
            </a:pPr>
            <a:r>
              <a:rPr lang="en-US" sz="2800" b="1" dirty="0">
                <a:solidFill>
                  <a:srgbClr val="008080"/>
                </a:solidFill>
                <a:latin typeface="Liter" pitchFamily="34" charset="0"/>
                <a:ea typeface="Liter" pitchFamily="34" charset="-122"/>
                <a:cs typeface="Liter" pitchFamily="34" charset="-120"/>
              </a:rPr>
              <a:t>01</a:t>
            </a:r>
            <a:endParaRPr lang="en-US" sz="1600" dirty="0"/>
          </a:p>
        </p:txBody>
      </p:sp>
      <p:sp>
        <p:nvSpPr>
          <p:cNvPr id="6" name="Text 4"/>
          <p:cNvSpPr/>
          <p:nvPr/>
        </p:nvSpPr>
        <p:spPr>
          <a:xfrm>
            <a:off x="1016000" y="2413000"/>
            <a:ext cx="2794000" cy="304800"/>
          </a:xfrm>
          <a:prstGeom prst="rect">
            <a:avLst/>
          </a:prstGeom>
          <a:noFill/>
          <a:ln/>
        </p:spPr>
        <p:txBody>
          <a:bodyPr wrap="none" lIns="0" tIns="0" rIns="0" bIns="0" rtlCol="0" anchor="ctr"/>
          <a:lstStyle/>
          <a:p>
            <a:pPr>
              <a:lnSpc>
                <a:spcPct val="100000"/>
              </a:lnSpc>
            </a:pPr>
            <a:r>
              <a:rPr lang="en-US" sz="1600" b="1" dirty="0">
                <a:solidFill>
                  <a:srgbClr val="008080"/>
                </a:solidFill>
                <a:latin typeface="Quattrocento Sans" pitchFamily="34" charset="0"/>
                <a:ea typeface="Quattrocento Sans" pitchFamily="34" charset="-122"/>
                <a:cs typeface="Quattrocento Sans" pitchFamily="34" charset="-120"/>
              </a:rPr>
              <a:t>CARGA RGB</a:t>
            </a:r>
            <a:endParaRPr lang="en-US" sz="1600" dirty="0"/>
          </a:p>
        </p:txBody>
      </p:sp>
      <p:sp>
        <p:nvSpPr>
          <p:cNvPr id="7" name="Text 5"/>
          <p:cNvSpPr/>
          <p:nvPr/>
        </p:nvSpPr>
        <p:spPr>
          <a:xfrm>
            <a:off x="1016000" y="2794000"/>
            <a:ext cx="2794000" cy="2286000"/>
          </a:xfrm>
          <a:prstGeom prst="rect">
            <a:avLst/>
          </a:prstGeom>
          <a:noFill/>
          <a:ln/>
        </p:spPr>
        <p:txBody>
          <a:bodyPr wrap="square" lIns="0" tIns="0" rIns="0" bIns="0" rtlCol="0" anchor="t"/>
          <a:lstStyle/>
          <a:p>
            <a:pPr>
              <a:lnSpc>
                <a:spcPct val="150000"/>
              </a:lnSpc>
            </a:pPr>
            <a:r>
              <a:rPr lang="en-US" sz="1600" dirty="0">
                <a:solidFill>
                  <a:srgbClr val="9CA3AF"/>
                </a:solidFill>
                <a:latin typeface="Liter" pitchFamily="34" charset="0"/>
                <a:ea typeface="Liter" pitchFamily="34" charset="-122"/>
                <a:cs typeface="Liter" pitchFamily="34" charset="-120"/>
              </a:rPr>
              <a:t>Micrografía IHC de tejido colorrectal</a:t>
            </a:r>
            <a:endParaRPr lang="en-US" sz="1600" dirty="0"/>
          </a:p>
          <a:p>
            <a:pPr>
              <a:lnSpc>
                <a:spcPct val="150000"/>
              </a:lnSpc>
            </a:pPr>
            <a:r>
              <a:rPr lang="en-US" sz="1600" dirty="0">
                <a:solidFill>
                  <a:srgbClr val="008080"/>
                </a:solidFill>
                <a:latin typeface="Liter" pitchFamily="34" charset="0"/>
                <a:ea typeface="Liter" pitchFamily="34" charset="-122"/>
                <a:cs typeface="Liter" pitchFamily="34" charset="-120"/>
              </a:rPr>
              <a:t>780×787 px | 3 canales | uint8</a:t>
            </a:r>
            <a:endParaRPr lang="en-US" sz="1600" dirty="0"/>
          </a:p>
          <a:p>
            <a:pPr>
              <a:lnSpc>
                <a:spcPct val="150000"/>
              </a:lnSpc>
            </a:pPr>
            <a:r>
              <a:rPr lang="en-US" sz="1600" dirty="0">
                <a:solidFill>
                  <a:srgbClr val="9CA3AF"/>
                </a:solidFill>
                <a:latin typeface="Liter" pitchFamily="34" charset="0"/>
                <a:ea typeface="Liter" pitchFamily="34" charset="-122"/>
                <a:cs typeface="Liter" pitchFamily="34" charset="-120"/>
              </a:rPr>
              <a:t>Carga con PIL, conversión explícita a RGB</a:t>
            </a:r>
            <a:endParaRPr lang="en-US" sz="1600" dirty="0"/>
          </a:p>
        </p:txBody>
      </p:sp>
      <p:sp>
        <p:nvSpPr>
          <p:cNvPr id="8" name="Shape 6"/>
          <p:cNvSpPr/>
          <p:nvPr/>
        </p:nvSpPr>
        <p:spPr>
          <a:xfrm>
            <a:off x="4191000" y="3048000"/>
            <a:ext cx="508000" cy="0"/>
          </a:xfrm>
          <a:prstGeom prst="straightConnector1">
            <a:avLst/>
          </a:prstGeom>
          <a:noFill/>
          <a:ln w="25400">
            <a:solidFill>
              <a:srgbClr val="008080"/>
            </a:solidFill>
            <a:prstDash val="solid"/>
            <a:headEnd type="none"/>
            <a:tailEnd type="arrow"/>
          </a:ln>
        </p:spPr>
        <p:txBody>
          <a:bodyPr/>
          <a:lstStyle/>
          <a:p>
            <a:endParaRPr lang="es-CO"/>
          </a:p>
        </p:txBody>
      </p:sp>
      <p:sp>
        <p:nvSpPr>
          <p:cNvPr id="9" name="Shape 7"/>
          <p:cNvSpPr/>
          <p:nvPr/>
        </p:nvSpPr>
        <p:spPr>
          <a:xfrm>
            <a:off x="4826000" y="1651000"/>
            <a:ext cx="3302000" cy="3556000"/>
          </a:xfrm>
          <a:prstGeom prst="rect">
            <a:avLst/>
          </a:prstGeom>
          <a:solidFill>
            <a:srgbClr val="14141B"/>
          </a:solidFill>
          <a:ln w="12700">
            <a:solidFill>
              <a:srgbClr val="B8860B"/>
            </a:solidFill>
            <a:prstDash val="solid"/>
          </a:ln>
        </p:spPr>
        <p:txBody>
          <a:bodyPr/>
          <a:lstStyle/>
          <a:p>
            <a:endParaRPr lang="es-CO"/>
          </a:p>
        </p:txBody>
      </p:sp>
      <p:sp>
        <p:nvSpPr>
          <p:cNvPr id="10" name="Text 8"/>
          <p:cNvSpPr/>
          <p:nvPr/>
        </p:nvSpPr>
        <p:spPr>
          <a:xfrm>
            <a:off x="5080000" y="1841500"/>
            <a:ext cx="762000" cy="508000"/>
          </a:xfrm>
          <a:prstGeom prst="rect">
            <a:avLst/>
          </a:prstGeom>
          <a:noFill/>
          <a:ln/>
        </p:spPr>
        <p:txBody>
          <a:bodyPr wrap="none" lIns="0" tIns="0" rIns="0" bIns="0" rtlCol="0" anchor="ctr"/>
          <a:lstStyle/>
          <a:p>
            <a:pPr>
              <a:lnSpc>
                <a:spcPct val="100000"/>
              </a:lnSpc>
            </a:pPr>
            <a:r>
              <a:rPr lang="en-US" sz="2800" b="1" dirty="0">
                <a:solidFill>
                  <a:srgbClr val="B8860B"/>
                </a:solidFill>
                <a:latin typeface="Liter" pitchFamily="34" charset="0"/>
                <a:ea typeface="Liter" pitchFamily="34" charset="-122"/>
                <a:cs typeface="Liter" pitchFamily="34" charset="-120"/>
              </a:rPr>
              <a:t>02</a:t>
            </a:r>
            <a:endParaRPr lang="en-US" sz="1600" dirty="0"/>
          </a:p>
        </p:txBody>
      </p:sp>
      <p:sp>
        <p:nvSpPr>
          <p:cNvPr id="11" name="Text 9"/>
          <p:cNvSpPr/>
          <p:nvPr/>
        </p:nvSpPr>
        <p:spPr>
          <a:xfrm>
            <a:off x="5080000" y="2413000"/>
            <a:ext cx="2794000" cy="304800"/>
          </a:xfrm>
          <a:prstGeom prst="rect">
            <a:avLst/>
          </a:prstGeom>
          <a:noFill/>
          <a:ln/>
        </p:spPr>
        <p:txBody>
          <a:bodyPr wrap="none" lIns="0" tIns="0" rIns="0" bIns="0" rtlCol="0" anchor="ctr"/>
          <a:lstStyle/>
          <a:p>
            <a:pPr>
              <a:lnSpc>
                <a:spcPct val="100000"/>
              </a:lnSpc>
            </a:pPr>
            <a:r>
              <a:rPr lang="en-US" sz="1600" b="1" dirty="0">
                <a:solidFill>
                  <a:srgbClr val="B8860B"/>
                </a:solidFill>
                <a:latin typeface="Quattrocento Sans" pitchFamily="34" charset="0"/>
                <a:ea typeface="Quattrocento Sans" pitchFamily="34" charset="-122"/>
                <a:cs typeface="Quattrocento Sans" pitchFamily="34" charset="-120"/>
              </a:rPr>
              <a:t>HSV (OpenCV)</a:t>
            </a:r>
            <a:endParaRPr lang="en-US" sz="1600" dirty="0"/>
          </a:p>
        </p:txBody>
      </p:sp>
      <p:sp>
        <p:nvSpPr>
          <p:cNvPr id="12" name="Text 10"/>
          <p:cNvSpPr/>
          <p:nvPr/>
        </p:nvSpPr>
        <p:spPr>
          <a:xfrm>
            <a:off x="5080000" y="2794000"/>
            <a:ext cx="2794000" cy="2286000"/>
          </a:xfrm>
          <a:prstGeom prst="rect">
            <a:avLst/>
          </a:prstGeom>
          <a:noFill/>
          <a:ln/>
        </p:spPr>
        <p:txBody>
          <a:bodyPr wrap="square" lIns="0" tIns="0" rIns="0" bIns="0" rtlCol="0" anchor="t"/>
          <a:lstStyle/>
          <a:p>
            <a:pPr>
              <a:lnSpc>
                <a:spcPct val="150000"/>
              </a:lnSpc>
            </a:pPr>
            <a:r>
              <a:rPr lang="en-US" sz="1600" dirty="0">
                <a:solidFill>
                  <a:srgbClr val="9CA3AF"/>
                </a:solidFill>
                <a:latin typeface="Liter" pitchFamily="34" charset="0"/>
                <a:ea typeface="Liter" pitchFamily="34" charset="-122"/>
                <a:cs typeface="Liter" pitchFamily="34" charset="-120"/>
              </a:rPr>
              <a:t>Conversión RGB→HSV con cv2.cvtColor</a:t>
            </a:r>
            <a:endParaRPr lang="en-US" sz="1600" dirty="0"/>
          </a:p>
          <a:p>
            <a:pPr>
              <a:lnSpc>
                <a:spcPct val="150000"/>
              </a:lnSpc>
            </a:pPr>
            <a:r>
              <a:rPr lang="en-US" sz="1600" dirty="0">
                <a:solidFill>
                  <a:srgbClr val="B8860B"/>
                </a:solidFill>
                <a:latin typeface="Liter" pitchFamily="34" charset="0"/>
                <a:ea typeface="Liter" pitchFamily="34" charset="-122"/>
                <a:cs typeface="Liter" pitchFamily="34" charset="-120"/>
              </a:rPr>
              <a:t>H:[0,179] S:[0,255] V:[0,255]</a:t>
            </a:r>
            <a:endParaRPr lang="en-US" sz="1600" dirty="0"/>
          </a:p>
          <a:p>
            <a:pPr>
              <a:lnSpc>
                <a:spcPct val="150000"/>
              </a:lnSpc>
            </a:pPr>
            <a:r>
              <a:rPr lang="en-US" sz="1600" dirty="0">
                <a:solidFill>
                  <a:srgbClr val="9CA3AF"/>
                </a:solidFill>
                <a:latin typeface="Liter" pitchFamily="34" charset="0"/>
                <a:ea typeface="Liter" pitchFamily="34" charset="-122"/>
                <a:cs typeface="Liter" pitchFamily="34" charset="-120"/>
              </a:rPr>
              <a:t>Separación de tono cromático de luminosidad</a:t>
            </a:r>
            <a:endParaRPr lang="en-US" sz="1600" dirty="0"/>
          </a:p>
        </p:txBody>
      </p:sp>
      <p:sp>
        <p:nvSpPr>
          <p:cNvPr id="13" name="Shape 11"/>
          <p:cNvSpPr/>
          <p:nvPr/>
        </p:nvSpPr>
        <p:spPr>
          <a:xfrm>
            <a:off x="8255000" y="3048000"/>
            <a:ext cx="508000" cy="0"/>
          </a:xfrm>
          <a:prstGeom prst="straightConnector1">
            <a:avLst/>
          </a:prstGeom>
          <a:noFill/>
          <a:ln w="25400">
            <a:solidFill>
              <a:srgbClr val="B8860B"/>
            </a:solidFill>
            <a:prstDash val="solid"/>
            <a:headEnd type="none"/>
            <a:tailEnd type="arrow"/>
          </a:ln>
        </p:spPr>
        <p:txBody>
          <a:bodyPr/>
          <a:lstStyle/>
          <a:p>
            <a:endParaRPr lang="es-CO"/>
          </a:p>
        </p:txBody>
      </p:sp>
      <p:sp>
        <p:nvSpPr>
          <p:cNvPr id="14" name="Shape 12"/>
          <p:cNvSpPr/>
          <p:nvPr/>
        </p:nvSpPr>
        <p:spPr>
          <a:xfrm>
            <a:off x="8890000" y="1651000"/>
            <a:ext cx="3302000" cy="3556000"/>
          </a:xfrm>
          <a:prstGeom prst="rect">
            <a:avLst/>
          </a:prstGeom>
          <a:solidFill>
            <a:srgbClr val="14141B"/>
          </a:solidFill>
          <a:ln w="12700">
            <a:solidFill>
              <a:srgbClr val="6A5ACD"/>
            </a:solidFill>
            <a:prstDash val="solid"/>
          </a:ln>
        </p:spPr>
        <p:txBody>
          <a:bodyPr/>
          <a:lstStyle/>
          <a:p>
            <a:endParaRPr lang="es-CO"/>
          </a:p>
        </p:txBody>
      </p:sp>
      <p:sp>
        <p:nvSpPr>
          <p:cNvPr id="15" name="Text 13"/>
          <p:cNvSpPr/>
          <p:nvPr/>
        </p:nvSpPr>
        <p:spPr>
          <a:xfrm>
            <a:off x="9144000" y="1841500"/>
            <a:ext cx="762000" cy="508000"/>
          </a:xfrm>
          <a:prstGeom prst="rect">
            <a:avLst/>
          </a:prstGeom>
          <a:noFill/>
          <a:ln/>
        </p:spPr>
        <p:txBody>
          <a:bodyPr wrap="none" lIns="0" tIns="0" rIns="0" bIns="0" rtlCol="0" anchor="ctr"/>
          <a:lstStyle/>
          <a:p>
            <a:pPr>
              <a:lnSpc>
                <a:spcPct val="100000"/>
              </a:lnSpc>
            </a:pPr>
            <a:r>
              <a:rPr lang="en-US" sz="2800" b="1" dirty="0">
                <a:solidFill>
                  <a:srgbClr val="6A5ACD"/>
                </a:solidFill>
                <a:latin typeface="Liter" pitchFamily="34" charset="0"/>
                <a:ea typeface="Liter" pitchFamily="34" charset="-122"/>
                <a:cs typeface="Liter" pitchFamily="34" charset="-120"/>
              </a:rPr>
              <a:t>03</a:t>
            </a:r>
            <a:endParaRPr lang="en-US" sz="1600" dirty="0"/>
          </a:p>
        </p:txBody>
      </p:sp>
      <p:sp>
        <p:nvSpPr>
          <p:cNvPr id="16" name="Text 14"/>
          <p:cNvSpPr/>
          <p:nvPr/>
        </p:nvSpPr>
        <p:spPr>
          <a:xfrm>
            <a:off x="9144000" y="2413000"/>
            <a:ext cx="2794000" cy="304800"/>
          </a:xfrm>
          <a:prstGeom prst="rect">
            <a:avLst/>
          </a:prstGeom>
          <a:noFill/>
          <a:ln/>
        </p:spPr>
        <p:txBody>
          <a:bodyPr wrap="none" lIns="0" tIns="0" rIns="0" bIns="0" rtlCol="0" anchor="ctr"/>
          <a:lstStyle/>
          <a:p>
            <a:pPr>
              <a:lnSpc>
                <a:spcPct val="100000"/>
              </a:lnSpc>
            </a:pPr>
            <a:r>
              <a:rPr lang="en-US" sz="1600" b="1" dirty="0">
                <a:solidFill>
                  <a:srgbClr val="6A5ACD"/>
                </a:solidFill>
                <a:latin typeface="Quattrocento Sans" pitchFamily="34" charset="0"/>
                <a:ea typeface="Quattrocento Sans" pitchFamily="34" charset="-122"/>
                <a:cs typeface="Quattrocento Sans" pitchFamily="34" charset="-120"/>
              </a:rPr>
              <a:t>CLUSTERING</a:t>
            </a:r>
            <a:endParaRPr lang="en-US" sz="1600" dirty="0"/>
          </a:p>
        </p:txBody>
      </p:sp>
      <p:sp>
        <p:nvSpPr>
          <p:cNvPr id="17" name="Text 15"/>
          <p:cNvSpPr/>
          <p:nvPr/>
        </p:nvSpPr>
        <p:spPr>
          <a:xfrm>
            <a:off x="9144000" y="2794000"/>
            <a:ext cx="2794000" cy="2159000"/>
          </a:xfrm>
          <a:prstGeom prst="rect">
            <a:avLst/>
          </a:prstGeom>
          <a:noFill/>
          <a:ln/>
        </p:spPr>
        <p:txBody>
          <a:bodyPr wrap="square" lIns="0" tIns="0" rIns="0" bIns="0" rtlCol="0" anchor="t"/>
          <a:lstStyle/>
          <a:p>
            <a:pPr>
              <a:lnSpc>
                <a:spcPct val="150000"/>
              </a:lnSpc>
            </a:pPr>
            <a:r>
              <a:rPr lang="en-US" sz="1600" dirty="0">
                <a:solidFill>
                  <a:srgbClr val="9CA3AF"/>
                </a:solidFill>
                <a:latin typeface="Liter" pitchFamily="34" charset="0"/>
                <a:ea typeface="Liter" pitchFamily="34" charset="-122"/>
                <a:cs typeface="Liter" pitchFamily="34" charset="-120"/>
              </a:rPr>
              <a:t>K-Means (K=3) + Mean Shift</a:t>
            </a:r>
            <a:endParaRPr lang="en-US" sz="1600" dirty="0"/>
          </a:p>
          <a:p>
            <a:pPr>
              <a:lnSpc>
                <a:spcPct val="150000"/>
              </a:lnSpc>
            </a:pPr>
            <a:r>
              <a:rPr lang="en-US" sz="1600" dirty="0">
                <a:solidFill>
                  <a:srgbClr val="6A5ACD"/>
                </a:solidFill>
                <a:latin typeface="Liter" pitchFamily="34" charset="0"/>
                <a:ea typeface="Liter" pitchFamily="34" charset="-122"/>
                <a:cs typeface="Liter" pitchFamily="34" charset="-120"/>
              </a:rPr>
              <a:t>Vectorización (H×W, 3) → Normalización [0,1]</a:t>
            </a:r>
            <a:endParaRPr lang="en-US" sz="1600" dirty="0"/>
          </a:p>
          <a:p>
            <a:pPr>
              <a:lnSpc>
                <a:spcPct val="150000"/>
              </a:lnSpc>
            </a:pPr>
            <a:r>
              <a:rPr lang="en-US" sz="1600" dirty="0">
                <a:solidFill>
                  <a:srgbClr val="9CA3AF"/>
                </a:solidFill>
                <a:latin typeface="Liter" pitchFamily="34" charset="0"/>
                <a:ea typeface="Liter" pitchFamily="34" charset="-122"/>
                <a:cs typeface="Liter" pitchFamily="34" charset="-120"/>
              </a:rPr>
              <a:t>Random state 42, n_init=10</a:t>
            </a:r>
            <a:endParaRPr lang="en-US" sz="1600" dirty="0"/>
          </a:p>
        </p:txBody>
      </p:sp>
      <p:sp>
        <p:nvSpPr>
          <p:cNvPr id="18" name="Shape 16"/>
          <p:cNvSpPr/>
          <p:nvPr/>
        </p:nvSpPr>
        <p:spPr>
          <a:xfrm>
            <a:off x="12319000" y="3048000"/>
            <a:ext cx="508000" cy="0"/>
          </a:xfrm>
          <a:prstGeom prst="straightConnector1">
            <a:avLst/>
          </a:prstGeom>
          <a:noFill/>
          <a:ln w="25400">
            <a:solidFill>
              <a:srgbClr val="6A5ACD"/>
            </a:solidFill>
            <a:prstDash val="solid"/>
            <a:headEnd type="none"/>
            <a:tailEnd type="arrow"/>
          </a:ln>
        </p:spPr>
        <p:txBody>
          <a:bodyPr/>
          <a:lstStyle/>
          <a:p>
            <a:endParaRPr lang="es-CO"/>
          </a:p>
        </p:txBody>
      </p:sp>
      <p:sp>
        <p:nvSpPr>
          <p:cNvPr id="19" name="Shape 17"/>
          <p:cNvSpPr/>
          <p:nvPr/>
        </p:nvSpPr>
        <p:spPr>
          <a:xfrm>
            <a:off x="12954000" y="1651000"/>
            <a:ext cx="2540000" cy="3556000"/>
          </a:xfrm>
          <a:prstGeom prst="rect">
            <a:avLst/>
          </a:prstGeom>
          <a:solidFill>
            <a:srgbClr val="14141B"/>
          </a:solidFill>
          <a:ln w="12700">
            <a:solidFill>
              <a:srgbClr val="9CA3AF"/>
            </a:solidFill>
            <a:prstDash val="solid"/>
          </a:ln>
        </p:spPr>
        <p:txBody>
          <a:bodyPr/>
          <a:lstStyle/>
          <a:p>
            <a:endParaRPr lang="es-CO"/>
          </a:p>
        </p:txBody>
      </p:sp>
      <p:sp>
        <p:nvSpPr>
          <p:cNvPr id="20" name="Text 18"/>
          <p:cNvSpPr/>
          <p:nvPr/>
        </p:nvSpPr>
        <p:spPr>
          <a:xfrm>
            <a:off x="13208000" y="1841500"/>
            <a:ext cx="762000" cy="508000"/>
          </a:xfrm>
          <a:prstGeom prst="rect">
            <a:avLst/>
          </a:prstGeom>
          <a:noFill/>
          <a:ln/>
        </p:spPr>
        <p:txBody>
          <a:bodyPr wrap="none" lIns="0" tIns="0" rIns="0" bIns="0" rtlCol="0" anchor="ctr"/>
          <a:lstStyle/>
          <a:p>
            <a:pPr>
              <a:lnSpc>
                <a:spcPct val="100000"/>
              </a:lnSpc>
            </a:pPr>
            <a:r>
              <a:rPr lang="en-US" sz="2800" b="1" dirty="0">
                <a:solidFill>
                  <a:srgbClr val="9CA3AF"/>
                </a:solidFill>
                <a:latin typeface="Liter" pitchFamily="34" charset="0"/>
                <a:ea typeface="Liter" pitchFamily="34" charset="-122"/>
                <a:cs typeface="Liter" pitchFamily="34" charset="-120"/>
              </a:rPr>
              <a:t>04</a:t>
            </a:r>
            <a:endParaRPr lang="en-US" sz="1600" dirty="0"/>
          </a:p>
        </p:txBody>
      </p:sp>
      <p:sp>
        <p:nvSpPr>
          <p:cNvPr id="21" name="Text 19"/>
          <p:cNvSpPr/>
          <p:nvPr/>
        </p:nvSpPr>
        <p:spPr>
          <a:xfrm>
            <a:off x="13208000" y="2413000"/>
            <a:ext cx="2032000" cy="304800"/>
          </a:xfrm>
          <a:prstGeom prst="rect">
            <a:avLst/>
          </a:prstGeom>
          <a:noFill/>
          <a:ln/>
        </p:spPr>
        <p:txBody>
          <a:bodyPr wrap="none" lIns="0" tIns="0" rIns="0" bIns="0" rtlCol="0" anchor="ctr"/>
          <a:lstStyle/>
          <a:p>
            <a:pPr>
              <a:lnSpc>
                <a:spcPct val="100000"/>
              </a:lnSpc>
            </a:pPr>
            <a:r>
              <a:rPr lang="en-US" sz="1600" b="1" dirty="0">
                <a:solidFill>
                  <a:srgbClr val="9CA3AF"/>
                </a:solidFill>
                <a:latin typeface="Quattrocento Sans" pitchFamily="34" charset="0"/>
                <a:ea typeface="Quattrocento Sans" pitchFamily="34" charset="-122"/>
                <a:cs typeface="Quattrocento Sans" pitchFamily="34" charset="-120"/>
              </a:rPr>
              <a:t>EVALUACIÓN</a:t>
            </a:r>
            <a:endParaRPr lang="en-US" sz="1600" dirty="0"/>
          </a:p>
        </p:txBody>
      </p:sp>
      <p:sp>
        <p:nvSpPr>
          <p:cNvPr id="22" name="Text 20"/>
          <p:cNvSpPr/>
          <p:nvPr/>
        </p:nvSpPr>
        <p:spPr>
          <a:xfrm>
            <a:off x="13208000" y="2794000"/>
            <a:ext cx="2032000" cy="2286000"/>
          </a:xfrm>
          <a:prstGeom prst="rect">
            <a:avLst/>
          </a:prstGeom>
          <a:noFill/>
          <a:ln/>
        </p:spPr>
        <p:txBody>
          <a:bodyPr wrap="square" lIns="0" tIns="0" rIns="0" bIns="0" rtlCol="0" anchor="t"/>
          <a:lstStyle/>
          <a:p>
            <a:pPr>
              <a:lnSpc>
                <a:spcPct val="150000"/>
              </a:lnSpc>
            </a:pPr>
            <a:r>
              <a:rPr lang="en-US" sz="1600" dirty="0">
                <a:solidFill>
                  <a:srgbClr val="9CA3AF"/>
                </a:solidFill>
                <a:latin typeface="Liter" pitchFamily="34" charset="0"/>
                <a:ea typeface="Liter" pitchFamily="34" charset="-122"/>
                <a:cs typeface="Liter" pitchFamily="34" charset="-120"/>
              </a:rPr>
              <a:t>Silhouette Score</a:t>
            </a:r>
            <a:endParaRPr lang="en-US" sz="1600" dirty="0"/>
          </a:p>
          <a:p>
            <a:pPr>
              <a:lnSpc>
                <a:spcPct val="150000"/>
              </a:lnSpc>
            </a:pPr>
            <a:r>
              <a:rPr lang="en-US" sz="1600" dirty="0">
                <a:solidFill>
                  <a:srgbClr val="9CA3AF"/>
                </a:solidFill>
                <a:latin typeface="Liter" pitchFamily="34" charset="0"/>
                <a:ea typeface="Liter" pitchFamily="34" charset="-122"/>
                <a:cs typeface="Liter" pitchFamily="34" charset="-120"/>
              </a:rPr>
              <a:t>scikit-learn</a:t>
            </a:r>
            <a:endParaRPr lang="en-US" sz="1600" dirty="0"/>
          </a:p>
          <a:p>
            <a:pPr>
              <a:lnSpc>
                <a:spcPct val="150000"/>
              </a:lnSpc>
            </a:pPr>
            <a:r>
              <a:rPr lang="en-US" sz="1600" dirty="0">
                <a:solidFill>
                  <a:srgbClr val="9CA3AF"/>
                </a:solidFill>
                <a:latin typeface="Liter" pitchFamily="34" charset="0"/>
                <a:ea typeface="Liter" pitchFamily="34" charset="-122"/>
                <a:cs typeface="Liter" pitchFamily="34" charset="-120"/>
              </a:rPr>
              <a:t>Análisis de centroides + cuantificación de áreas</a:t>
            </a:r>
            <a:endParaRPr lang="en-US" sz="1600" dirty="0"/>
          </a:p>
        </p:txBody>
      </p:sp>
      <p:sp>
        <p:nvSpPr>
          <p:cNvPr id="23" name="Shape 21"/>
          <p:cNvSpPr/>
          <p:nvPr/>
        </p:nvSpPr>
        <p:spPr>
          <a:xfrm>
            <a:off x="762000" y="5207000"/>
            <a:ext cx="14732000" cy="3302000"/>
          </a:xfrm>
          <a:prstGeom prst="rect">
            <a:avLst/>
          </a:prstGeom>
          <a:solidFill>
            <a:srgbClr val="14141B"/>
          </a:solidFill>
          <a:ln w="12700">
            <a:solidFill>
              <a:srgbClr val="2A2A35"/>
            </a:solidFill>
            <a:prstDash val="solid"/>
          </a:ln>
        </p:spPr>
        <p:txBody>
          <a:bodyPr/>
          <a:lstStyle/>
          <a:p>
            <a:endParaRPr lang="es-CO"/>
          </a:p>
        </p:txBody>
      </p:sp>
      <p:sp>
        <p:nvSpPr>
          <p:cNvPr id="24" name="Text 22"/>
          <p:cNvSpPr/>
          <p:nvPr/>
        </p:nvSpPr>
        <p:spPr>
          <a:xfrm>
            <a:off x="1270000" y="5334000"/>
            <a:ext cx="5080000" cy="381000"/>
          </a:xfrm>
          <a:prstGeom prst="rect">
            <a:avLst/>
          </a:prstGeom>
          <a:noFill/>
          <a:ln/>
        </p:spPr>
        <p:txBody>
          <a:bodyPr wrap="none" lIns="0" tIns="0" rIns="0" bIns="0" rtlCol="0" anchor="ctr"/>
          <a:lstStyle/>
          <a:p>
            <a:pPr>
              <a:lnSpc>
                <a:spcPct val="160000"/>
              </a:lnSpc>
            </a:pPr>
            <a:r>
              <a:rPr lang="en-US" sz="1800" b="1" dirty="0">
                <a:solidFill>
                  <a:srgbClr val="008080"/>
                </a:solidFill>
                <a:latin typeface="Liter" pitchFamily="34" charset="0"/>
                <a:ea typeface="Liter" pitchFamily="34" charset="-122"/>
                <a:cs typeface="Liter" pitchFamily="34" charset="-120"/>
              </a:rPr>
              <a:t>PARÁMETROS DEL PIPELINE</a:t>
            </a:r>
            <a:endParaRPr lang="en-US" sz="1800" dirty="0"/>
          </a:p>
        </p:txBody>
      </p:sp>
      <p:sp>
        <p:nvSpPr>
          <p:cNvPr id="25" name="Shape 23"/>
          <p:cNvSpPr/>
          <p:nvPr/>
        </p:nvSpPr>
        <p:spPr>
          <a:xfrm>
            <a:off x="1270000" y="5816600"/>
            <a:ext cx="13716000" cy="12700"/>
          </a:xfrm>
          <a:prstGeom prst="rect">
            <a:avLst/>
          </a:prstGeom>
          <a:solidFill>
            <a:srgbClr val="2A2A35"/>
          </a:solidFill>
          <a:ln/>
        </p:spPr>
        <p:txBody>
          <a:bodyPr/>
          <a:lstStyle/>
          <a:p>
            <a:endParaRPr lang="es-CO"/>
          </a:p>
        </p:txBody>
      </p:sp>
      <p:sp>
        <p:nvSpPr>
          <p:cNvPr id="26" name="Text 24"/>
          <p:cNvSpPr/>
          <p:nvPr/>
        </p:nvSpPr>
        <p:spPr>
          <a:xfrm>
            <a:off x="1270000" y="5969000"/>
            <a:ext cx="4318000" cy="2286000"/>
          </a:xfrm>
          <a:prstGeom prst="rect">
            <a:avLst/>
          </a:prstGeom>
          <a:noFill/>
          <a:ln/>
        </p:spPr>
        <p:txBody>
          <a:bodyPr wrap="square" lIns="0" tIns="0" rIns="0" bIns="0" rtlCol="0" anchor="t"/>
          <a:lstStyle/>
          <a:p>
            <a:pPr>
              <a:lnSpc>
                <a:spcPct val="150000"/>
              </a:lnSpc>
            </a:pPr>
            <a:r>
              <a:rPr lang="en-US" sz="1600" b="1" dirty="0">
                <a:solidFill>
                  <a:srgbClr val="008080"/>
                </a:solidFill>
                <a:latin typeface="Liter" pitchFamily="34" charset="0"/>
                <a:ea typeface="Liter" pitchFamily="34" charset="-122"/>
                <a:cs typeface="Liter" pitchFamily="34" charset="-120"/>
              </a:rPr>
              <a:t>Preprocesamiento</a:t>
            </a:r>
            <a:endParaRPr lang="en-US" sz="1600" dirty="0"/>
          </a:p>
          <a:p>
            <a:pPr>
              <a:lnSpc>
                <a:spcPct val="150000"/>
              </a:lnSpc>
            </a:pPr>
            <a:r>
              <a:rPr lang="en-US" sz="1600" dirty="0">
                <a:solidFill>
                  <a:srgbClr val="9CA3AF"/>
                </a:solidFill>
                <a:latin typeface="Liter" pitchFamily="34" charset="0"/>
                <a:ea typeface="Liter" pitchFamily="34" charset="-122"/>
                <a:cs typeface="Liter" pitchFamily="34" charset="-120"/>
              </a:rPr>
              <a:t>• Vectorización: reshape(-1, 3)</a:t>
            </a:r>
            <a:endParaRPr lang="en-US" sz="1600" dirty="0"/>
          </a:p>
          <a:p>
            <a:pPr>
              <a:lnSpc>
                <a:spcPct val="150000"/>
              </a:lnSpc>
            </a:pPr>
            <a:r>
              <a:rPr lang="en-US" sz="1600" dirty="0">
                <a:solidFill>
                  <a:srgbClr val="9CA3AF"/>
                </a:solidFill>
                <a:latin typeface="Liter" pitchFamily="34" charset="0"/>
                <a:ea typeface="Liter" pitchFamily="34" charset="-122"/>
                <a:cs typeface="Liter" pitchFamily="34" charset="-120"/>
              </a:rPr>
              <a:t>• Normalización: /255.0 (RGB)</a:t>
            </a:r>
            <a:endParaRPr lang="en-US" sz="1600" dirty="0"/>
          </a:p>
          <a:p>
            <a:pPr>
              <a:lnSpc>
                <a:spcPct val="150000"/>
              </a:lnSpc>
            </a:pPr>
            <a:r>
              <a:rPr lang="en-US" sz="1600" dirty="0">
                <a:solidFill>
                  <a:srgbClr val="9CA3AF"/>
                </a:solidFill>
                <a:latin typeface="Liter" pitchFamily="34" charset="0"/>
                <a:ea typeface="Liter" pitchFamily="34" charset="-122"/>
                <a:cs typeface="Liter" pitchFamily="34" charset="-120"/>
              </a:rPr>
              <a:t>• HSV norm: /[179,255,255]</a:t>
            </a:r>
            <a:endParaRPr lang="en-US" sz="1600" dirty="0"/>
          </a:p>
          <a:p>
            <a:pPr>
              <a:lnSpc>
                <a:spcPct val="150000"/>
              </a:lnSpc>
            </a:pPr>
            <a:r>
              <a:rPr lang="en-US" sz="1600" dirty="0">
                <a:solidFill>
                  <a:srgbClr val="9CA3AF"/>
                </a:solidFill>
                <a:latin typeface="Liter" pitchFamily="34" charset="0"/>
                <a:ea typeface="Liter" pitchFamily="34" charset="-122"/>
                <a:cs typeface="Liter" pitchFamily="34" charset="-120"/>
              </a:rPr>
              <a:t>• Muestra Silhouette: 5,000 px</a:t>
            </a:r>
            <a:endParaRPr lang="en-US" sz="1600" dirty="0"/>
          </a:p>
        </p:txBody>
      </p:sp>
      <p:sp>
        <p:nvSpPr>
          <p:cNvPr id="27" name="Text 25"/>
          <p:cNvSpPr/>
          <p:nvPr/>
        </p:nvSpPr>
        <p:spPr>
          <a:xfrm>
            <a:off x="5842000" y="5969000"/>
            <a:ext cx="4318000" cy="2286000"/>
          </a:xfrm>
          <a:prstGeom prst="rect">
            <a:avLst/>
          </a:prstGeom>
          <a:noFill/>
          <a:ln/>
        </p:spPr>
        <p:txBody>
          <a:bodyPr wrap="square" lIns="0" tIns="0" rIns="0" bIns="0" rtlCol="0" anchor="t"/>
          <a:lstStyle/>
          <a:p>
            <a:pPr>
              <a:lnSpc>
                <a:spcPct val="150000"/>
              </a:lnSpc>
            </a:pPr>
            <a:r>
              <a:rPr lang="en-US" sz="1600" b="1" dirty="0">
                <a:solidFill>
                  <a:srgbClr val="B8860B"/>
                </a:solidFill>
                <a:latin typeface="Liter" pitchFamily="34" charset="0"/>
                <a:ea typeface="Liter" pitchFamily="34" charset="-122"/>
                <a:cs typeface="Liter" pitchFamily="34" charset="-120"/>
              </a:rPr>
              <a:t>K-Means Config</a:t>
            </a:r>
            <a:endParaRPr lang="en-US" sz="1600" dirty="0"/>
          </a:p>
          <a:p>
            <a:pPr>
              <a:lnSpc>
                <a:spcPct val="150000"/>
              </a:lnSpc>
            </a:pPr>
            <a:r>
              <a:rPr lang="en-US" sz="1600" dirty="0">
                <a:solidFill>
                  <a:srgbClr val="9CA3AF"/>
                </a:solidFill>
                <a:latin typeface="Liter" pitchFamily="34" charset="0"/>
                <a:ea typeface="Liter" pitchFamily="34" charset="-122"/>
                <a:cs typeface="Liter" pitchFamily="34" charset="-120"/>
              </a:rPr>
              <a:t>• n_clusters = 3</a:t>
            </a:r>
            <a:endParaRPr lang="en-US" sz="1600" dirty="0"/>
          </a:p>
          <a:p>
            <a:pPr>
              <a:lnSpc>
                <a:spcPct val="150000"/>
              </a:lnSpc>
            </a:pPr>
            <a:r>
              <a:rPr lang="en-US" sz="1600" dirty="0">
                <a:solidFill>
                  <a:srgbClr val="9CA3AF"/>
                </a:solidFill>
                <a:latin typeface="Liter" pitchFamily="34" charset="0"/>
                <a:ea typeface="Liter" pitchFamily="34" charset="-122"/>
                <a:cs typeface="Liter" pitchFamily="34" charset="-120"/>
              </a:rPr>
              <a:t>• random_state = 42</a:t>
            </a:r>
            <a:endParaRPr lang="en-US" sz="1600" dirty="0"/>
          </a:p>
          <a:p>
            <a:pPr>
              <a:lnSpc>
                <a:spcPct val="150000"/>
              </a:lnSpc>
            </a:pPr>
            <a:r>
              <a:rPr lang="en-US" sz="1600" dirty="0">
                <a:solidFill>
                  <a:srgbClr val="9CA3AF"/>
                </a:solidFill>
                <a:latin typeface="Liter" pitchFamily="34" charset="0"/>
                <a:ea typeface="Liter" pitchFamily="34" charset="-122"/>
                <a:cs typeface="Liter" pitchFamily="34" charset="-120"/>
              </a:rPr>
              <a:t>• n_init = 10</a:t>
            </a:r>
            <a:endParaRPr lang="en-US" sz="1600" dirty="0"/>
          </a:p>
          <a:p>
            <a:pPr>
              <a:lnSpc>
                <a:spcPct val="150000"/>
              </a:lnSpc>
            </a:pPr>
            <a:r>
              <a:rPr lang="en-US" sz="1600" dirty="0">
                <a:solidFill>
                  <a:srgbClr val="9CA3AF"/>
                </a:solidFill>
                <a:latin typeface="Liter" pitchFamily="34" charset="0"/>
                <a:ea typeface="Liter" pitchFamily="34" charset="-122"/>
                <a:cs typeface="Liter" pitchFamily="34" charset="-120"/>
              </a:rPr>
              <a:t>• Distancia euclidiana en HSV</a:t>
            </a:r>
            <a:endParaRPr lang="en-US" sz="1600" dirty="0"/>
          </a:p>
        </p:txBody>
      </p:sp>
      <p:sp>
        <p:nvSpPr>
          <p:cNvPr id="28" name="Text 26"/>
          <p:cNvSpPr/>
          <p:nvPr/>
        </p:nvSpPr>
        <p:spPr>
          <a:xfrm>
            <a:off x="10414000" y="5969000"/>
            <a:ext cx="4318000" cy="2286000"/>
          </a:xfrm>
          <a:prstGeom prst="rect">
            <a:avLst/>
          </a:prstGeom>
          <a:noFill/>
          <a:ln/>
        </p:spPr>
        <p:txBody>
          <a:bodyPr wrap="square" lIns="0" tIns="0" rIns="0" bIns="0" rtlCol="0" anchor="t"/>
          <a:lstStyle/>
          <a:p>
            <a:pPr>
              <a:lnSpc>
                <a:spcPct val="150000"/>
              </a:lnSpc>
            </a:pPr>
            <a:r>
              <a:rPr lang="en-US" sz="1600" b="1" dirty="0">
                <a:solidFill>
                  <a:srgbClr val="6A5ACD"/>
                </a:solidFill>
                <a:latin typeface="Liter" pitchFamily="34" charset="0"/>
                <a:ea typeface="Liter" pitchFamily="34" charset="-122"/>
                <a:cs typeface="Liter" pitchFamily="34" charset="-120"/>
              </a:rPr>
              <a:t>Mean Shift Config</a:t>
            </a:r>
            <a:endParaRPr lang="en-US" sz="1600" dirty="0"/>
          </a:p>
          <a:p>
            <a:pPr>
              <a:lnSpc>
                <a:spcPct val="150000"/>
              </a:lnSpc>
            </a:pPr>
            <a:r>
              <a:rPr lang="en-US" sz="1600" dirty="0">
                <a:solidFill>
                  <a:srgbClr val="9CA3AF"/>
                </a:solidFill>
                <a:latin typeface="Liter" pitchFamily="34" charset="0"/>
                <a:ea typeface="Liter" pitchFamily="34" charset="-122"/>
                <a:cs typeface="Liter" pitchFamily="34" charset="-120"/>
              </a:rPr>
              <a:t>• estimate_bandwidth</a:t>
            </a:r>
            <a:endParaRPr lang="en-US" sz="1600" dirty="0"/>
          </a:p>
          <a:p>
            <a:pPr>
              <a:lnSpc>
                <a:spcPct val="150000"/>
              </a:lnSpc>
            </a:pPr>
            <a:r>
              <a:rPr lang="en-US" sz="1600" dirty="0">
                <a:solidFill>
                  <a:srgbClr val="9CA3AF"/>
                </a:solidFill>
                <a:latin typeface="Liter" pitchFamily="34" charset="0"/>
                <a:ea typeface="Liter" pitchFamily="34" charset="-122"/>
                <a:cs typeface="Liter" pitchFamily="34" charset="-120"/>
              </a:rPr>
              <a:t>• quantile = 0.1</a:t>
            </a:r>
            <a:endParaRPr lang="en-US" sz="1600" dirty="0"/>
          </a:p>
          <a:p>
            <a:pPr>
              <a:lnSpc>
                <a:spcPct val="150000"/>
              </a:lnSpc>
            </a:pPr>
            <a:r>
              <a:rPr lang="en-US" sz="1600" dirty="0">
                <a:solidFill>
                  <a:srgbClr val="9CA3AF"/>
                </a:solidFill>
                <a:latin typeface="Liter" pitchFamily="34" charset="0"/>
                <a:ea typeface="Liter" pitchFamily="34" charset="-122"/>
                <a:cs typeface="Liter" pitchFamily="34" charset="-120"/>
              </a:rPr>
              <a:t>• n_samples = 1,000</a:t>
            </a:r>
            <a:endParaRPr lang="en-US" sz="1600" dirty="0"/>
          </a:p>
          <a:p>
            <a:pPr>
              <a:lnSpc>
                <a:spcPct val="150000"/>
              </a:lnSpc>
            </a:pPr>
            <a:r>
              <a:rPr lang="en-US" sz="1600" dirty="0">
                <a:solidFill>
                  <a:srgbClr val="9CA3AF"/>
                </a:solidFill>
                <a:latin typeface="Liter" pitchFamily="34" charset="0"/>
                <a:ea typeface="Liter" pitchFamily="34" charset="-122"/>
                <a:cs typeface="Liter" pitchFamily="34" charset="-120"/>
              </a:rPr>
              <a:t>• bin_seeding = True</a:t>
            </a:r>
            <a:endParaRPr lang="en-US" sz="1600" dirty="0"/>
          </a:p>
        </p:txBody>
      </p:sp>
      <p:sp>
        <p:nvSpPr>
          <p:cNvPr id="29" name="Shape 27"/>
          <p:cNvSpPr/>
          <p:nvPr/>
        </p:nvSpPr>
        <p:spPr>
          <a:xfrm>
            <a:off x="762000" y="8763000"/>
            <a:ext cx="14732000" cy="12700"/>
          </a:xfrm>
          <a:prstGeom prst="rect">
            <a:avLst/>
          </a:prstGeom>
          <a:solidFill>
            <a:srgbClr val="2A2A35"/>
          </a:solidFill>
          <a:ln/>
        </p:spPr>
        <p:txBody>
          <a:bodyPr/>
          <a:lstStyle/>
          <a:p>
            <a:endParaRPr lang="es-CO"/>
          </a:p>
        </p:txBody>
      </p:sp>
      <p:sp>
        <p:nvSpPr>
          <p:cNvPr id="30" name="Text 28"/>
          <p:cNvSpPr/>
          <p:nvPr/>
        </p:nvSpPr>
        <p:spPr>
          <a:xfrm>
            <a:off x="762000" y="8839200"/>
            <a:ext cx="5080000" cy="254000"/>
          </a:xfrm>
          <a:prstGeom prst="rect">
            <a:avLst/>
          </a:prstGeom>
          <a:noFill/>
          <a:ln/>
        </p:spPr>
        <p:txBody>
          <a:bodyPr wrap="none" lIns="0" tIns="0" rIns="0" bIns="0" rtlCol="0" anchor="ctr"/>
          <a:lstStyle/>
          <a:p>
            <a:pPr>
              <a:lnSpc>
                <a:spcPct val="140000"/>
              </a:lnSpc>
            </a:pPr>
            <a:r>
              <a:rPr lang="en-US" sz="1400" dirty="0">
                <a:solidFill>
                  <a:srgbClr val="9CA3AF"/>
                </a:solidFill>
                <a:latin typeface="Liter" pitchFamily="34" charset="0"/>
                <a:ea typeface="Liter" pitchFamily="34" charset="-122"/>
                <a:cs typeface="Liter" pitchFamily="34" charset="-120"/>
              </a:rPr>
              <a:t>Stack: Python 3.10 | OpenCV 4.x | scikit-learn 1.3</a:t>
            </a:r>
            <a:endParaRPr lang="en-US" sz="1400" dirty="0"/>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A0F"/>
        </a:solidFill>
        <a:effectLst/>
      </p:bgPr>
    </p:bg>
    <p:spTree>
      <p:nvGrpSpPr>
        <p:cNvPr id="1" name=""/>
        <p:cNvGrpSpPr/>
        <p:nvPr/>
      </p:nvGrpSpPr>
      <p:grpSpPr>
        <a:xfrm>
          <a:off x="0" y="0"/>
          <a:ext cx="0" cy="0"/>
          <a:chOff x="0" y="0"/>
          <a:chExt cx="0" cy="0"/>
        </a:xfrm>
      </p:grpSpPr>
      <p:sp>
        <p:nvSpPr>
          <p:cNvPr id="2" name="Text 0"/>
          <p:cNvSpPr/>
          <p:nvPr/>
        </p:nvSpPr>
        <p:spPr>
          <a:xfrm>
            <a:off x="762000" y="508000"/>
            <a:ext cx="13970000" cy="571500"/>
          </a:xfrm>
          <a:prstGeom prst="rect">
            <a:avLst/>
          </a:prstGeom>
          <a:noFill/>
          <a:ln/>
        </p:spPr>
        <p:txBody>
          <a:bodyPr wrap="none" lIns="0" tIns="0" rIns="0" bIns="0" rtlCol="0" anchor="ctr"/>
          <a:lstStyle/>
          <a:p>
            <a:pPr>
              <a:lnSpc>
                <a:spcPct val="130000"/>
              </a:lnSpc>
            </a:pPr>
            <a:r>
              <a:rPr lang="en-US" sz="3200" kern="0" spc="50" dirty="0">
                <a:solidFill>
                  <a:srgbClr val="008080"/>
                </a:solidFill>
                <a:latin typeface="QuattrocentoSans" pitchFamily="34" charset="0"/>
                <a:ea typeface="QuattrocentoSans" pitchFamily="34" charset="-122"/>
                <a:cs typeface="QuattrocentoSans" pitchFamily="34" charset="-120"/>
              </a:rPr>
              <a:t>PREPROCESAMIENTO</a:t>
            </a:r>
            <a:r>
              <a:rPr lang="en-US" sz="3200" kern="0" spc="50" dirty="0">
                <a:solidFill>
                  <a:srgbClr val="FFFFFF"/>
                </a:solidFill>
                <a:latin typeface="QuattrocentoSans" pitchFamily="34" charset="0"/>
                <a:ea typeface="QuattrocentoSans" pitchFamily="34" charset="-122"/>
                <a:cs typeface="QuattrocentoSans" pitchFamily="34" charset="-120"/>
              </a:rPr>
              <a:t> — Por qué HSV supera a RGB en IHC</a:t>
            </a:r>
            <a:endParaRPr lang="en-US" sz="3200" dirty="0"/>
          </a:p>
        </p:txBody>
      </p:sp>
      <p:sp>
        <p:nvSpPr>
          <p:cNvPr id="3" name="Shape 1"/>
          <p:cNvSpPr/>
          <p:nvPr/>
        </p:nvSpPr>
        <p:spPr>
          <a:xfrm>
            <a:off x="762000" y="1168400"/>
            <a:ext cx="14732000" cy="12700"/>
          </a:xfrm>
          <a:prstGeom prst="rect">
            <a:avLst/>
          </a:prstGeom>
          <a:solidFill>
            <a:srgbClr val="2A2A35"/>
          </a:solidFill>
          <a:ln/>
        </p:spPr>
        <p:txBody>
          <a:bodyPr/>
          <a:lstStyle/>
          <a:p>
            <a:endParaRPr lang="es-CO"/>
          </a:p>
        </p:txBody>
      </p:sp>
      <p:sp>
        <p:nvSpPr>
          <p:cNvPr id="4" name="Text 2"/>
          <p:cNvSpPr/>
          <p:nvPr/>
        </p:nvSpPr>
        <p:spPr>
          <a:xfrm>
            <a:off x="762000" y="1524000"/>
            <a:ext cx="6858000" cy="381000"/>
          </a:xfrm>
          <a:prstGeom prst="rect">
            <a:avLst/>
          </a:prstGeom>
          <a:noFill/>
          <a:ln/>
        </p:spPr>
        <p:txBody>
          <a:bodyPr wrap="none" lIns="0" tIns="0" rIns="0" bIns="0" rtlCol="0" anchor="ctr"/>
          <a:lstStyle/>
          <a:p>
            <a:pPr>
              <a:lnSpc>
                <a:spcPct val="160000"/>
              </a:lnSpc>
            </a:pPr>
            <a:r>
              <a:rPr lang="en-US" sz="1800" b="1" dirty="0">
                <a:solidFill>
                  <a:srgbClr val="B8860B"/>
                </a:solidFill>
                <a:latin typeface="Liter" pitchFamily="34" charset="0"/>
                <a:ea typeface="Liter" pitchFamily="34" charset="-122"/>
                <a:cs typeface="Liter" pitchFamily="34" charset="-120"/>
              </a:rPr>
              <a:t>EL PROBLEMA DE RGB</a:t>
            </a:r>
            <a:endParaRPr lang="en-US" sz="1800" dirty="0"/>
          </a:p>
        </p:txBody>
      </p:sp>
      <p:sp>
        <p:nvSpPr>
          <p:cNvPr id="5" name="Shape 3"/>
          <p:cNvSpPr/>
          <p:nvPr/>
        </p:nvSpPr>
        <p:spPr>
          <a:xfrm>
            <a:off x="762000" y="1981200"/>
            <a:ext cx="6858000" cy="12700"/>
          </a:xfrm>
          <a:prstGeom prst="rect">
            <a:avLst/>
          </a:prstGeom>
          <a:solidFill>
            <a:srgbClr val="2A2A35"/>
          </a:solidFill>
          <a:ln/>
        </p:spPr>
        <p:txBody>
          <a:bodyPr/>
          <a:lstStyle/>
          <a:p>
            <a:endParaRPr lang="es-CO"/>
          </a:p>
        </p:txBody>
      </p:sp>
      <p:sp>
        <p:nvSpPr>
          <p:cNvPr id="6" name="Text 4"/>
          <p:cNvSpPr/>
          <p:nvPr/>
        </p:nvSpPr>
        <p:spPr>
          <a:xfrm>
            <a:off x="762000" y="2159000"/>
            <a:ext cx="6858000" cy="3746500"/>
          </a:xfrm>
          <a:prstGeom prst="rect">
            <a:avLst/>
          </a:prstGeom>
          <a:noFill/>
          <a:ln/>
        </p:spPr>
        <p:txBody>
          <a:bodyPr wrap="square" lIns="0" tIns="0" rIns="0" bIns="0" rtlCol="0" anchor="t"/>
          <a:lstStyle/>
          <a:p>
            <a:pPr>
              <a:lnSpc>
                <a:spcPct val="160000"/>
              </a:lnSpc>
            </a:pPr>
            <a:r>
              <a:rPr lang="en-US" sz="1800" dirty="0">
                <a:solidFill>
                  <a:srgbClr val="E8E8E8"/>
                </a:solidFill>
                <a:latin typeface="Liter" pitchFamily="34" charset="0"/>
                <a:ea typeface="Liter" pitchFamily="34" charset="-122"/>
                <a:cs typeface="Liter" pitchFamily="34" charset="-120"/>
              </a:rPr>
              <a:t>RGB </a:t>
            </a:r>
            <a:r>
              <a:rPr lang="en-US" sz="1800" b="1" dirty="0">
                <a:solidFill>
                  <a:srgbClr val="E8E8E8"/>
                </a:solidFill>
                <a:latin typeface="Liter" pitchFamily="34" charset="0"/>
                <a:ea typeface="Liter" pitchFamily="34" charset="-122"/>
                <a:cs typeface="Liter" pitchFamily="34" charset="-120"/>
              </a:rPr>
              <a:t>mezcla cromática y luminosa</a:t>
            </a:r>
            <a:r>
              <a:rPr lang="en-US" sz="1800" dirty="0">
                <a:solidFill>
                  <a:srgbClr val="E8E8E8"/>
                </a:solidFill>
                <a:latin typeface="Liter" pitchFamily="34" charset="0"/>
                <a:ea typeface="Liter" pitchFamily="34" charset="-122"/>
                <a:cs typeface="Liter" pitchFamily="34" charset="-120"/>
              </a:rPr>
              <a:t> en cada canal. Cambios de exposición desplazan los tres canales, confundiendo al clustering. DAB y hematoxilina pueden tener valores RGB similares si sus brillos se solapan. Invariancia a iluminación es </a:t>
            </a:r>
            <a:r>
              <a:rPr lang="en-US" sz="1800" b="1" dirty="0">
                <a:solidFill>
                  <a:srgbClr val="B8860B"/>
                </a:solidFill>
                <a:latin typeface="Liter" pitchFamily="34" charset="0"/>
                <a:ea typeface="Liter" pitchFamily="34" charset="-122"/>
                <a:cs typeface="Liter" pitchFamily="34" charset="-120"/>
              </a:rPr>
              <a:t>imposible</a:t>
            </a:r>
            <a:r>
              <a:rPr lang="en-US" sz="1800" dirty="0">
                <a:solidFill>
                  <a:srgbClr val="E8E8E8"/>
                </a:solidFill>
                <a:latin typeface="Liter" pitchFamily="34" charset="0"/>
                <a:ea typeface="Liter" pitchFamily="34" charset="-122"/>
                <a:cs typeface="Liter" pitchFamily="34" charset="-120"/>
              </a:rPr>
              <a:t> en RGB.</a:t>
            </a:r>
            <a:endParaRPr lang="en-US" sz="1800" dirty="0"/>
          </a:p>
        </p:txBody>
      </p:sp>
      <p:sp>
        <p:nvSpPr>
          <p:cNvPr id="7" name="Text 5"/>
          <p:cNvSpPr/>
          <p:nvPr/>
        </p:nvSpPr>
        <p:spPr>
          <a:xfrm>
            <a:off x="8128000" y="1524000"/>
            <a:ext cx="7366000" cy="381000"/>
          </a:xfrm>
          <a:prstGeom prst="rect">
            <a:avLst/>
          </a:prstGeom>
          <a:noFill/>
          <a:ln/>
        </p:spPr>
        <p:txBody>
          <a:bodyPr wrap="none" lIns="0" tIns="0" rIns="0" bIns="0" rtlCol="0" anchor="ctr"/>
          <a:lstStyle/>
          <a:p>
            <a:pPr>
              <a:lnSpc>
                <a:spcPct val="160000"/>
              </a:lnSpc>
            </a:pPr>
            <a:r>
              <a:rPr lang="en-US" sz="1800" b="1" dirty="0">
                <a:solidFill>
                  <a:srgbClr val="008080"/>
                </a:solidFill>
                <a:latin typeface="Liter" pitchFamily="34" charset="0"/>
                <a:ea typeface="Liter" pitchFamily="34" charset="-122"/>
                <a:cs typeface="Liter" pitchFamily="34" charset="-120"/>
              </a:rPr>
              <a:t>LA SOLUCIÓN: ESPACIO HSV</a:t>
            </a:r>
            <a:endParaRPr lang="en-US" sz="1800" dirty="0"/>
          </a:p>
        </p:txBody>
      </p:sp>
      <p:sp>
        <p:nvSpPr>
          <p:cNvPr id="8" name="Shape 6"/>
          <p:cNvSpPr/>
          <p:nvPr/>
        </p:nvSpPr>
        <p:spPr>
          <a:xfrm>
            <a:off x="8128000" y="1981200"/>
            <a:ext cx="7366000" cy="12700"/>
          </a:xfrm>
          <a:prstGeom prst="rect">
            <a:avLst/>
          </a:prstGeom>
          <a:solidFill>
            <a:srgbClr val="2A2A35"/>
          </a:solidFill>
          <a:ln/>
        </p:spPr>
        <p:txBody>
          <a:bodyPr/>
          <a:lstStyle/>
          <a:p>
            <a:endParaRPr lang="es-CO"/>
          </a:p>
        </p:txBody>
      </p:sp>
      <p:sp>
        <p:nvSpPr>
          <p:cNvPr id="9" name="Text 7"/>
          <p:cNvSpPr/>
          <p:nvPr/>
        </p:nvSpPr>
        <p:spPr>
          <a:xfrm>
            <a:off x="8128000" y="2159000"/>
            <a:ext cx="7366000" cy="3556000"/>
          </a:xfrm>
          <a:prstGeom prst="rect">
            <a:avLst/>
          </a:prstGeom>
          <a:noFill/>
          <a:ln/>
        </p:spPr>
        <p:txBody>
          <a:bodyPr wrap="square" lIns="0" tIns="0" rIns="0" bIns="0" rtlCol="0" anchor="t"/>
          <a:lstStyle/>
          <a:p>
            <a:pPr>
              <a:lnSpc>
                <a:spcPct val="160000"/>
              </a:lnSpc>
            </a:pPr>
            <a:r>
              <a:rPr lang="en-US" sz="1800" dirty="0">
                <a:solidFill>
                  <a:srgbClr val="E8E8E8"/>
                </a:solidFill>
                <a:latin typeface="Liter" pitchFamily="34" charset="0"/>
                <a:ea typeface="Liter" pitchFamily="34" charset="-122"/>
                <a:cs typeface="Liter" pitchFamily="34" charset="-120"/>
              </a:rPr>
              <a:t>HSV </a:t>
            </a:r>
            <a:r>
              <a:rPr lang="en-US" sz="1800" b="1" dirty="0">
                <a:solidFill>
                  <a:srgbClr val="E8E8E8"/>
                </a:solidFill>
                <a:latin typeface="Liter" pitchFamily="34" charset="0"/>
                <a:ea typeface="Liter" pitchFamily="34" charset="-122"/>
                <a:cs typeface="Liter" pitchFamily="34" charset="-120"/>
              </a:rPr>
              <a:t>desacopla el tono (H) de la luminosidad (V)</a:t>
            </a:r>
            <a:r>
              <a:rPr lang="en-US" sz="1800" dirty="0">
                <a:solidFill>
                  <a:srgbClr val="E8E8E8"/>
                </a:solidFill>
                <a:latin typeface="Liter" pitchFamily="34" charset="0"/>
                <a:ea typeface="Liter" pitchFamily="34" charset="-122"/>
                <a:cs typeface="Liter" pitchFamily="34" charset="-120"/>
              </a:rPr>
              <a:t>. El DAB marrón y la hematoxilina azul ocupan rangos de H distintos aunque sus brillos se solapen:</a:t>
            </a:r>
            <a:endParaRPr lang="en-US" sz="1800" dirty="0"/>
          </a:p>
          <a:p>
            <a:pPr>
              <a:lnSpc>
                <a:spcPct val="160000"/>
              </a:lnSpc>
              <a:spcBef>
                <a:spcPts val="800"/>
              </a:spcBef>
            </a:pPr>
            <a:r>
              <a:rPr lang="en-US" sz="1800" dirty="0">
                <a:solidFill>
                  <a:srgbClr val="E8E8E8"/>
                </a:solidFill>
                <a:latin typeface="Liter" pitchFamily="34" charset="0"/>
                <a:ea typeface="Liter" pitchFamily="34" charset="-122"/>
                <a:cs typeface="Liter" pitchFamily="34" charset="-120"/>
              </a:rPr>
              <a:t>• </a:t>
            </a:r>
            <a:r>
              <a:rPr lang="en-US" sz="1800" dirty="0">
                <a:solidFill>
                  <a:srgbClr val="B8860B"/>
                </a:solidFill>
                <a:latin typeface="Liter" pitchFamily="34" charset="0"/>
                <a:ea typeface="Liter" pitchFamily="34" charset="-122"/>
                <a:cs typeface="Liter" pitchFamily="34" charset="-120"/>
              </a:rPr>
              <a:t>DAB marrón:</a:t>
            </a:r>
            <a:r>
              <a:rPr lang="en-US" sz="1800" dirty="0">
                <a:solidFill>
                  <a:srgbClr val="E8E8E8"/>
                </a:solidFill>
                <a:latin typeface="Liter" pitchFamily="34" charset="0"/>
                <a:ea typeface="Liter" pitchFamily="34" charset="-122"/>
                <a:cs typeface="Liter" pitchFamily="34" charset="-120"/>
              </a:rPr>
              <a:t> H ≈ 15-30° (cálido, bajo ángulo)</a:t>
            </a:r>
            <a:endParaRPr lang="en-US" sz="1800" dirty="0"/>
          </a:p>
          <a:p>
            <a:pPr>
              <a:lnSpc>
                <a:spcPct val="160000"/>
              </a:lnSpc>
              <a:spcBef>
                <a:spcPts val="800"/>
              </a:spcBef>
            </a:pPr>
            <a:r>
              <a:rPr lang="en-US" sz="1800" dirty="0">
                <a:solidFill>
                  <a:srgbClr val="E8E8E8"/>
                </a:solidFill>
                <a:latin typeface="Liter" pitchFamily="34" charset="0"/>
                <a:ea typeface="Liter" pitchFamily="34" charset="-122"/>
                <a:cs typeface="Liter" pitchFamily="34" charset="-120"/>
              </a:rPr>
              <a:t>• </a:t>
            </a:r>
            <a:r>
              <a:rPr lang="en-US" sz="1800" dirty="0">
                <a:solidFill>
                  <a:srgbClr val="6A5ACD"/>
                </a:solidFill>
                <a:latin typeface="Liter" pitchFamily="34" charset="0"/>
                <a:ea typeface="Liter" pitchFamily="34" charset="-122"/>
                <a:cs typeface="Liter" pitchFamily="34" charset="-120"/>
              </a:rPr>
              <a:t>Hematoxilina azul:</a:t>
            </a:r>
            <a:r>
              <a:rPr lang="en-US" sz="1800" dirty="0">
                <a:solidFill>
                  <a:srgbClr val="E8E8E8"/>
                </a:solidFill>
                <a:latin typeface="Liter" pitchFamily="34" charset="0"/>
                <a:ea typeface="Liter" pitchFamily="34" charset="-122"/>
                <a:cs typeface="Liter" pitchFamily="34" charset="-120"/>
              </a:rPr>
              <a:t> H ≈ 100-130° (frío, alto ángulo)</a:t>
            </a:r>
            <a:endParaRPr lang="en-US" sz="1800" dirty="0"/>
          </a:p>
          <a:p>
            <a:pPr>
              <a:lnSpc>
                <a:spcPct val="160000"/>
              </a:lnSpc>
              <a:spcBef>
                <a:spcPts val="800"/>
              </a:spcBef>
            </a:pPr>
            <a:r>
              <a:rPr lang="en-US" sz="1800" dirty="0">
                <a:solidFill>
                  <a:srgbClr val="E8E8E8"/>
                </a:solidFill>
                <a:latin typeface="Liter" pitchFamily="34" charset="0"/>
                <a:ea typeface="Liter" pitchFamily="34" charset="-122"/>
                <a:cs typeface="Liter" pitchFamily="34" charset="-120"/>
              </a:rPr>
              <a:t>• </a:t>
            </a:r>
            <a:r>
              <a:rPr lang="en-US" sz="1800" b="1" dirty="0">
                <a:solidFill>
                  <a:srgbClr val="008080"/>
                </a:solidFill>
                <a:latin typeface="Liter" pitchFamily="34" charset="0"/>
                <a:ea typeface="Liter" pitchFamily="34" charset="-122"/>
                <a:cs typeface="Liter" pitchFamily="34" charset="-120"/>
              </a:rPr>
              <a:t>Inmunidad a iluminación:</a:t>
            </a:r>
            <a:r>
              <a:rPr lang="en-US" sz="1800" dirty="0">
                <a:solidFill>
                  <a:srgbClr val="E8E8E8"/>
                </a:solidFill>
                <a:latin typeface="Liter" pitchFamily="34" charset="0"/>
                <a:ea typeface="Liter" pitchFamily="34" charset="-122"/>
                <a:cs typeface="Liter" pitchFamily="34" charset="-120"/>
              </a:rPr>
              <a:t> Cambios de V no afectan H, garantizando clusters estables entre escáneres.</a:t>
            </a:r>
            <a:endParaRPr lang="en-US" sz="1800" dirty="0"/>
          </a:p>
        </p:txBody>
      </p:sp>
      <p:sp>
        <p:nvSpPr>
          <p:cNvPr id="10" name="Shape 8"/>
          <p:cNvSpPr/>
          <p:nvPr/>
        </p:nvSpPr>
        <p:spPr>
          <a:xfrm>
            <a:off x="762000" y="5969000"/>
            <a:ext cx="14732000" cy="2667000"/>
          </a:xfrm>
          <a:prstGeom prst="rect">
            <a:avLst/>
          </a:prstGeom>
          <a:solidFill>
            <a:srgbClr val="14141B"/>
          </a:solidFill>
          <a:ln w="12700">
            <a:solidFill>
              <a:srgbClr val="008080"/>
            </a:solidFill>
            <a:prstDash val="solid"/>
          </a:ln>
        </p:spPr>
        <p:txBody>
          <a:bodyPr/>
          <a:lstStyle/>
          <a:p>
            <a:endParaRPr lang="es-CO"/>
          </a:p>
        </p:txBody>
      </p:sp>
      <p:sp>
        <p:nvSpPr>
          <p:cNvPr id="11" name="Shape 9"/>
          <p:cNvSpPr/>
          <p:nvPr/>
        </p:nvSpPr>
        <p:spPr>
          <a:xfrm>
            <a:off x="762000" y="5969000"/>
            <a:ext cx="50800" cy="2667000"/>
          </a:xfrm>
          <a:prstGeom prst="rect">
            <a:avLst/>
          </a:prstGeom>
          <a:solidFill>
            <a:srgbClr val="008080"/>
          </a:solidFill>
          <a:ln/>
        </p:spPr>
        <p:txBody>
          <a:bodyPr/>
          <a:lstStyle/>
          <a:p>
            <a:endParaRPr lang="es-CO"/>
          </a:p>
        </p:txBody>
      </p:sp>
      <p:sp>
        <p:nvSpPr>
          <p:cNvPr id="12" name="Text 10"/>
          <p:cNvSpPr/>
          <p:nvPr/>
        </p:nvSpPr>
        <p:spPr>
          <a:xfrm>
            <a:off x="1270000" y="6096000"/>
            <a:ext cx="6350000" cy="381000"/>
          </a:xfrm>
          <a:prstGeom prst="rect">
            <a:avLst/>
          </a:prstGeom>
          <a:noFill/>
          <a:ln/>
        </p:spPr>
        <p:txBody>
          <a:bodyPr wrap="none" lIns="0" tIns="0" rIns="0" bIns="0" rtlCol="0" anchor="ctr"/>
          <a:lstStyle/>
          <a:p>
            <a:pPr>
              <a:lnSpc>
                <a:spcPct val="160000"/>
              </a:lnSpc>
            </a:pPr>
            <a:r>
              <a:rPr lang="en-US" sz="1800" b="1" dirty="0">
                <a:solidFill>
                  <a:srgbClr val="008080"/>
                </a:solidFill>
                <a:latin typeface="Liter" pitchFamily="34" charset="0"/>
                <a:ea typeface="Liter" pitchFamily="34" charset="-122"/>
                <a:cs typeface="Liter" pitchFamily="34" charset="-120"/>
              </a:rPr>
              <a:t>RESULTADO EMPÍRICO: HSV vs RGB</a:t>
            </a:r>
            <a:endParaRPr lang="en-US" sz="1800" dirty="0"/>
          </a:p>
        </p:txBody>
      </p:sp>
      <p:sp>
        <p:nvSpPr>
          <p:cNvPr id="13" name="Shape 11"/>
          <p:cNvSpPr/>
          <p:nvPr/>
        </p:nvSpPr>
        <p:spPr>
          <a:xfrm>
            <a:off x="1270000" y="6578600"/>
            <a:ext cx="13716000" cy="12700"/>
          </a:xfrm>
          <a:prstGeom prst="rect">
            <a:avLst/>
          </a:prstGeom>
          <a:solidFill>
            <a:srgbClr val="2A2A35"/>
          </a:solidFill>
          <a:ln/>
        </p:spPr>
        <p:txBody>
          <a:bodyPr/>
          <a:lstStyle/>
          <a:p>
            <a:endParaRPr lang="es-CO"/>
          </a:p>
        </p:txBody>
      </p:sp>
      <p:sp>
        <p:nvSpPr>
          <p:cNvPr id="14" name="Text 12"/>
          <p:cNvSpPr/>
          <p:nvPr/>
        </p:nvSpPr>
        <p:spPr>
          <a:xfrm>
            <a:off x="1270000" y="6731000"/>
            <a:ext cx="6350000" cy="1397000"/>
          </a:xfrm>
          <a:prstGeom prst="rect">
            <a:avLst/>
          </a:prstGeom>
          <a:noFill/>
          <a:ln/>
        </p:spPr>
        <p:txBody>
          <a:bodyPr wrap="square" lIns="0" tIns="0" rIns="0" bIns="0" rtlCol="0" anchor="t"/>
          <a:lstStyle/>
          <a:p>
            <a:pPr>
              <a:lnSpc>
                <a:spcPct val="160000"/>
              </a:lnSpc>
            </a:pPr>
            <a:r>
              <a:rPr lang="en-US" sz="3600" b="1" dirty="0">
                <a:solidFill>
                  <a:srgbClr val="008080"/>
                </a:solidFill>
                <a:latin typeface="Liter" pitchFamily="34" charset="0"/>
                <a:ea typeface="Liter" pitchFamily="34" charset="-122"/>
                <a:cs typeface="Liter" pitchFamily="34" charset="-120"/>
              </a:rPr>
              <a:t>0.695</a:t>
            </a:r>
            <a:r>
              <a:rPr lang="en-US" sz="1800" dirty="0">
                <a:solidFill>
                  <a:srgbClr val="E8E8E8"/>
                </a:solidFill>
                <a:latin typeface="Liter" pitchFamily="34" charset="0"/>
                <a:ea typeface="Liter" pitchFamily="34" charset="-122"/>
                <a:cs typeface="Liter" pitchFamily="34" charset="-120"/>
              </a:rPr>
              <a:t> </a:t>
            </a:r>
            <a:r>
              <a:rPr lang="en-US" sz="1800" dirty="0">
                <a:solidFill>
                  <a:srgbClr val="9CA3AF"/>
                </a:solidFill>
                <a:latin typeface="Liter" pitchFamily="34" charset="0"/>
                <a:ea typeface="Liter" pitchFamily="34" charset="-122"/>
                <a:cs typeface="Liter" pitchFamily="34" charset="-120"/>
              </a:rPr>
              <a:t>Silhouette Score HSV</a:t>
            </a:r>
            <a:endParaRPr lang="en-US" sz="1800" dirty="0"/>
          </a:p>
          <a:p>
            <a:pPr>
              <a:lnSpc>
                <a:spcPct val="160000"/>
              </a:lnSpc>
              <a:spcBef>
                <a:spcPts val="400"/>
              </a:spcBef>
            </a:pPr>
            <a:r>
              <a:rPr lang="en-US" sz="1800" dirty="0">
                <a:solidFill>
                  <a:srgbClr val="E8E8E8"/>
                </a:solidFill>
                <a:latin typeface="Liter" pitchFamily="34" charset="0"/>
                <a:ea typeface="Liter" pitchFamily="34" charset="-122"/>
                <a:cs typeface="Liter" pitchFamily="34" charset="-120"/>
              </a:rPr>
              <a:t>K-Means K=3 en espacio HSV normalizado</a:t>
            </a:r>
            <a:endParaRPr lang="en-US" sz="1800" dirty="0"/>
          </a:p>
        </p:txBody>
      </p:sp>
      <p:sp>
        <p:nvSpPr>
          <p:cNvPr id="15" name="Text 13"/>
          <p:cNvSpPr/>
          <p:nvPr/>
        </p:nvSpPr>
        <p:spPr>
          <a:xfrm>
            <a:off x="8128000" y="6731000"/>
            <a:ext cx="6350000" cy="1397000"/>
          </a:xfrm>
          <a:prstGeom prst="rect">
            <a:avLst/>
          </a:prstGeom>
          <a:noFill/>
          <a:ln/>
        </p:spPr>
        <p:txBody>
          <a:bodyPr wrap="square" lIns="0" tIns="0" rIns="0" bIns="0" rtlCol="0" anchor="t"/>
          <a:lstStyle/>
          <a:p>
            <a:pPr>
              <a:lnSpc>
                <a:spcPct val="160000"/>
              </a:lnSpc>
            </a:pPr>
            <a:r>
              <a:rPr lang="en-US" sz="3600" b="1" dirty="0">
                <a:solidFill>
                  <a:srgbClr val="9CA3AF"/>
                </a:solidFill>
                <a:latin typeface="Liter" pitchFamily="34" charset="0"/>
                <a:ea typeface="Liter" pitchFamily="34" charset="-122"/>
                <a:cs typeface="Liter" pitchFamily="34" charset="-120"/>
              </a:rPr>
              <a:t>0.573</a:t>
            </a:r>
            <a:r>
              <a:rPr lang="en-US" sz="1800" dirty="0">
                <a:solidFill>
                  <a:srgbClr val="E8E8E8"/>
                </a:solidFill>
                <a:latin typeface="Liter" pitchFamily="34" charset="0"/>
                <a:ea typeface="Liter" pitchFamily="34" charset="-122"/>
                <a:cs typeface="Liter" pitchFamily="34" charset="-120"/>
              </a:rPr>
              <a:t> </a:t>
            </a:r>
            <a:r>
              <a:rPr lang="en-US" sz="1800" dirty="0">
                <a:solidFill>
                  <a:srgbClr val="9CA3AF"/>
                </a:solidFill>
                <a:latin typeface="Liter" pitchFamily="34" charset="0"/>
                <a:ea typeface="Liter" pitchFamily="34" charset="-122"/>
                <a:cs typeface="Liter" pitchFamily="34" charset="-120"/>
              </a:rPr>
              <a:t>Silhouette Score RGB</a:t>
            </a:r>
            <a:endParaRPr lang="en-US" sz="1800" dirty="0"/>
          </a:p>
          <a:p>
            <a:pPr>
              <a:lnSpc>
                <a:spcPct val="160000"/>
              </a:lnSpc>
              <a:spcBef>
                <a:spcPts val="400"/>
              </a:spcBef>
            </a:pPr>
            <a:r>
              <a:rPr lang="en-US" sz="1800" dirty="0">
                <a:solidFill>
                  <a:srgbClr val="E8E8E8"/>
                </a:solidFill>
                <a:latin typeface="Liter" pitchFamily="34" charset="0"/>
                <a:ea typeface="Liter" pitchFamily="34" charset="-122"/>
                <a:cs typeface="Liter" pitchFamily="34" charset="-120"/>
              </a:rPr>
              <a:t>K-Means K=3 en espacio RGB normalizado</a:t>
            </a:r>
            <a:endParaRPr lang="en-US" sz="1800" dirty="0"/>
          </a:p>
        </p:txBody>
      </p:sp>
      <p:sp>
        <p:nvSpPr>
          <p:cNvPr id="16" name="Text 14"/>
          <p:cNvSpPr/>
          <p:nvPr/>
        </p:nvSpPr>
        <p:spPr>
          <a:xfrm>
            <a:off x="1270000" y="8128000"/>
            <a:ext cx="13716000" cy="508000"/>
          </a:xfrm>
          <a:prstGeom prst="rect">
            <a:avLst/>
          </a:prstGeom>
          <a:noFill/>
          <a:ln/>
        </p:spPr>
        <p:txBody>
          <a:bodyPr wrap="square" lIns="0" tIns="0" rIns="0" bIns="0" rtlCol="0" anchor="t"/>
          <a:lstStyle/>
          <a:p>
            <a:pPr>
              <a:lnSpc>
                <a:spcPct val="160000"/>
              </a:lnSpc>
            </a:pPr>
            <a:r>
              <a:rPr lang="en-US" sz="1800" b="1" dirty="0">
                <a:solidFill>
                  <a:srgbClr val="B8860B"/>
                </a:solidFill>
                <a:latin typeface="Liter" pitchFamily="34" charset="0"/>
                <a:ea typeface="Liter" pitchFamily="34" charset="-122"/>
                <a:cs typeface="Liter" pitchFamily="34" charset="-120"/>
              </a:rPr>
              <a:t>Δ = +21% de separabilidad</a:t>
            </a:r>
            <a:r>
              <a:rPr lang="en-US" sz="1800" dirty="0">
                <a:solidFill>
                  <a:srgbClr val="E8E8E8"/>
                </a:solidFill>
                <a:latin typeface="Liter" pitchFamily="34" charset="0"/>
                <a:ea typeface="Liter" pitchFamily="34" charset="-122"/>
                <a:cs typeface="Liter" pitchFamily="34" charset="-120"/>
              </a:rPr>
              <a:t> al migrar de RGB a HSV. HSV aísla el tono de la luminosidad, generando centroides más compactos.</a:t>
            </a:r>
            <a:endParaRPr lang="en-US" sz="1800" dirty="0"/>
          </a:p>
        </p:txBody>
      </p:sp>
      <p:sp>
        <p:nvSpPr>
          <p:cNvPr id="17" name="Shape 15"/>
          <p:cNvSpPr/>
          <p:nvPr/>
        </p:nvSpPr>
        <p:spPr>
          <a:xfrm>
            <a:off x="762000" y="8763000"/>
            <a:ext cx="14732000" cy="12700"/>
          </a:xfrm>
          <a:prstGeom prst="rect">
            <a:avLst/>
          </a:prstGeom>
          <a:solidFill>
            <a:srgbClr val="2A2A35"/>
          </a:solidFill>
          <a:ln/>
        </p:spPr>
        <p:txBody>
          <a:bodyPr/>
          <a:lstStyle/>
          <a:p>
            <a:endParaRPr lang="es-CO"/>
          </a:p>
        </p:txBody>
      </p:sp>
      <p:sp>
        <p:nvSpPr>
          <p:cNvPr id="18" name="Text 16"/>
          <p:cNvSpPr/>
          <p:nvPr/>
        </p:nvSpPr>
        <p:spPr>
          <a:xfrm>
            <a:off x="762000" y="8839200"/>
            <a:ext cx="7620000" cy="254000"/>
          </a:xfrm>
          <a:prstGeom prst="rect">
            <a:avLst/>
          </a:prstGeom>
          <a:noFill/>
          <a:ln/>
        </p:spPr>
        <p:txBody>
          <a:bodyPr wrap="none" lIns="0" tIns="0" rIns="0" bIns="0" rtlCol="0" anchor="ctr"/>
          <a:lstStyle/>
          <a:p>
            <a:pPr>
              <a:lnSpc>
                <a:spcPct val="140000"/>
              </a:lnSpc>
            </a:pPr>
            <a:r>
              <a:rPr lang="en-US" sz="1400" dirty="0">
                <a:solidFill>
                  <a:srgbClr val="9CA3AF"/>
                </a:solidFill>
                <a:latin typeface="Liter" pitchFamily="34" charset="0"/>
                <a:ea typeface="Liter" pitchFamily="34" charset="-122"/>
                <a:cs typeface="Liter" pitchFamily="34" charset="-120"/>
              </a:rPr>
              <a:t>OpenCV cv2.cvtColor(img, COLOR_RGB2HSV) | H:[0,179] S:[0,255] V:[0,255]</a:t>
            </a:r>
            <a:endParaRPr lang="en-US" sz="1400" dirty="0"/>
          </a:p>
        </p:txBody>
      </p:sp>
      <p:graphicFrame>
        <p:nvGraphicFramePr>
          <p:cNvPr id="21" name="Tabla 20">
            <a:extLst>
              <a:ext uri="{FF2B5EF4-FFF2-40B4-BE49-F238E27FC236}">
                <a16:creationId xmlns:a16="http://schemas.microsoft.com/office/drawing/2014/main" id="{B9133D9A-0F2F-BB12-21DF-DFA77AD0A74C}"/>
              </a:ext>
            </a:extLst>
          </p:cNvPr>
          <p:cNvGraphicFramePr>
            <a:graphicFrameLocks noGrp="1"/>
          </p:cNvGraphicFramePr>
          <p:nvPr>
            <p:extLst>
              <p:ext uri="{D42A27DB-BD31-4B8C-83A1-F6EECF244321}">
                <p14:modId xmlns:p14="http://schemas.microsoft.com/office/powerpoint/2010/main" val="446007494"/>
              </p:ext>
            </p:extLst>
          </p:nvPr>
        </p:nvGraphicFramePr>
        <p:xfrm>
          <a:off x="762000" y="3937000"/>
          <a:ext cx="6918762" cy="1934970"/>
        </p:xfrm>
        <a:graphic>
          <a:graphicData uri="http://schemas.openxmlformats.org/drawingml/2006/table">
            <a:tbl>
              <a:tblPr firstRow="1" bandRow="1">
                <a:tableStyleId>{5C22544A-7EE6-4342-B048-85BDC9FD1C3A}</a:tableStyleId>
              </a:tblPr>
              <a:tblGrid>
                <a:gridCol w="3459381">
                  <a:extLst>
                    <a:ext uri="{9D8B030D-6E8A-4147-A177-3AD203B41FA5}">
                      <a16:colId xmlns:a16="http://schemas.microsoft.com/office/drawing/2014/main" val="3459178704"/>
                    </a:ext>
                  </a:extLst>
                </a:gridCol>
                <a:gridCol w="3459381">
                  <a:extLst>
                    <a:ext uri="{9D8B030D-6E8A-4147-A177-3AD203B41FA5}">
                      <a16:colId xmlns:a16="http://schemas.microsoft.com/office/drawing/2014/main" val="280632498"/>
                    </a:ext>
                  </a:extLst>
                </a:gridCol>
              </a:tblGrid>
              <a:tr h="291592">
                <a:tc>
                  <a:txBody>
                    <a:bodyPr/>
                    <a:lstStyle/>
                    <a:p>
                      <a:r>
                        <a:rPr lang="es-CO" sz="1400" dirty="0">
                          <a:latin typeface="Liter" panose="020B0604020202020204" charset="0"/>
                        </a:rPr>
                        <a:t>Shape imagen original:</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400" b="1" i="0" u="none" strike="noStrike" kern="1200" cap="none" spc="0" normalizeH="0" baseline="0" noProof="0" dirty="0">
                          <a:ln>
                            <a:noFill/>
                          </a:ln>
                          <a:solidFill>
                            <a:srgbClr val="FFFFFF"/>
                          </a:solidFill>
                          <a:effectLst/>
                          <a:uLnTx/>
                          <a:uFillTx/>
                          <a:latin typeface="Liter" panose="020B0604020202020204" charset="0"/>
                          <a:ea typeface="+mn-ea"/>
                          <a:cs typeface="+mn-cs"/>
                        </a:rPr>
                        <a:t>(780, 787, 3)</a:t>
                      </a:r>
                    </a:p>
                  </a:txBody>
                  <a:tcPr/>
                </a:tc>
                <a:extLst>
                  <a:ext uri="{0D108BD9-81ED-4DB2-BD59-A6C34878D82A}">
                    <a16:rowId xmlns:a16="http://schemas.microsoft.com/office/drawing/2014/main" val="441012299"/>
                  </a:ext>
                </a:extLst>
              </a:tr>
              <a:tr h="510285">
                <a:tc>
                  <a:txBody>
                    <a:bodyPr/>
                    <a:lstStyle/>
                    <a:p>
                      <a:r>
                        <a:rPr lang="es-CO" sz="1400" dirty="0">
                          <a:latin typeface="Liter" panose="020B0604020202020204" charset="0"/>
                        </a:rPr>
                        <a:t>Shape </a:t>
                      </a:r>
                      <a:r>
                        <a:rPr lang="es-CO" sz="1400" dirty="0" err="1">
                          <a:latin typeface="Liter" panose="020B0604020202020204" charset="0"/>
                        </a:rPr>
                        <a:t>pixels</a:t>
                      </a:r>
                      <a:r>
                        <a:rPr lang="es-CO" sz="1400" dirty="0">
                          <a:latin typeface="Liter" panose="020B0604020202020204" charset="0"/>
                        </a:rPr>
                        <a:t> RGB vectorizados:</a:t>
                      </a:r>
                    </a:p>
                  </a:txBody>
                  <a:tcPr/>
                </a:tc>
                <a:tc>
                  <a:txBody>
                    <a:bodyPr/>
                    <a:lstStyle/>
                    <a:p>
                      <a:r>
                        <a:rPr kumimoji="0" lang="es-CO" sz="1400" b="0" i="0" u="none" strike="noStrike" kern="1200" cap="none" spc="0" normalizeH="0" baseline="0" noProof="0" dirty="0">
                          <a:ln>
                            <a:noFill/>
                          </a:ln>
                          <a:solidFill>
                            <a:srgbClr val="000000"/>
                          </a:solidFill>
                          <a:effectLst/>
                          <a:uLnTx/>
                          <a:uFillTx/>
                          <a:latin typeface="Liter" panose="020B0604020202020204" charset="0"/>
                          <a:ea typeface="+mn-ea"/>
                          <a:cs typeface="+mn-cs"/>
                        </a:rPr>
                        <a:t>(613860, 3)  (</a:t>
                      </a:r>
                      <a:r>
                        <a:rPr kumimoji="0" lang="es-CO" sz="1400" b="0" i="0" u="none" strike="noStrike" kern="1200" cap="none" spc="0" normalizeH="0" baseline="0" noProof="0" dirty="0" err="1">
                          <a:ln>
                            <a:noFill/>
                          </a:ln>
                          <a:solidFill>
                            <a:srgbClr val="000000"/>
                          </a:solidFill>
                          <a:effectLst/>
                          <a:uLnTx/>
                          <a:uFillTx/>
                          <a:latin typeface="Liter" panose="020B0604020202020204" charset="0"/>
                          <a:ea typeface="+mn-ea"/>
                          <a:cs typeface="+mn-cs"/>
                        </a:rPr>
                        <a:t>n_pixeles</a:t>
                      </a:r>
                      <a:r>
                        <a:rPr kumimoji="0" lang="es-CO" sz="1400" b="0" i="0" u="none" strike="noStrike" kern="1200" cap="none" spc="0" normalizeH="0" baseline="0" noProof="0" dirty="0">
                          <a:ln>
                            <a:noFill/>
                          </a:ln>
                          <a:solidFill>
                            <a:srgbClr val="000000"/>
                          </a:solidFill>
                          <a:effectLst/>
                          <a:uLnTx/>
                          <a:uFillTx/>
                          <a:latin typeface="Liter" panose="020B0604020202020204" charset="0"/>
                          <a:ea typeface="+mn-ea"/>
                          <a:cs typeface="+mn-cs"/>
                        </a:rPr>
                        <a:t>, 3 canales)</a:t>
                      </a:r>
                      <a:endParaRPr lang="es-CO" sz="1400" dirty="0">
                        <a:latin typeface="Liter" panose="020B0604020202020204" charset="0"/>
                      </a:endParaRPr>
                    </a:p>
                  </a:txBody>
                  <a:tcPr/>
                </a:tc>
                <a:extLst>
                  <a:ext uri="{0D108BD9-81ED-4DB2-BD59-A6C34878D82A}">
                    <a16:rowId xmlns:a16="http://schemas.microsoft.com/office/drawing/2014/main" val="1236667393"/>
                  </a:ext>
                </a:extLst>
              </a:tr>
              <a:tr h="510285">
                <a:tc>
                  <a:txBody>
                    <a:bodyPr/>
                    <a:lstStyle/>
                    <a:p>
                      <a:r>
                        <a:rPr lang="es-CO" sz="1400" dirty="0">
                          <a:latin typeface="Liter" panose="020B0604020202020204" charset="0"/>
                        </a:rPr>
                        <a:t>Shape </a:t>
                      </a:r>
                      <a:r>
                        <a:rPr lang="es-CO" sz="1400" dirty="0" err="1">
                          <a:latin typeface="Liter" panose="020B0604020202020204" charset="0"/>
                        </a:rPr>
                        <a:t>pixels</a:t>
                      </a:r>
                      <a:r>
                        <a:rPr lang="es-CO" sz="1400" dirty="0">
                          <a:latin typeface="Liter" panose="020B0604020202020204" charset="0"/>
                        </a:rPr>
                        <a:t> HSV vectorizados:</a:t>
                      </a:r>
                    </a:p>
                  </a:txBody>
                  <a:tcPr/>
                </a:tc>
                <a:tc>
                  <a:txBody>
                    <a:bodyPr/>
                    <a:lstStyle/>
                    <a:p>
                      <a:r>
                        <a:rPr kumimoji="0" lang="es-CO" sz="1400" b="0" i="0" u="none" strike="noStrike" kern="1200" cap="none" spc="0" normalizeH="0" baseline="0" noProof="0" dirty="0">
                          <a:ln>
                            <a:noFill/>
                          </a:ln>
                          <a:solidFill>
                            <a:srgbClr val="000000"/>
                          </a:solidFill>
                          <a:effectLst/>
                          <a:uLnTx/>
                          <a:uFillTx/>
                          <a:latin typeface="Liter" panose="020B0604020202020204" charset="0"/>
                          <a:ea typeface="+mn-ea"/>
                          <a:cs typeface="+mn-cs"/>
                        </a:rPr>
                        <a:t>(613860, 3)  (</a:t>
                      </a:r>
                      <a:r>
                        <a:rPr kumimoji="0" lang="es-CO" sz="1400" b="0" i="0" u="none" strike="noStrike" kern="1200" cap="none" spc="0" normalizeH="0" baseline="0" noProof="0" dirty="0" err="1">
                          <a:ln>
                            <a:noFill/>
                          </a:ln>
                          <a:solidFill>
                            <a:srgbClr val="000000"/>
                          </a:solidFill>
                          <a:effectLst/>
                          <a:uLnTx/>
                          <a:uFillTx/>
                          <a:latin typeface="Liter" panose="020B0604020202020204" charset="0"/>
                          <a:ea typeface="+mn-ea"/>
                          <a:cs typeface="+mn-cs"/>
                        </a:rPr>
                        <a:t>n_pixeles</a:t>
                      </a:r>
                      <a:r>
                        <a:rPr kumimoji="0" lang="es-CO" sz="1400" b="0" i="0" u="none" strike="noStrike" kern="1200" cap="none" spc="0" normalizeH="0" baseline="0" noProof="0" dirty="0">
                          <a:ln>
                            <a:noFill/>
                          </a:ln>
                          <a:solidFill>
                            <a:srgbClr val="000000"/>
                          </a:solidFill>
                          <a:effectLst/>
                          <a:uLnTx/>
                          <a:uFillTx/>
                          <a:latin typeface="Liter" panose="020B0604020202020204" charset="0"/>
                          <a:ea typeface="+mn-ea"/>
                          <a:cs typeface="+mn-cs"/>
                        </a:rPr>
                        <a:t>, 3 canales)</a:t>
                      </a:r>
                      <a:endParaRPr lang="es-CO" sz="1400" dirty="0">
                        <a:latin typeface="Liter" panose="020B0604020202020204" charset="0"/>
                      </a:endParaRPr>
                    </a:p>
                  </a:txBody>
                  <a:tcPr/>
                </a:tc>
                <a:extLst>
                  <a:ext uri="{0D108BD9-81ED-4DB2-BD59-A6C34878D82A}">
                    <a16:rowId xmlns:a16="http://schemas.microsoft.com/office/drawing/2014/main" val="3565689009"/>
                  </a:ext>
                </a:extLst>
              </a:tr>
              <a:tr h="291592">
                <a:tc>
                  <a:txBody>
                    <a:bodyPr/>
                    <a:lstStyle/>
                    <a:p>
                      <a:r>
                        <a:rPr lang="pt-BR" sz="1400" dirty="0">
                          <a:latin typeface="Liter" panose="020B0604020202020204" charset="0"/>
                        </a:rPr>
                        <a:t>Rango RGB normalizado:</a:t>
                      </a:r>
                      <a:endParaRPr lang="es-CO" sz="1400" dirty="0">
                        <a:latin typeface="Liter" panose="020B0604020202020204" charset="0"/>
                      </a:endParaRPr>
                    </a:p>
                  </a:txBody>
                  <a:tcPr/>
                </a:tc>
                <a:tc>
                  <a:txBody>
                    <a:bodyPr/>
                    <a:lstStyle/>
                    <a:p>
                      <a:r>
                        <a:rPr kumimoji="0" lang="pt-BR" sz="1400" b="0" i="0" u="none" strike="noStrike" kern="1200" cap="none" spc="0" normalizeH="0" baseline="0" noProof="0" dirty="0">
                          <a:ln>
                            <a:noFill/>
                          </a:ln>
                          <a:solidFill>
                            <a:srgbClr val="000000"/>
                          </a:solidFill>
                          <a:effectLst/>
                          <a:uLnTx/>
                          <a:uFillTx/>
                          <a:latin typeface="Liter" panose="020B0604020202020204" charset="0"/>
                          <a:ea typeface="+mn-ea"/>
                          <a:cs typeface="+mn-cs"/>
                        </a:rPr>
                        <a:t>[0.01, 1.00]</a:t>
                      </a:r>
                      <a:endParaRPr lang="es-CO" sz="1400" dirty="0">
                        <a:latin typeface="Liter" panose="020B0604020202020204" charset="0"/>
                      </a:endParaRPr>
                    </a:p>
                  </a:txBody>
                  <a:tcPr/>
                </a:tc>
                <a:extLst>
                  <a:ext uri="{0D108BD9-81ED-4DB2-BD59-A6C34878D82A}">
                    <a16:rowId xmlns:a16="http://schemas.microsoft.com/office/drawing/2014/main" val="1418468284"/>
                  </a:ext>
                </a:extLst>
              </a:tr>
              <a:tr h="291592">
                <a:tc>
                  <a:txBody>
                    <a:bodyPr/>
                    <a:lstStyle/>
                    <a:p>
                      <a:r>
                        <a:rPr lang="pt-BR" sz="1400" dirty="0">
                          <a:latin typeface="Liter" panose="020B0604020202020204" charset="0"/>
                        </a:rPr>
                        <a:t>Rango HSV normalizado:</a:t>
                      </a:r>
                      <a:endParaRPr lang="es-CO" sz="1400" dirty="0">
                        <a:latin typeface="Liter" panose="020B0604020202020204" charset="0"/>
                      </a:endParaRPr>
                    </a:p>
                  </a:txBody>
                  <a:tcPr/>
                </a:tc>
                <a:tc>
                  <a:txBody>
                    <a:bodyPr/>
                    <a:lstStyle/>
                    <a:p>
                      <a:r>
                        <a:rPr kumimoji="0" lang="pt-BR" sz="1400" b="0" i="0" u="none" strike="noStrike" kern="1200" cap="none" spc="0" normalizeH="0" baseline="0" noProof="0" dirty="0">
                          <a:ln>
                            <a:noFill/>
                          </a:ln>
                          <a:solidFill>
                            <a:srgbClr val="000000"/>
                          </a:solidFill>
                          <a:effectLst/>
                          <a:uLnTx/>
                          <a:uFillTx/>
                          <a:latin typeface="Liter" panose="020B0604020202020204" charset="0"/>
                          <a:ea typeface="+mn-ea"/>
                          <a:cs typeface="+mn-cs"/>
                        </a:rPr>
                        <a:t>[0.00, 1.00]</a:t>
                      </a:r>
                      <a:endParaRPr lang="es-CO" sz="1400" dirty="0">
                        <a:latin typeface="Liter" panose="020B0604020202020204" charset="0"/>
                      </a:endParaRPr>
                    </a:p>
                  </a:txBody>
                  <a:tcPr/>
                </a:tc>
                <a:extLst>
                  <a:ext uri="{0D108BD9-81ED-4DB2-BD59-A6C34878D82A}">
                    <a16:rowId xmlns:a16="http://schemas.microsoft.com/office/drawing/2014/main" val="2712765933"/>
                  </a:ext>
                </a:extLst>
              </a:tr>
            </a:tbl>
          </a:graphicData>
        </a:graphic>
      </p:graphicFrame>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A0F"/>
        </a:solidFill>
        <a:effectLst/>
      </p:bgPr>
    </p:bg>
    <p:spTree>
      <p:nvGrpSpPr>
        <p:cNvPr id="1" name=""/>
        <p:cNvGrpSpPr/>
        <p:nvPr/>
      </p:nvGrpSpPr>
      <p:grpSpPr>
        <a:xfrm>
          <a:off x="0" y="0"/>
          <a:ext cx="0" cy="0"/>
          <a:chOff x="0" y="0"/>
          <a:chExt cx="0" cy="0"/>
        </a:xfrm>
      </p:grpSpPr>
      <p:sp>
        <p:nvSpPr>
          <p:cNvPr id="2" name="Text 0"/>
          <p:cNvSpPr/>
          <p:nvPr/>
        </p:nvSpPr>
        <p:spPr>
          <a:xfrm>
            <a:off x="762000" y="508000"/>
            <a:ext cx="13970000" cy="571500"/>
          </a:xfrm>
          <a:prstGeom prst="rect">
            <a:avLst/>
          </a:prstGeom>
          <a:noFill/>
          <a:ln/>
        </p:spPr>
        <p:txBody>
          <a:bodyPr wrap="none" lIns="0" tIns="0" rIns="0" bIns="0" rtlCol="0" anchor="ctr"/>
          <a:lstStyle/>
          <a:p>
            <a:pPr>
              <a:lnSpc>
                <a:spcPct val="130000"/>
              </a:lnSpc>
            </a:pPr>
            <a:r>
              <a:rPr lang="en-US" sz="3200" kern="0" spc="50" dirty="0">
                <a:solidFill>
                  <a:srgbClr val="008080"/>
                </a:solidFill>
                <a:latin typeface="QuattrocentoSans" pitchFamily="34" charset="0"/>
                <a:ea typeface="QuattrocentoSans" pitchFamily="34" charset="-122"/>
                <a:cs typeface="QuattrocentoSans" pitchFamily="34" charset="-120"/>
              </a:rPr>
              <a:t>ARQUITECTURA DEL CLUSTERING</a:t>
            </a:r>
            <a:r>
              <a:rPr lang="en-US" sz="3200" kern="0" spc="50" dirty="0">
                <a:solidFill>
                  <a:srgbClr val="FFFFFF"/>
                </a:solidFill>
                <a:latin typeface="QuattrocentoSans" pitchFamily="34" charset="0"/>
                <a:ea typeface="QuattrocentoSans" pitchFamily="34" charset="-122"/>
                <a:cs typeface="QuattrocentoSans" pitchFamily="34" charset="-120"/>
              </a:rPr>
              <a:t> — 3 Clusters Latentes Biomédicos</a:t>
            </a:r>
            <a:endParaRPr lang="en-US" sz="3200" dirty="0"/>
          </a:p>
        </p:txBody>
      </p:sp>
      <p:sp>
        <p:nvSpPr>
          <p:cNvPr id="3" name="Shape 1"/>
          <p:cNvSpPr/>
          <p:nvPr/>
        </p:nvSpPr>
        <p:spPr>
          <a:xfrm>
            <a:off x="762000" y="1168400"/>
            <a:ext cx="14732000" cy="12700"/>
          </a:xfrm>
          <a:prstGeom prst="rect">
            <a:avLst/>
          </a:prstGeom>
          <a:solidFill>
            <a:srgbClr val="2A2A35"/>
          </a:solidFill>
          <a:ln/>
        </p:spPr>
        <p:txBody>
          <a:bodyPr/>
          <a:lstStyle/>
          <a:p>
            <a:endParaRPr lang="es-CO"/>
          </a:p>
        </p:txBody>
      </p:sp>
      <p:sp>
        <p:nvSpPr>
          <p:cNvPr id="4" name="Shape 2"/>
          <p:cNvSpPr/>
          <p:nvPr/>
        </p:nvSpPr>
        <p:spPr>
          <a:xfrm>
            <a:off x="762000" y="1524000"/>
            <a:ext cx="4572000" cy="5334000"/>
          </a:xfrm>
          <a:prstGeom prst="rect">
            <a:avLst/>
          </a:prstGeom>
          <a:solidFill>
            <a:srgbClr val="14141B"/>
          </a:solidFill>
          <a:ln w="12700">
            <a:solidFill>
              <a:srgbClr val="B8860B"/>
            </a:solidFill>
            <a:prstDash val="solid"/>
          </a:ln>
        </p:spPr>
        <p:txBody>
          <a:bodyPr/>
          <a:lstStyle/>
          <a:p>
            <a:endParaRPr lang="es-CO"/>
          </a:p>
        </p:txBody>
      </p:sp>
      <p:sp>
        <p:nvSpPr>
          <p:cNvPr id="5" name="Shape 3"/>
          <p:cNvSpPr/>
          <p:nvPr/>
        </p:nvSpPr>
        <p:spPr>
          <a:xfrm>
            <a:off x="762000" y="1524000"/>
            <a:ext cx="4572000" cy="50800"/>
          </a:xfrm>
          <a:prstGeom prst="rect">
            <a:avLst/>
          </a:prstGeom>
          <a:solidFill>
            <a:srgbClr val="B8860B"/>
          </a:solidFill>
          <a:ln/>
        </p:spPr>
        <p:txBody>
          <a:bodyPr/>
          <a:lstStyle/>
          <a:p>
            <a:endParaRPr lang="es-CO"/>
          </a:p>
        </p:txBody>
      </p:sp>
      <p:sp>
        <p:nvSpPr>
          <p:cNvPr id="6" name="Shape 4"/>
          <p:cNvSpPr/>
          <p:nvPr/>
        </p:nvSpPr>
        <p:spPr>
          <a:xfrm>
            <a:off x="1016000" y="1778000"/>
            <a:ext cx="1778000" cy="355600"/>
          </a:xfrm>
          <a:prstGeom prst="rect">
            <a:avLst/>
          </a:prstGeom>
          <a:solidFill>
            <a:srgbClr val="B8860B"/>
          </a:solidFill>
          <a:ln/>
        </p:spPr>
        <p:txBody>
          <a:bodyPr/>
          <a:lstStyle/>
          <a:p>
            <a:endParaRPr lang="es-CO"/>
          </a:p>
        </p:txBody>
      </p:sp>
      <p:sp>
        <p:nvSpPr>
          <p:cNvPr id="7" name="Text 5"/>
          <p:cNvSpPr/>
          <p:nvPr/>
        </p:nvSpPr>
        <p:spPr>
          <a:xfrm>
            <a:off x="1016000" y="1778000"/>
            <a:ext cx="1778000" cy="355600"/>
          </a:xfrm>
          <a:prstGeom prst="rect">
            <a:avLst/>
          </a:prstGeom>
          <a:noFill/>
          <a:ln/>
        </p:spPr>
        <p:txBody>
          <a:bodyPr wrap="none" lIns="0" tIns="0" rIns="0" bIns="0" rtlCol="0" anchor="ctr"/>
          <a:lstStyle/>
          <a:p>
            <a:pPr algn="ctr">
              <a:lnSpc>
                <a:spcPct val="100000"/>
              </a:lnSpc>
            </a:pPr>
            <a:r>
              <a:rPr lang="en-US" sz="1400" b="1" dirty="0">
                <a:solidFill>
                  <a:srgbClr val="FFFFFF"/>
                </a:solidFill>
                <a:latin typeface="Quattrocento Sans" pitchFamily="34" charset="0"/>
                <a:ea typeface="Quattrocento Sans" pitchFamily="34" charset="-122"/>
                <a:cs typeface="Quattrocento Sans" pitchFamily="34" charset="-120"/>
              </a:rPr>
              <a:t>CLUSTER 1</a:t>
            </a:r>
            <a:endParaRPr lang="en-US" sz="1600" dirty="0"/>
          </a:p>
        </p:txBody>
      </p:sp>
      <p:sp>
        <p:nvSpPr>
          <p:cNvPr id="8" name="Text 6"/>
          <p:cNvSpPr/>
          <p:nvPr/>
        </p:nvSpPr>
        <p:spPr>
          <a:xfrm>
            <a:off x="1016000" y="2286000"/>
            <a:ext cx="4064000" cy="381000"/>
          </a:xfrm>
          <a:prstGeom prst="rect">
            <a:avLst/>
          </a:prstGeom>
          <a:noFill/>
          <a:ln/>
        </p:spPr>
        <p:txBody>
          <a:bodyPr wrap="none" lIns="0" tIns="0" rIns="0" bIns="0" rtlCol="0" anchor="ctr"/>
          <a:lstStyle/>
          <a:p>
            <a:pPr>
              <a:lnSpc>
                <a:spcPct val="100000"/>
              </a:lnSpc>
            </a:pPr>
            <a:r>
              <a:rPr lang="en-US" sz="2000" b="1" dirty="0">
                <a:solidFill>
                  <a:srgbClr val="B8860B"/>
                </a:solidFill>
                <a:latin typeface="Quattrocento Sans" pitchFamily="34" charset="0"/>
                <a:ea typeface="Quattrocento Sans" pitchFamily="34" charset="-122"/>
                <a:cs typeface="Quattrocento Sans" pitchFamily="34" charset="-120"/>
              </a:rPr>
              <a:t>DAB POSITIVO</a:t>
            </a:r>
            <a:endParaRPr lang="en-US" sz="1600" dirty="0"/>
          </a:p>
        </p:txBody>
      </p:sp>
      <p:sp>
        <p:nvSpPr>
          <p:cNvPr id="9" name="Text 7"/>
          <p:cNvSpPr/>
          <p:nvPr/>
        </p:nvSpPr>
        <p:spPr>
          <a:xfrm>
            <a:off x="1016000" y="2717800"/>
            <a:ext cx="4064000" cy="279400"/>
          </a:xfrm>
          <a:prstGeom prst="rect">
            <a:avLst/>
          </a:prstGeom>
          <a:noFill/>
          <a:ln/>
        </p:spPr>
        <p:txBody>
          <a:bodyPr wrap="none" lIns="0" tIns="0" rIns="0" bIns="0" rtlCol="0" anchor="ctr"/>
          <a:lstStyle/>
          <a:p>
            <a:pPr>
              <a:lnSpc>
                <a:spcPct val="150000"/>
              </a:lnSpc>
            </a:pPr>
            <a:r>
              <a:rPr lang="en-US" sz="1600" dirty="0">
                <a:solidFill>
                  <a:srgbClr val="9CA3AF"/>
                </a:solidFill>
                <a:latin typeface="Liter" pitchFamily="34" charset="0"/>
                <a:ea typeface="Liter" pitchFamily="34" charset="-122"/>
                <a:cs typeface="Liter" pitchFamily="34" charset="-120"/>
              </a:rPr>
              <a:t>Marrón / Tumor / TP53+</a:t>
            </a:r>
            <a:endParaRPr lang="en-US" sz="1600" dirty="0"/>
          </a:p>
        </p:txBody>
      </p:sp>
      <p:sp>
        <p:nvSpPr>
          <p:cNvPr id="10" name="Shape 8"/>
          <p:cNvSpPr/>
          <p:nvPr/>
        </p:nvSpPr>
        <p:spPr>
          <a:xfrm>
            <a:off x="1016000" y="3098800"/>
            <a:ext cx="4064000" cy="12700"/>
          </a:xfrm>
          <a:prstGeom prst="rect">
            <a:avLst/>
          </a:prstGeom>
          <a:solidFill>
            <a:srgbClr val="2A2A35"/>
          </a:solidFill>
          <a:ln/>
        </p:spPr>
        <p:txBody>
          <a:bodyPr/>
          <a:lstStyle/>
          <a:p>
            <a:endParaRPr lang="es-CO"/>
          </a:p>
        </p:txBody>
      </p:sp>
      <p:sp>
        <p:nvSpPr>
          <p:cNvPr id="11" name="Text 9"/>
          <p:cNvSpPr/>
          <p:nvPr/>
        </p:nvSpPr>
        <p:spPr>
          <a:xfrm>
            <a:off x="1016000" y="3251200"/>
            <a:ext cx="4064000" cy="1143000"/>
          </a:xfrm>
          <a:prstGeom prst="rect">
            <a:avLst/>
          </a:prstGeom>
          <a:noFill/>
          <a:ln/>
        </p:spPr>
        <p:txBody>
          <a:bodyPr wrap="square" lIns="0" tIns="0" rIns="0" bIns="0" rtlCol="0" anchor="t"/>
          <a:lstStyle/>
          <a:p>
            <a:pPr>
              <a:lnSpc>
                <a:spcPct val="150000"/>
              </a:lnSpc>
            </a:pPr>
            <a:r>
              <a:rPr lang="en-US" sz="1600" b="1" dirty="0">
                <a:solidFill>
                  <a:srgbClr val="9CA3AF"/>
                </a:solidFill>
                <a:latin typeface="Liter" pitchFamily="34" charset="0"/>
                <a:ea typeface="Liter" pitchFamily="34" charset="-122"/>
                <a:cs typeface="Liter" pitchFamily="34" charset="-120"/>
              </a:rPr>
              <a:t>Centroides RGB:</a:t>
            </a:r>
            <a:endParaRPr lang="en-US" sz="1600" dirty="0"/>
          </a:p>
          <a:p>
            <a:pPr>
              <a:lnSpc>
                <a:spcPct val="150000"/>
              </a:lnSpc>
            </a:pPr>
            <a:r>
              <a:rPr lang="en-US" sz="1600" dirty="0">
                <a:solidFill>
                  <a:srgbClr val="9CA3AF"/>
                </a:solidFill>
                <a:latin typeface="Liter" pitchFamily="34" charset="0"/>
                <a:ea typeface="Liter" pitchFamily="34" charset="-122"/>
                <a:cs typeface="Liter" pitchFamily="34" charset="-120"/>
              </a:rPr>
              <a:t>R=115 G=94 B=93</a:t>
            </a:r>
            <a:endParaRPr lang="en-US" sz="1600" dirty="0"/>
          </a:p>
          <a:p>
            <a:pPr>
              <a:lnSpc>
                <a:spcPct val="150000"/>
              </a:lnSpc>
            </a:pPr>
            <a:r>
              <a:rPr lang="en-US" sz="1600" dirty="0">
                <a:solidFill>
                  <a:srgbClr val="B8860B"/>
                </a:solidFill>
                <a:latin typeface="Liter" pitchFamily="34" charset="0"/>
                <a:ea typeface="Liter" pitchFamily="34" charset="-122"/>
                <a:cs typeface="Liter" pitchFamily="34" charset="-120"/>
              </a:rPr>
              <a:t>R-B = +22 (tinte cálido)</a:t>
            </a:r>
            <a:endParaRPr lang="en-US" sz="1600" dirty="0"/>
          </a:p>
        </p:txBody>
      </p:sp>
      <p:sp>
        <p:nvSpPr>
          <p:cNvPr id="12" name="Text 10"/>
          <p:cNvSpPr/>
          <p:nvPr/>
        </p:nvSpPr>
        <p:spPr>
          <a:xfrm>
            <a:off x="1016000" y="4521200"/>
            <a:ext cx="4064000" cy="2032000"/>
          </a:xfrm>
          <a:prstGeom prst="rect">
            <a:avLst/>
          </a:prstGeom>
          <a:noFill/>
          <a:ln/>
        </p:spPr>
        <p:txBody>
          <a:bodyPr wrap="square" lIns="0" tIns="0" rIns="0" bIns="0" rtlCol="0" anchor="t"/>
          <a:lstStyle/>
          <a:p>
            <a:pPr>
              <a:lnSpc>
                <a:spcPct val="150000"/>
              </a:lnSpc>
            </a:pPr>
            <a:r>
              <a:rPr lang="en-US" sz="1600" b="1" dirty="0">
                <a:solidFill>
                  <a:srgbClr val="9CA3AF"/>
                </a:solidFill>
                <a:latin typeface="Liter" pitchFamily="34" charset="0"/>
                <a:ea typeface="Liter" pitchFamily="34" charset="-122"/>
                <a:cs typeface="Liter" pitchFamily="34" charset="-120"/>
              </a:rPr>
              <a:t>Biología:</a:t>
            </a:r>
            <a:r>
              <a:rPr lang="en-US" sz="1600" dirty="0">
                <a:solidFill>
                  <a:srgbClr val="9CA3AF"/>
                </a:solidFill>
                <a:latin typeface="Liter" pitchFamily="34" charset="0"/>
                <a:ea typeface="Liter" pitchFamily="34" charset="-122"/>
                <a:cs typeface="Liter" pitchFamily="34" charset="-120"/>
              </a:rPr>
              <a:t> Células con sobreexpresión de TP53. Zonas tumorales activas del epitelio colorrectal. El precipitado DAB marca acumulación nuclear de proteína mutada.</a:t>
            </a:r>
            <a:endParaRPr lang="en-US" sz="1600" dirty="0"/>
          </a:p>
          <a:p>
            <a:pPr>
              <a:lnSpc>
                <a:spcPct val="150000"/>
              </a:lnSpc>
              <a:spcBef>
                <a:spcPts val="800"/>
              </a:spcBef>
            </a:pPr>
            <a:r>
              <a:rPr lang="en-US" sz="1600" b="1" dirty="0">
                <a:solidFill>
                  <a:srgbClr val="9CA3AF"/>
                </a:solidFill>
                <a:latin typeface="Liter" pitchFamily="34" charset="0"/>
                <a:ea typeface="Liter" pitchFamily="34" charset="-122"/>
                <a:cs typeface="Liter" pitchFamily="34" charset="-120"/>
              </a:rPr>
              <a:t>Área:</a:t>
            </a:r>
            <a:r>
              <a:rPr lang="en-US" sz="1600" dirty="0">
                <a:solidFill>
                  <a:srgbClr val="9CA3AF"/>
                </a:solidFill>
                <a:latin typeface="Liter" pitchFamily="34" charset="0"/>
                <a:ea typeface="Liter" pitchFamily="34" charset="-122"/>
                <a:cs typeface="Liter" pitchFamily="34" charset="-120"/>
              </a:rPr>
              <a:t> 29.2% (179,247 píxeles)</a:t>
            </a:r>
            <a:endParaRPr lang="en-US" sz="1600" dirty="0"/>
          </a:p>
        </p:txBody>
      </p:sp>
      <p:sp>
        <p:nvSpPr>
          <p:cNvPr id="13" name="Shape 11"/>
          <p:cNvSpPr/>
          <p:nvPr/>
        </p:nvSpPr>
        <p:spPr>
          <a:xfrm>
            <a:off x="5842000" y="1524000"/>
            <a:ext cx="4572000" cy="5334000"/>
          </a:xfrm>
          <a:prstGeom prst="rect">
            <a:avLst/>
          </a:prstGeom>
          <a:solidFill>
            <a:srgbClr val="14141B"/>
          </a:solidFill>
          <a:ln w="12700">
            <a:solidFill>
              <a:srgbClr val="6A5ACD"/>
            </a:solidFill>
            <a:prstDash val="solid"/>
          </a:ln>
        </p:spPr>
        <p:txBody>
          <a:bodyPr/>
          <a:lstStyle/>
          <a:p>
            <a:endParaRPr lang="es-CO"/>
          </a:p>
        </p:txBody>
      </p:sp>
      <p:sp>
        <p:nvSpPr>
          <p:cNvPr id="14" name="Shape 12"/>
          <p:cNvSpPr/>
          <p:nvPr/>
        </p:nvSpPr>
        <p:spPr>
          <a:xfrm>
            <a:off x="5842000" y="1524000"/>
            <a:ext cx="4572000" cy="50800"/>
          </a:xfrm>
          <a:prstGeom prst="rect">
            <a:avLst/>
          </a:prstGeom>
          <a:solidFill>
            <a:srgbClr val="6A5ACD"/>
          </a:solidFill>
          <a:ln/>
        </p:spPr>
        <p:txBody>
          <a:bodyPr/>
          <a:lstStyle/>
          <a:p>
            <a:endParaRPr lang="es-CO"/>
          </a:p>
        </p:txBody>
      </p:sp>
      <p:sp>
        <p:nvSpPr>
          <p:cNvPr id="15" name="Shape 13"/>
          <p:cNvSpPr/>
          <p:nvPr/>
        </p:nvSpPr>
        <p:spPr>
          <a:xfrm>
            <a:off x="6096000" y="1778000"/>
            <a:ext cx="1778000" cy="355600"/>
          </a:xfrm>
          <a:prstGeom prst="rect">
            <a:avLst/>
          </a:prstGeom>
          <a:solidFill>
            <a:srgbClr val="6A5ACD"/>
          </a:solidFill>
          <a:ln/>
        </p:spPr>
        <p:txBody>
          <a:bodyPr/>
          <a:lstStyle/>
          <a:p>
            <a:endParaRPr lang="es-CO"/>
          </a:p>
        </p:txBody>
      </p:sp>
      <p:sp>
        <p:nvSpPr>
          <p:cNvPr id="16" name="Text 14"/>
          <p:cNvSpPr/>
          <p:nvPr/>
        </p:nvSpPr>
        <p:spPr>
          <a:xfrm>
            <a:off x="6096000" y="1778000"/>
            <a:ext cx="1778000" cy="355600"/>
          </a:xfrm>
          <a:prstGeom prst="rect">
            <a:avLst/>
          </a:prstGeom>
          <a:noFill/>
          <a:ln/>
        </p:spPr>
        <p:txBody>
          <a:bodyPr wrap="none" lIns="0" tIns="0" rIns="0" bIns="0" rtlCol="0" anchor="ctr"/>
          <a:lstStyle/>
          <a:p>
            <a:pPr algn="ctr">
              <a:lnSpc>
                <a:spcPct val="100000"/>
              </a:lnSpc>
            </a:pPr>
            <a:r>
              <a:rPr lang="en-US" sz="1400" b="1" dirty="0">
                <a:solidFill>
                  <a:srgbClr val="FFFFFF"/>
                </a:solidFill>
                <a:latin typeface="Quattrocento Sans" pitchFamily="34" charset="0"/>
                <a:ea typeface="Quattrocento Sans" pitchFamily="34" charset="-122"/>
                <a:cs typeface="Quattrocento Sans" pitchFamily="34" charset="-120"/>
              </a:rPr>
              <a:t>CLUSTER 2</a:t>
            </a:r>
            <a:endParaRPr lang="en-US" sz="1600" dirty="0"/>
          </a:p>
        </p:txBody>
      </p:sp>
      <p:sp>
        <p:nvSpPr>
          <p:cNvPr id="17" name="Text 15"/>
          <p:cNvSpPr/>
          <p:nvPr/>
        </p:nvSpPr>
        <p:spPr>
          <a:xfrm>
            <a:off x="6096000" y="2286000"/>
            <a:ext cx="4064000" cy="381000"/>
          </a:xfrm>
          <a:prstGeom prst="rect">
            <a:avLst/>
          </a:prstGeom>
          <a:noFill/>
          <a:ln/>
        </p:spPr>
        <p:txBody>
          <a:bodyPr wrap="none" lIns="0" tIns="0" rIns="0" bIns="0" rtlCol="0" anchor="ctr"/>
          <a:lstStyle/>
          <a:p>
            <a:pPr>
              <a:lnSpc>
                <a:spcPct val="100000"/>
              </a:lnSpc>
            </a:pPr>
            <a:r>
              <a:rPr lang="en-US" sz="2000" b="1" dirty="0">
                <a:solidFill>
                  <a:srgbClr val="6A5ACD"/>
                </a:solidFill>
                <a:latin typeface="Quattrocento Sans" pitchFamily="34" charset="0"/>
                <a:ea typeface="Quattrocento Sans" pitchFamily="34" charset="-122"/>
                <a:cs typeface="Quattrocento Sans" pitchFamily="34" charset="-120"/>
              </a:rPr>
              <a:t>HEMATOXILINA</a:t>
            </a:r>
            <a:endParaRPr lang="en-US" sz="1600" dirty="0"/>
          </a:p>
        </p:txBody>
      </p:sp>
      <p:sp>
        <p:nvSpPr>
          <p:cNvPr id="18" name="Text 16"/>
          <p:cNvSpPr/>
          <p:nvPr/>
        </p:nvSpPr>
        <p:spPr>
          <a:xfrm>
            <a:off x="6096000" y="2717800"/>
            <a:ext cx="4064000" cy="279400"/>
          </a:xfrm>
          <a:prstGeom prst="rect">
            <a:avLst/>
          </a:prstGeom>
          <a:noFill/>
          <a:ln/>
        </p:spPr>
        <p:txBody>
          <a:bodyPr wrap="none" lIns="0" tIns="0" rIns="0" bIns="0" rtlCol="0" anchor="ctr"/>
          <a:lstStyle/>
          <a:p>
            <a:pPr>
              <a:lnSpc>
                <a:spcPct val="150000"/>
              </a:lnSpc>
            </a:pPr>
            <a:r>
              <a:rPr lang="en-US" sz="1600" dirty="0">
                <a:solidFill>
                  <a:srgbClr val="9CA3AF"/>
                </a:solidFill>
                <a:latin typeface="Liter" pitchFamily="34" charset="0"/>
                <a:ea typeface="Liter" pitchFamily="34" charset="-122"/>
                <a:cs typeface="Liter" pitchFamily="34" charset="-120"/>
              </a:rPr>
              <a:t>Azul / Estroma Sano / TP53-</a:t>
            </a:r>
            <a:endParaRPr lang="en-US" sz="1600" dirty="0"/>
          </a:p>
        </p:txBody>
      </p:sp>
      <p:sp>
        <p:nvSpPr>
          <p:cNvPr id="19" name="Shape 17"/>
          <p:cNvSpPr/>
          <p:nvPr/>
        </p:nvSpPr>
        <p:spPr>
          <a:xfrm>
            <a:off x="6096000" y="3098800"/>
            <a:ext cx="4064000" cy="12700"/>
          </a:xfrm>
          <a:prstGeom prst="rect">
            <a:avLst/>
          </a:prstGeom>
          <a:solidFill>
            <a:srgbClr val="2A2A35"/>
          </a:solidFill>
          <a:ln/>
        </p:spPr>
        <p:txBody>
          <a:bodyPr/>
          <a:lstStyle/>
          <a:p>
            <a:endParaRPr lang="es-CO"/>
          </a:p>
        </p:txBody>
      </p:sp>
      <p:sp>
        <p:nvSpPr>
          <p:cNvPr id="20" name="Text 18"/>
          <p:cNvSpPr/>
          <p:nvPr/>
        </p:nvSpPr>
        <p:spPr>
          <a:xfrm>
            <a:off x="6096000" y="3251200"/>
            <a:ext cx="4064000" cy="1143000"/>
          </a:xfrm>
          <a:prstGeom prst="rect">
            <a:avLst/>
          </a:prstGeom>
          <a:noFill/>
          <a:ln/>
        </p:spPr>
        <p:txBody>
          <a:bodyPr wrap="square" lIns="0" tIns="0" rIns="0" bIns="0" rtlCol="0" anchor="t"/>
          <a:lstStyle/>
          <a:p>
            <a:pPr>
              <a:lnSpc>
                <a:spcPct val="150000"/>
              </a:lnSpc>
            </a:pPr>
            <a:r>
              <a:rPr lang="en-US" sz="1600" b="1" dirty="0">
                <a:solidFill>
                  <a:srgbClr val="9CA3AF"/>
                </a:solidFill>
                <a:latin typeface="Liter" pitchFamily="34" charset="0"/>
                <a:ea typeface="Liter" pitchFamily="34" charset="-122"/>
                <a:cs typeface="Liter" pitchFamily="34" charset="-120"/>
              </a:rPr>
              <a:t>Centroides RGB:</a:t>
            </a:r>
            <a:endParaRPr lang="en-US" sz="1600" dirty="0"/>
          </a:p>
          <a:p>
            <a:pPr>
              <a:lnSpc>
                <a:spcPct val="150000"/>
              </a:lnSpc>
            </a:pPr>
            <a:r>
              <a:rPr lang="en-US" sz="1600" dirty="0">
                <a:solidFill>
                  <a:srgbClr val="9CA3AF"/>
                </a:solidFill>
                <a:latin typeface="Liter" pitchFamily="34" charset="0"/>
                <a:ea typeface="Liter" pitchFamily="34" charset="-122"/>
                <a:cs typeface="Liter" pitchFamily="34" charset="-120"/>
              </a:rPr>
              <a:t>R=175 G=166 B=178</a:t>
            </a:r>
            <a:endParaRPr lang="en-US" sz="1600" dirty="0"/>
          </a:p>
          <a:p>
            <a:pPr>
              <a:lnSpc>
                <a:spcPct val="150000"/>
              </a:lnSpc>
            </a:pPr>
            <a:r>
              <a:rPr lang="en-US" sz="1600" dirty="0">
                <a:solidFill>
                  <a:srgbClr val="6A5ACD"/>
                </a:solidFill>
                <a:latin typeface="Liter" pitchFamily="34" charset="0"/>
                <a:ea typeface="Liter" pitchFamily="34" charset="-122"/>
                <a:cs typeface="Liter" pitchFamily="34" charset="-120"/>
              </a:rPr>
              <a:t>R-B = -3 (tinte frío)</a:t>
            </a:r>
            <a:endParaRPr lang="en-US" sz="1600" dirty="0"/>
          </a:p>
        </p:txBody>
      </p:sp>
      <p:sp>
        <p:nvSpPr>
          <p:cNvPr id="21" name="Text 19"/>
          <p:cNvSpPr/>
          <p:nvPr/>
        </p:nvSpPr>
        <p:spPr>
          <a:xfrm>
            <a:off x="6096000" y="4521200"/>
            <a:ext cx="4064000" cy="2032000"/>
          </a:xfrm>
          <a:prstGeom prst="rect">
            <a:avLst/>
          </a:prstGeom>
          <a:noFill/>
          <a:ln/>
        </p:spPr>
        <p:txBody>
          <a:bodyPr wrap="square" lIns="0" tIns="0" rIns="0" bIns="0" rtlCol="0" anchor="t"/>
          <a:lstStyle/>
          <a:p>
            <a:pPr>
              <a:lnSpc>
                <a:spcPct val="150000"/>
              </a:lnSpc>
            </a:pPr>
            <a:r>
              <a:rPr lang="en-US" sz="1600" b="1" dirty="0">
                <a:solidFill>
                  <a:srgbClr val="9CA3AF"/>
                </a:solidFill>
                <a:latin typeface="Liter" pitchFamily="34" charset="0"/>
                <a:ea typeface="Liter" pitchFamily="34" charset="-122"/>
                <a:cs typeface="Liter" pitchFamily="34" charset="-120"/>
              </a:rPr>
              <a:t>Biología:</a:t>
            </a:r>
            <a:r>
              <a:rPr lang="en-US" sz="1600" dirty="0">
                <a:solidFill>
                  <a:srgbClr val="9CA3AF"/>
                </a:solidFill>
                <a:latin typeface="Liter" pitchFamily="34" charset="0"/>
                <a:ea typeface="Liter" pitchFamily="34" charset="-122"/>
                <a:cs typeface="Liter" pitchFamily="34" charset="-120"/>
              </a:rPr>
              <a:t> Tejido de soporte negativo. Estroma conectivo y núcleos celulares sin expresión de TP53. Contratinción que delinea la arquitectura tisular.</a:t>
            </a:r>
            <a:endParaRPr lang="en-US" sz="1600" dirty="0"/>
          </a:p>
          <a:p>
            <a:pPr>
              <a:lnSpc>
                <a:spcPct val="150000"/>
              </a:lnSpc>
              <a:spcBef>
                <a:spcPts val="800"/>
              </a:spcBef>
            </a:pPr>
            <a:r>
              <a:rPr lang="en-US" sz="1600" b="1" dirty="0">
                <a:solidFill>
                  <a:srgbClr val="9CA3AF"/>
                </a:solidFill>
                <a:latin typeface="Liter" pitchFamily="34" charset="0"/>
                <a:ea typeface="Liter" pitchFamily="34" charset="-122"/>
                <a:cs typeface="Liter" pitchFamily="34" charset="-120"/>
              </a:rPr>
              <a:t>Área:</a:t>
            </a:r>
            <a:r>
              <a:rPr lang="en-US" sz="1600" dirty="0">
                <a:solidFill>
                  <a:srgbClr val="9CA3AF"/>
                </a:solidFill>
                <a:latin typeface="Liter" pitchFamily="34" charset="0"/>
                <a:ea typeface="Liter" pitchFamily="34" charset="-122"/>
                <a:cs typeface="Liter" pitchFamily="34" charset="-120"/>
              </a:rPr>
              <a:t> 40.5% (248,613 píxeles)</a:t>
            </a:r>
            <a:endParaRPr lang="en-US" sz="1600" dirty="0"/>
          </a:p>
        </p:txBody>
      </p:sp>
      <p:sp>
        <p:nvSpPr>
          <p:cNvPr id="22" name="Shape 20"/>
          <p:cNvSpPr/>
          <p:nvPr/>
        </p:nvSpPr>
        <p:spPr>
          <a:xfrm>
            <a:off x="10922000" y="1524000"/>
            <a:ext cx="4572000" cy="5334000"/>
          </a:xfrm>
          <a:prstGeom prst="rect">
            <a:avLst/>
          </a:prstGeom>
          <a:solidFill>
            <a:srgbClr val="14141B"/>
          </a:solidFill>
          <a:ln w="12700">
            <a:solidFill>
              <a:srgbClr val="9CA3AF"/>
            </a:solidFill>
            <a:prstDash val="solid"/>
          </a:ln>
        </p:spPr>
        <p:txBody>
          <a:bodyPr/>
          <a:lstStyle/>
          <a:p>
            <a:endParaRPr lang="es-CO"/>
          </a:p>
        </p:txBody>
      </p:sp>
      <p:sp>
        <p:nvSpPr>
          <p:cNvPr id="23" name="Shape 21"/>
          <p:cNvSpPr/>
          <p:nvPr/>
        </p:nvSpPr>
        <p:spPr>
          <a:xfrm>
            <a:off x="10922000" y="1524000"/>
            <a:ext cx="4572000" cy="50800"/>
          </a:xfrm>
          <a:prstGeom prst="rect">
            <a:avLst/>
          </a:prstGeom>
          <a:solidFill>
            <a:srgbClr val="9CA3AF"/>
          </a:solidFill>
          <a:ln/>
        </p:spPr>
        <p:txBody>
          <a:bodyPr/>
          <a:lstStyle/>
          <a:p>
            <a:endParaRPr lang="es-CO"/>
          </a:p>
        </p:txBody>
      </p:sp>
      <p:sp>
        <p:nvSpPr>
          <p:cNvPr id="24" name="Shape 22"/>
          <p:cNvSpPr/>
          <p:nvPr/>
        </p:nvSpPr>
        <p:spPr>
          <a:xfrm>
            <a:off x="11176000" y="1778000"/>
            <a:ext cx="1778000" cy="355600"/>
          </a:xfrm>
          <a:prstGeom prst="rect">
            <a:avLst/>
          </a:prstGeom>
          <a:solidFill>
            <a:srgbClr val="9CA3AF"/>
          </a:solidFill>
          <a:ln/>
        </p:spPr>
        <p:txBody>
          <a:bodyPr/>
          <a:lstStyle/>
          <a:p>
            <a:endParaRPr lang="es-CO"/>
          </a:p>
        </p:txBody>
      </p:sp>
      <p:sp>
        <p:nvSpPr>
          <p:cNvPr id="25" name="Text 23"/>
          <p:cNvSpPr/>
          <p:nvPr/>
        </p:nvSpPr>
        <p:spPr>
          <a:xfrm>
            <a:off x="11176000" y="1778000"/>
            <a:ext cx="1778000" cy="355600"/>
          </a:xfrm>
          <a:prstGeom prst="rect">
            <a:avLst/>
          </a:prstGeom>
          <a:noFill/>
          <a:ln/>
        </p:spPr>
        <p:txBody>
          <a:bodyPr wrap="none" lIns="0" tIns="0" rIns="0" bIns="0" rtlCol="0" anchor="ctr"/>
          <a:lstStyle/>
          <a:p>
            <a:pPr algn="ctr">
              <a:lnSpc>
                <a:spcPct val="100000"/>
              </a:lnSpc>
            </a:pPr>
            <a:r>
              <a:rPr lang="en-US" sz="1400" b="1" dirty="0">
                <a:solidFill>
                  <a:srgbClr val="FFFFFF"/>
                </a:solidFill>
                <a:latin typeface="Quattrocento Sans" pitchFamily="34" charset="0"/>
                <a:ea typeface="Quattrocento Sans" pitchFamily="34" charset="-122"/>
                <a:cs typeface="Quattrocento Sans" pitchFamily="34" charset="-120"/>
              </a:rPr>
              <a:t>CLUSTER 3</a:t>
            </a:r>
            <a:endParaRPr lang="en-US" sz="1600" dirty="0"/>
          </a:p>
        </p:txBody>
      </p:sp>
      <p:sp>
        <p:nvSpPr>
          <p:cNvPr id="26" name="Text 24"/>
          <p:cNvSpPr/>
          <p:nvPr/>
        </p:nvSpPr>
        <p:spPr>
          <a:xfrm>
            <a:off x="11176000" y="2286000"/>
            <a:ext cx="4064000" cy="381000"/>
          </a:xfrm>
          <a:prstGeom prst="rect">
            <a:avLst/>
          </a:prstGeom>
          <a:noFill/>
          <a:ln/>
        </p:spPr>
        <p:txBody>
          <a:bodyPr wrap="none" lIns="0" tIns="0" rIns="0" bIns="0" rtlCol="0" anchor="ctr"/>
          <a:lstStyle/>
          <a:p>
            <a:pPr>
              <a:lnSpc>
                <a:spcPct val="100000"/>
              </a:lnSpc>
            </a:pPr>
            <a:r>
              <a:rPr lang="en-US" sz="2000" b="1" dirty="0">
                <a:solidFill>
                  <a:srgbClr val="9CA3AF"/>
                </a:solidFill>
                <a:latin typeface="Quattrocento Sans" pitchFamily="34" charset="0"/>
                <a:ea typeface="Quattrocento Sans" pitchFamily="34" charset="-122"/>
                <a:cs typeface="Quattrocento Sans" pitchFamily="34" charset="-120"/>
              </a:rPr>
              <a:t>FONDO / LUMEN</a:t>
            </a:r>
            <a:endParaRPr lang="en-US" sz="1600" dirty="0"/>
          </a:p>
        </p:txBody>
      </p:sp>
      <p:sp>
        <p:nvSpPr>
          <p:cNvPr id="27" name="Text 25"/>
          <p:cNvSpPr/>
          <p:nvPr/>
        </p:nvSpPr>
        <p:spPr>
          <a:xfrm>
            <a:off x="11176000" y="2717800"/>
            <a:ext cx="4064000" cy="279400"/>
          </a:xfrm>
          <a:prstGeom prst="rect">
            <a:avLst/>
          </a:prstGeom>
          <a:noFill/>
          <a:ln/>
        </p:spPr>
        <p:txBody>
          <a:bodyPr wrap="none" lIns="0" tIns="0" rIns="0" bIns="0" rtlCol="0" anchor="ctr"/>
          <a:lstStyle/>
          <a:p>
            <a:pPr>
              <a:lnSpc>
                <a:spcPct val="150000"/>
              </a:lnSpc>
            </a:pPr>
            <a:r>
              <a:rPr lang="en-US" sz="1600" dirty="0">
                <a:solidFill>
                  <a:srgbClr val="9CA3AF"/>
                </a:solidFill>
                <a:latin typeface="Liter" pitchFamily="34" charset="0"/>
                <a:ea typeface="Liter" pitchFamily="34" charset="-122"/>
                <a:cs typeface="Liter" pitchFamily="34" charset="-120"/>
              </a:rPr>
              <a:t>Blanco / Vacío / Sin tejido</a:t>
            </a:r>
            <a:endParaRPr lang="en-US" sz="1600" dirty="0"/>
          </a:p>
        </p:txBody>
      </p:sp>
      <p:sp>
        <p:nvSpPr>
          <p:cNvPr id="28" name="Shape 26"/>
          <p:cNvSpPr/>
          <p:nvPr/>
        </p:nvSpPr>
        <p:spPr>
          <a:xfrm>
            <a:off x="11176000" y="3098800"/>
            <a:ext cx="4064000" cy="12700"/>
          </a:xfrm>
          <a:prstGeom prst="rect">
            <a:avLst/>
          </a:prstGeom>
          <a:solidFill>
            <a:srgbClr val="2A2A35"/>
          </a:solidFill>
          <a:ln/>
        </p:spPr>
        <p:txBody>
          <a:bodyPr/>
          <a:lstStyle/>
          <a:p>
            <a:endParaRPr lang="es-CO"/>
          </a:p>
        </p:txBody>
      </p:sp>
      <p:sp>
        <p:nvSpPr>
          <p:cNvPr id="29" name="Text 27"/>
          <p:cNvSpPr/>
          <p:nvPr/>
        </p:nvSpPr>
        <p:spPr>
          <a:xfrm>
            <a:off x="11176000" y="3251200"/>
            <a:ext cx="4064000" cy="1143000"/>
          </a:xfrm>
          <a:prstGeom prst="rect">
            <a:avLst/>
          </a:prstGeom>
          <a:noFill/>
          <a:ln/>
        </p:spPr>
        <p:txBody>
          <a:bodyPr wrap="square" lIns="0" tIns="0" rIns="0" bIns="0" rtlCol="0" anchor="t"/>
          <a:lstStyle/>
          <a:p>
            <a:pPr>
              <a:lnSpc>
                <a:spcPct val="150000"/>
              </a:lnSpc>
            </a:pPr>
            <a:r>
              <a:rPr lang="en-US" sz="1600" b="1" dirty="0">
                <a:solidFill>
                  <a:srgbClr val="9CA3AF"/>
                </a:solidFill>
                <a:latin typeface="Liter" pitchFamily="34" charset="0"/>
                <a:ea typeface="Liter" pitchFamily="34" charset="-122"/>
                <a:cs typeface="Liter" pitchFamily="34" charset="-120"/>
              </a:rPr>
              <a:t>Centroides RGB:</a:t>
            </a:r>
            <a:endParaRPr lang="en-US" sz="1600" dirty="0"/>
          </a:p>
          <a:p>
            <a:pPr>
              <a:lnSpc>
                <a:spcPct val="150000"/>
              </a:lnSpc>
            </a:pPr>
            <a:r>
              <a:rPr lang="en-US" sz="1600" dirty="0">
                <a:solidFill>
                  <a:srgbClr val="9CA3AF"/>
                </a:solidFill>
                <a:latin typeface="Liter" pitchFamily="34" charset="0"/>
                <a:ea typeface="Liter" pitchFamily="34" charset="-122"/>
                <a:cs typeface="Liter" pitchFamily="34" charset="-120"/>
              </a:rPr>
              <a:t>R=231 G=229 B=232</a:t>
            </a:r>
            <a:endParaRPr lang="en-US" sz="1600" dirty="0"/>
          </a:p>
          <a:p>
            <a:pPr>
              <a:lnSpc>
                <a:spcPct val="150000"/>
              </a:lnSpc>
            </a:pPr>
            <a:r>
              <a:rPr lang="en-US" sz="1600" dirty="0">
                <a:solidFill>
                  <a:srgbClr val="9CA3AF"/>
                </a:solidFill>
                <a:latin typeface="Liter" pitchFamily="34" charset="0"/>
                <a:ea typeface="Liter" pitchFamily="34" charset="-122"/>
                <a:cs typeface="Liter" pitchFamily="34" charset="-120"/>
              </a:rPr>
              <a:t>R-B ≈ -1 (neutro)</a:t>
            </a:r>
            <a:endParaRPr lang="en-US" sz="1600" dirty="0"/>
          </a:p>
        </p:txBody>
      </p:sp>
      <p:sp>
        <p:nvSpPr>
          <p:cNvPr id="30" name="Text 28"/>
          <p:cNvSpPr/>
          <p:nvPr/>
        </p:nvSpPr>
        <p:spPr>
          <a:xfrm>
            <a:off x="11176000" y="4521200"/>
            <a:ext cx="4064000" cy="2286000"/>
          </a:xfrm>
          <a:prstGeom prst="rect">
            <a:avLst/>
          </a:prstGeom>
          <a:noFill/>
          <a:ln/>
        </p:spPr>
        <p:txBody>
          <a:bodyPr wrap="square" lIns="0" tIns="0" rIns="0" bIns="0" rtlCol="0" anchor="t"/>
          <a:lstStyle/>
          <a:p>
            <a:pPr>
              <a:lnSpc>
                <a:spcPct val="150000"/>
              </a:lnSpc>
            </a:pPr>
            <a:r>
              <a:rPr lang="en-US" sz="1600" b="1" dirty="0">
                <a:solidFill>
                  <a:srgbClr val="9CA3AF"/>
                </a:solidFill>
                <a:latin typeface="Liter" pitchFamily="34" charset="0"/>
                <a:ea typeface="Liter" pitchFamily="34" charset="-122"/>
                <a:cs typeface="Liter" pitchFamily="34" charset="-120"/>
              </a:rPr>
              <a:t>Biología:</a:t>
            </a:r>
            <a:r>
              <a:rPr lang="en-US" sz="1600" dirty="0">
                <a:solidFill>
                  <a:srgbClr val="9CA3AF"/>
                </a:solidFill>
                <a:latin typeface="Liter" pitchFamily="34" charset="0"/>
                <a:ea typeface="Liter" pitchFamily="34" charset="-122"/>
                <a:cs typeface="Liter" pitchFamily="34" charset="-120"/>
              </a:rPr>
              <a:t> Fondo del portaobjetos y espacios glandulares sin tejido (lumen). Áreas no informativas para el diagnóstico pero críticas para delimitar la región de interés.</a:t>
            </a:r>
            <a:endParaRPr lang="en-US" sz="1600" dirty="0"/>
          </a:p>
          <a:p>
            <a:pPr>
              <a:lnSpc>
                <a:spcPct val="150000"/>
              </a:lnSpc>
              <a:spcBef>
                <a:spcPts val="800"/>
              </a:spcBef>
            </a:pPr>
            <a:r>
              <a:rPr lang="en-US" sz="1600" b="1" dirty="0">
                <a:solidFill>
                  <a:srgbClr val="9CA3AF"/>
                </a:solidFill>
                <a:latin typeface="Liter" pitchFamily="34" charset="0"/>
                <a:ea typeface="Liter" pitchFamily="34" charset="-122"/>
                <a:cs typeface="Liter" pitchFamily="34" charset="-120"/>
              </a:rPr>
              <a:t>Área:</a:t>
            </a:r>
            <a:r>
              <a:rPr lang="en-US" sz="1600" dirty="0">
                <a:solidFill>
                  <a:srgbClr val="9CA3AF"/>
                </a:solidFill>
                <a:latin typeface="Liter" pitchFamily="34" charset="0"/>
                <a:ea typeface="Liter" pitchFamily="34" charset="-122"/>
                <a:cs typeface="Liter" pitchFamily="34" charset="-120"/>
              </a:rPr>
              <a:t> 30.3% (186,000 píxeles)</a:t>
            </a:r>
            <a:endParaRPr lang="en-US" sz="1600" dirty="0"/>
          </a:p>
        </p:txBody>
      </p:sp>
      <p:sp>
        <p:nvSpPr>
          <p:cNvPr id="31" name="Shape 29"/>
          <p:cNvSpPr/>
          <p:nvPr/>
        </p:nvSpPr>
        <p:spPr>
          <a:xfrm>
            <a:off x="762000" y="8763000"/>
            <a:ext cx="14732000" cy="12700"/>
          </a:xfrm>
          <a:prstGeom prst="rect">
            <a:avLst/>
          </a:prstGeom>
          <a:solidFill>
            <a:srgbClr val="2A2A35"/>
          </a:solidFill>
          <a:ln/>
        </p:spPr>
        <p:txBody>
          <a:bodyPr/>
          <a:lstStyle/>
          <a:p>
            <a:endParaRPr lang="es-CO"/>
          </a:p>
        </p:txBody>
      </p:sp>
      <p:sp>
        <p:nvSpPr>
          <p:cNvPr id="32" name="Text 30"/>
          <p:cNvSpPr/>
          <p:nvPr/>
        </p:nvSpPr>
        <p:spPr>
          <a:xfrm>
            <a:off x="762000" y="8839200"/>
            <a:ext cx="7620000" cy="254000"/>
          </a:xfrm>
          <a:prstGeom prst="rect">
            <a:avLst/>
          </a:prstGeom>
          <a:noFill/>
          <a:ln/>
        </p:spPr>
        <p:txBody>
          <a:bodyPr wrap="square" lIns="0" tIns="0" rIns="0" bIns="0" rtlCol="0" anchor="ctr"/>
          <a:lstStyle/>
          <a:p>
            <a:pPr>
              <a:lnSpc>
                <a:spcPct val="140000"/>
              </a:lnSpc>
            </a:pPr>
            <a:endParaRPr lang="en-US" sz="1400" dirty="0"/>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A0F"/>
        </a:solidFill>
        <a:effectLst/>
      </p:bgPr>
    </p:bg>
    <p:spTree>
      <p:nvGrpSpPr>
        <p:cNvPr id="1" name=""/>
        <p:cNvGrpSpPr/>
        <p:nvPr/>
      </p:nvGrpSpPr>
      <p:grpSpPr>
        <a:xfrm>
          <a:off x="0" y="0"/>
          <a:ext cx="0" cy="0"/>
          <a:chOff x="0" y="0"/>
          <a:chExt cx="0" cy="0"/>
        </a:xfrm>
      </p:grpSpPr>
      <p:sp>
        <p:nvSpPr>
          <p:cNvPr id="2" name="Text 0"/>
          <p:cNvSpPr/>
          <p:nvPr/>
        </p:nvSpPr>
        <p:spPr>
          <a:xfrm>
            <a:off x="762000" y="508000"/>
            <a:ext cx="13970000" cy="571500"/>
          </a:xfrm>
          <a:prstGeom prst="rect">
            <a:avLst/>
          </a:prstGeom>
          <a:noFill/>
          <a:ln/>
        </p:spPr>
        <p:txBody>
          <a:bodyPr wrap="none" lIns="0" tIns="0" rIns="0" bIns="0" rtlCol="0" anchor="ctr"/>
          <a:lstStyle/>
          <a:p>
            <a:pPr>
              <a:lnSpc>
                <a:spcPct val="130000"/>
              </a:lnSpc>
            </a:pPr>
            <a:r>
              <a:rPr lang="en-US" sz="3200" kern="0" spc="50" dirty="0">
                <a:solidFill>
                  <a:srgbClr val="008080"/>
                </a:solidFill>
                <a:latin typeface="QuattrocentoSans" pitchFamily="34" charset="0"/>
                <a:ea typeface="QuattrocentoSans" pitchFamily="34" charset="-122"/>
                <a:cs typeface="QuattrocentoSans" pitchFamily="34" charset="-120"/>
              </a:rPr>
              <a:t>RESULTADOS VISUALES</a:t>
            </a:r>
            <a:r>
              <a:rPr lang="en-US" sz="3200" kern="0" spc="50" dirty="0">
                <a:solidFill>
                  <a:srgbClr val="FFFFFF"/>
                </a:solidFill>
                <a:latin typeface="QuattrocentoSans" pitchFamily="34" charset="0"/>
                <a:ea typeface="QuattrocentoSans" pitchFamily="34" charset="-122"/>
                <a:cs typeface="QuattrocentoSans" pitchFamily="34" charset="-120"/>
              </a:rPr>
              <a:t> — Mapeo de Clusters: Original vs Segmentación</a:t>
            </a:r>
            <a:endParaRPr lang="en-US" sz="3200" dirty="0"/>
          </a:p>
        </p:txBody>
      </p:sp>
      <p:sp>
        <p:nvSpPr>
          <p:cNvPr id="3" name="Shape 1"/>
          <p:cNvSpPr/>
          <p:nvPr/>
        </p:nvSpPr>
        <p:spPr>
          <a:xfrm>
            <a:off x="762000" y="1168400"/>
            <a:ext cx="14732000" cy="12700"/>
          </a:xfrm>
          <a:prstGeom prst="rect">
            <a:avLst/>
          </a:prstGeom>
          <a:solidFill>
            <a:srgbClr val="2A2A35"/>
          </a:solidFill>
          <a:ln/>
        </p:spPr>
        <p:txBody>
          <a:bodyPr/>
          <a:lstStyle/>
          <a:p>
            <a:endParaRPr lang="es-CO"/>
          </a:p>
        </p:txBody>
      </p:sp>
      <p:sp>
        <p:nvSpPr>
          <p:cNvPr id="4" name="Text 2"/>
          <p:cNvSpPr/>
          <p:nvPr/>
        </p:nvSpPr>
        <p:spPr>
          <a:xfrm>
            <a:off x="2162174" y="1810604"/>
            <a:ext cx="3946525" cy="355600"/>
          </a:xfrm>
          <a:prstGeom prst="rect">
            <a:avLst/>
          </a:prstGeom>
          <a:noFill/>
          <a:ln/>
        </p:spPr>
        <p:txBody>
          <a:bodyPr wrap="none" lIns="0" tIns="0" rIns="0" bIns="0" rtlCol="0" anchor="ctr"/>
          <a:lstStyle/>
          <a:p>
            <a:pPr algn="ctr">
              <a:lnSpc>
                <a:spcPct val="100000"/>
              </a:lnSpc>
            </a:pPr>
            <a:r>
              <a:rPr lang="en-US" sz="1600" b="1" dirty="0">
                <a:solidFill>
                  <a:srgbClr val="9CA3AF"/>
                </a:solidFill>
                <a:latin typeface="Quattrocento Sans" pitchFamily="34" charset="0"/>
                <a:ea typeface="Quattrocento Sans" pitchFamily="34" charset="-122"/>
                <a:cs typeface="Quattrocento Sans" pitchFamily="34" charset="-120"/>
              </a:rPr>
              <a:t>MICROGRAFÍA ORIGINAL IHC TP53</a:t>
            </a:r>
            <a:endParaRPr lang="en-US" sz="1600" dirty="0"/>
          </a:p>
        </p:txBody>
      </p:sp>
      <p:sp>
        <p:nvSpPr>
          <p:cNvPr id="6" name="Text 3"/>
          <p:cNvSpPr/>
          <p:nvPr/>
        </p:nvSpPr>
        <p:spPr>
          <a:xfrm>
            <a:off x="8969829" y="1759377"/>
            <a:ext cx="4252686" cy="355600"/>
          </a:xfrm>
          <a:prstGeom prst="rect">
            <a:avLst/>
          </a:prstGeom>
          <a:noFill/>
          <a:ln/>
        </p:spPr>
        <p:txBody>
          <a:bodyPr wrap="none" lIns="0" tIns="0" rIns="0" bIns="0" rtlCol="0" anchor="ctr"/>
          <a:lstStyle/>
          <a:p>
            <a:pPr algn="ctr">
              <a:lnSpc>
                <a:spcPct val="100000"/>
              </a:lnSpc>
            </a:pPr>
            <a:r>
              <a:rPr lang="en-US" sz="1600" b="1" dirty="0">
                <a:solidFill>
                  <a:srgbClr val="9CA3AF"/>
                </a:solidFill>
                <a:latin typeface="Quattrocento Sans" pitchFamily="34" charset="0"/>
                <a:ea typeface="Quattrocento Sans" pitchFamily="34" charset="-122"/>
                <a:cs typeface="Quattrocento Sans" pitchFamily="34" charset="-120"/>
              </a:rPr>
              <a:t>MÁSCARA DE SEGMENTACIÓN K-MEANS K=3</a:t>
            </a:r>
            <a:endParaRPr lang="en-US" sz="1600" dirty="0"/>
          </a:p>
        </p:txBody>
      </p:sp>
      <p:sp>
        <p:nvSpPr>
          <p:cNvPr id="8" name="Shape 4"/>
          <p:cNvSpPr/>
          <p:nvPr/>
        </p:nvSpPr>
        <p:spPr>
          <a:xfrm>
            <a:off x="762000" y="7975600"/>
            <a:ext cx="14732000" cy="762000"/>
          </a:xfrm>
          <a:prstGeom prst="rect">
            <a:avLst/>
          </a:prstGeom>
          <a:solidFill>
            <a:srgbClr val="14141B"/>
          </a:solidFill>
          <a:ln w="12700">
            <a:solidFill>
              <a:srgbClr val="008080"/>
            </a:solidFill>
            <a:prstDash val="solid"/>
          </a:ln>
        </p:spPr>
        <p:txBody>
          <a:bodyPr/>
          <a:lstStyle/>
          <a:p>
            <a:endParaRPr lang="es-CO"/>
          </a:p>
        </p:txBody>
      </p:sp>
      <p:sp>
        <p:nvSpPr>
          <p:cNvPr id="9" name="Text 5"/>
          <p:cNvSpPr/>
          <p:nvPr/>
        </p:nvSpPr>
        <p:spPr>
          <a:xfrm>
            <a:off x="1016000" y="8001000"/>
            <a:ext cx="14224000" cy="711200"/>
          </a:xfrm>
          <a:prstGeom prst="rect">
            <a:avLst/>
          </a:prstGeom>
          <a:noFill/>
          <a:ln/>
        </p:spPr>
        <p:txBody>
          <a:bodyPr wrap="square" lIns="0" tIns="0" rIns="0" bIns="0" rtlCol="0" anchor="t"/>
          <a:lstStyle/>
          <a:p>
            <a:pPr>
              <a:lnSpc>
                <a:spcPct val="150000"/>
              </a:lnSpc>
            </a:pPr>
            <a:r>
              <a:rPr lang="en-US" sz="1600" b="1" dirty="0">
                <a:solidFill>
                  <a:srgbClr val="008080"/>
                </a:solidFill>
                <a:latin typeface="Liter" pitchFamily="34" charset="0"/>
                <a:ea typeface="Liter" pitchFamily="34" charset="-122"/>
                <a:cs typeface="Liter" pitchFamily="34" charset="-120"/>
              </a:rPr>
              <a:t>Hallazgo clave:</a:t>
            </a:r>
            <a:r>
              <a:rPr lang="en-US" sz="1600" dirty="0">
                <a:solidFill>
                  <a:srgbClr val="9CA3AF"/>
                </a:solidFill>
                <a:latin typeface="Liter" pitchFamily="34" charset="0"/>
                <a:ea typeface="Liter" pitchFamily="34" charset="-122"/>
                <a:cs typeface="Liter" pitchFamily="34" charset="-120"/>
              </a:rPr>
              <a:t> K-Means reconstruye la morfología glandular y zonas de infiltración tumoral, validando que el color solo es suficiente para segmentación estructural.</a:t>
            </a:r>
            <a:endParaRPr lang="en-US" sz="1600" dirty="0"/>
          </a:p>
        </p:txBody>
      </p:sp>
      <p:sp>
        <p:nvSpPr>
          <p:cNvPr id="10" name="Shape 6"/>
          <p:cNvSpPr/>
          <p:nvPr/>
        </p:nvSpPr>
        <p:spPr>
          <a:xfrm>
            <a:off x="762000" y="8763000"/>
            <a:ext cx="14732000" cy="12700"/>
          </a:xfrm>
          <a:prstGeom prst="rect">
            <a:avLst/>
          </a:prstGeom>
          <a:solidFill>
            <a:srgbClr val="2A2A35"/>
          </a:solidFill>
          <a:ln/>
        </p:spPr>
        <p:txBody>
          <a:bodyPr/>
          <a:lstStyle/>
          <a:p>
            <a:endParaRPr lang="es-CO"/>
          </a:p>
        </p:txBody>
      </p:sp>
      <p:sp>
        <p:nvSpPr>
          <p:cNvPr id="11" name="Text 7"/>
          <p:cNvSpPr/>
          <p:nvPr/>
        </p:nvSpPr>
        <p:spPr>
          <a:xfrm>
            <a:off x="762000" y="8839200"/>
            <a:ext cx="5080000" cy="254000"/>
          </a:xfrm>
          <a:prstGeom prst="rect">
            <a:avLst/>
          </a:prstGeom>
          <a:noFill/>
          <a:ln/>
        </p:spPr>
        <p:txBody>
          <a:bodyPr wrap="none" lIns="0" tIns="0" rIns="0" bIns="0" rtlCol="0" anchor="ctr"/>
          <a:lstStyle/>
          <a:p>
            <a:pPr>
              <a:lnSpc>
                <a:spcPct val="140000"/>
              </a:lnSpc>
            </a:pPr>
            <a:r>
              <a:rPr lang="en-US" sz="1400" dirty="0">
                <a:solidFill>
                  <a:srgbClr val="9CA3AF"/>
                </a:solidFill>
                <a:latin typeface="Liter" pitchFamily="34" charset="0"/>
                <a:ea typeface="Liter" pitchFamily="34" charset="-122"/>
                <a:cs typeface="Liter" pitchFamily="34" charset="-120"/>
              </a:rPr>
              <a:t>Split-Screen: Original (izq) vs Centroides cromáticos (der)</a:t>
            </a:r>
            <a:endParaRPr lang="en-US" sz="1400" dirty="0"/>
          </a:p>
        </p:txBody>
      </p:sp>
      <p:pic>
        <p:nvPicPr>
          <p:cNvPr id="12" name="Imagen 11">
            <a:extLst>
              <a:ext uri="{FF2B5EF4-FFF2-40B4-BE49-F238E27FC236}">
                <a16:creationId xmlns:a16="http://schemas.microsoft.com/office/drawing/2014/main" id="{0EF851FB-F64E-0AEC-DA18-54018D8AD4D2}"/>
              </a:ext>
            </a:extLst>
          </p:cNvPr>
          <p:cNvPicPr>
            <a:picLocks noChangeAspect="1"/>
          </p:cNvPicPr>
          <p:nvPr/>
        </p:nvPicPr>
        <p:blipFill>
          <a:blip r:embed="rId3"/>
          <a:srcRect r="67784"/>
          <a:stretch>
            <a:fillRect/>
          </a:stretch>
        </p:blipFill>
        <p:spPr>
          <a:xfrm>
            <a:off x="1871062" y="2336843"/>
            <a:ext cx="4333796" cy="4558403"/>
          </a:xfrm>
          <a:prstGeom prst="rect">
            <a:avLst/>
          </a:prstGeom>
        </p:spPr>
      </p:pic>
      <p:pic>
        <p:nvPicPr>
          <p:cNvPr id="13" name="Imagen 12">
            <a:extLst>
              <a:ext uri="{FF2B5EF4-FFF2-40B4-BE49-F238E27FC236}">
                <a16:creationId xmlns:a16="http://schemas.microsoft.com/office/drawing/2014/main" id="{23FB8331-A7C2-81B3-E1EF-3D09D2721EB9}"/>
              </a:ext>
            </a:extLst>
          </p:cNvPr>
          <p:cNvPicPr>
            <a:picLocks noChangeAspect="1"/>
          </p:cNvPicPr>
          <p:nvPr/>
        </p:nvPicPr>
        <p:blipFill>
          <a:blip r:embed="rId3"/>
          <a:srcRect l="33457"/>
          <a:stretch>
            <a:fillRect/>
          </a:stretch>
        </p:blipFill>
        <p:spPr>
          <a:xfrm>
            <a:off x="6676571" y="2336842"/>
            <a:ext cx="8951575" cy="4558403"/>
          </a:xfrm>
          <a:prstGeom prst="rect">
            <a:avLst/>
          </a:prstGeom>
        </p:spPr>
      </p:pic>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A0F"/>
        </a:solidFill>
        <a:effectLst/>
      </p:bgPr>
    </p:bg>
    <p:spTree>
      <p:nvGrpSpPr>
        <p:cNvPr id="1" name=""/>
        <p:cNvGrpSpPr/>
        <p:nvPr/>
      </p:nvGrpSpPr>
      <p:grpSpPr>
        <a:xfrm>
          <a:off x="0" y="0"/>
          <a:ext cx="0" cy="0"/>
          <a:chOff x="0" y="0"/>
          <a:chExt cx="0" cy="0"/>
        </a:xfrm>
      </p:grpSpPr>
      <p:sp>
        <p:nvSpPr>
          <p:cNvPr id="2" name="Text 0"/>
          <p:cNvSpPr/>
          <p:nvPr/>
        </p:nvSpPr>
        <p:spPr>
          <a:xfrm>
            <a:off x="762000" y="508000"/>
            <a:ext cx="13970000" cy="571500"/>
          </a:xfrm>
          <a:prstGeom prst="rect">
            <a:avLst/>
          </a:prstGeom>
          <a:noFill/>
          <a:ln/>
        </p:spPr>
        <p:txBody>
          <a:bodyPr wrap="none" lIns="0" tIns="0" rIns="0" bIns="0" rtlCol="0" anchor="ctr"/>
          <a:lstStyle/>
          <a:p>
            <a:pPr>
              <a:lnSpc>
                <a:spcPct val="130000"/>
              </a:lnSpc>
            </a:pPr>
            <a:r>
              <a:rPr lang="en-US" sz="3200" kern="0" spc="50" dirty="0">
                <a:solidFill>
                  <a:srgbClr val="008080"/>
                </a:solidFill>
                <a:latin typeface="QuattrocentoSans" pitchFamily="34" charset="0"/>
                <a:ea typeface="QuattrocentoSans" pitchFamily="34" charset="-122"/>
                <a:cs typeface="QuattrocentoSans" pitchFamily="34" charset="-120"/>
              </a:rPr>
              <a:t>ANÁLISIS CUANTITATIVO</a:t>
            </a:r>
            <a:r>
              <a:rPr lang="en-US" sz="3200" kern="0" spc="50" dirty="0">
                <a:solidFill>
                  <a:srgbClr val="FFFFFF"/>
                </a:solidFill>
                <a:latin typeface="QuattrocentoSans" pitchFamily="34" charset="0"/>
                <a:ea typeface="QuattrocentoSans" pitchFamily="34" charset="-122"/>
                <a:cs typeface="QuattrocentoSans" pitchFamily="34" charset="-120"/>
              </a:rPr>
              <a:t> — Comparativa K-Means vs Mean Shift</a:t>
            </a:r>
            <a:endParaRPr lang="en-US" sz="3200" dirty="0"/>
          </a:p>
        </p:txBody>
      </p:sp>
      <p:sp>
        <p:nvSpPr>
          <p:cNvPr id="3" name="Shape 1"/>
          <p:cNvSpPr/>
          <p:nvPr/>
        </p:nvSpPr>
        <p:spPr>
          <a:xfrm>
            <a:off x="762000" y="1168400"/>
            <a:ext cx="14732000" cy="12700"/>
          </a:xfrm>
          <a:prstGeom prst="rect">
            <a:avLst/>
          </a:prstGeom>
          <a:solidFill>
            <a:srgbClr val="2A2A35"/>
          </a:solidFill>
          <a:ln/>
        </p:spPr>
        <p:txBody>
          <a:bodyPr/>
          <a:lstStyle/>
          <a:p>
            <a:endParaRPr lang="es-CO"/>
          </a:p>
        </p:txBody>
      </p:sp>
      <p:graphicFrame>
        <p:nvGraphicFramePr>
          <p:cNvPr id="9" name="Table 0"/>
          <p:cNvGraphicFramePr>
            <a:graphicFrameLocks noGrp="1"/>
          </p:cNvGraphicFramePr>
          <p:nvPr>
            <p:extLst>
              <p:ext uri="{D42A27DB-BD31-4B8C-83A1-F6EECF244321}">
                <p14:modId xmlns:p14="http://schemas.microsoft.com/office/powerpoint/2010/main" val="552886830"/>
              </p:ext>
            </p:extLst>
          </p:nvPr>
        </p:nvGraphicFramePr>
        <p:xfrm>
          <a:off x="787400" y="1516539"/>
          <a:ext cx="5203370" cy="3394489"/>
        </p:xfrm>
        <a:graphic>
          <a:graphicData uri="http://schemas.openxmlformats.org/drawingml/2006/table">
            <a:tbl>
              <a:tblPr/>
              <a:tblGrid>
                <a:gridCol w="1144742">
                  <a:extLst>
                    <a:ext uri="{9D8B030D-6E8A-4147-A177-3AD203B41FA5}">
                      <a16:colId xmlns:a16="http://schemas.microsoft.com/office/drawing/2014/main" val="20000"/>
                    </a:ext>
                  </a:extLst>
                </a:gridCol>
                <a:gridCol w="2029314">
                  <a:extLst>
                    <a:ext uri="{9D8B030D-6E8A-4147-A177-3AD203B41FA5}">
                      <a16:colId xmlns:a16="http://schemas.microsoft.com/office/drawing/2014/main" val="20001"/>
                    </a:ext>
                  </a:extLst>
                </a:gridCol>
                <a:gridCol w="2029314">
                  <a:extLst>
                    <a:ext uri="{9D8B030D-6E8A-4147-A177-3AD203B41FA5}">
                      <a16:colId xmlns:a16="http://schemas.microsoft.com/office/drawing/2014/main" val="20002"/>
                    </a:ext>
                  </a:extLst>
                </a:gridCol>
              </a:tblGrid>
              <a:tr h="644073">
                <a:tc>
                  <a:txBody>
                    <a:bodyPr/>
                    <a:lstStyle/>
                    <a:p>
                      <a:pPr algn="ctr"/>
                      <a:r>
                        <a:rPr lang="en-US" sz="1400" b="1" u="none" dirty="0">
                          <a:solidFill>
                            <a:srgbClr val="008080"/>
                          </a:solidFill>
                          <a:effectLst>
                            <a:outerShdw blurRad="38100" dist="38100" dir="2700000" algn="tl">
                              <a:srgbClr val="000000">
                                <a:alpha val="43137"/>
                              </a:srgbClr>
                            </a:outerShdw>
                          </a:effectLst>
                          <a:latin typeface="Liter" pitchFamily="34" charset="0"/>
                          <a:ea typeface="Liter" pitchFamily="34" charset="-122"/>
                          <a:cs typeface="Liter" pitchFamily="34" charset="-120"/>
                        </a:rPr>
                        <a:t>Métrica</a:t>
                      </a:r>
                      <a:endParaRPr lang="en-US" sz="1400" dirty="0">
                        <a:effectLst>
                          <a:outerShdw blurRad="38100" dist="38100" dir="2700000" algn="tl">
                            <a:srgbClr val="000000">
                              <a:alpha val="43137"/>
                            </a:srgbClr>
                          </a:outerShdw>
                        </a:effectLst>
                        <a:latin typeface="Liter" charset="0"/>
                        <a:ea typeface="Liter" charset="0"/>
                        <a:cs typeface="Liter" charset="0"/>
                      </a:endParaRPr>
                    </a:p>
                  </a:txBody>
                  <a:tcPr marT="0" marB="0" anchor="ctr">
                    <a:lnL w="12700" cap="flat" cmpd="sng" algn="ctr">
                      <a:solidFill>
                        <a:srgbClr val="2A2A35"/>
                      </a:solidFill>
                      <a:prstDash val="solid"/>
                      <a:round/>
                      <a:headEnd type="none" w="med" len="med"/>
                      <a:tailEnd type="none" w="med" len="med"/>
                    </a:lnL>
                    <a:lnR w="12700" cap="flat" cmpd="sng" algn="ctr">
                      <a:solidFill>
                        <a:srgbClr val="2A2A35"/>
                      </a:solidFill>
                      <a:prstDash val="solid"/>
                      <a:round/>
                      <a:headEnd type="none" w="med" len="med"/>
                      <a:tailEnd type="none" w="med" len="med"/>
                    </a:lnR>
                    <a:lnT w="12700" cap="flat" cmpd="sng" algn="ctr">
                      <a:solidFill>
                        <a:srgbClr val="2A2A35"/>
                      </a:solidFill>
                      <a:prstDash val="solid"/>
                      <a:round/>
                      <a:headEnd type="none" w="med" len="med"/>
                      <a:tailEnd type="none" w="med" len="med"/>
                    </a:lnT>
                    <a:lnB w="12700" cap="flat" cmpd="sng" algn="ctr">
                      <a:solidFill>
                        <a:srgbClr val="2A2A35"/>
                      </a:solidFill>
                      <a:prstDash val="solid"/>
                      <a:round/>
                      <a:headEnd type="none" w="med" len="med"/>
                      <a:tailEnd type="none" w="med" len="med"/>
                    </a:lnB>
                    <a:solidFill>
                      <a:srgbClr val="1E1E28"/>
                    </a:solidFill>
                  </a:tcPr>
                </a:tc>
                <a:tc>
                  <a:txBody>
                    <a:bodyPr/>
                    <a:lstStyle/>
                    <a:p>
                      <a:pPr algn="ctr"/>
                      <a:r>
                        <a:rPr lang="en-US" sz="1400" b="1" u="none" dirty="0">
                          <a:solidFill>
                            <a:srgbClr val="008080"/>
                          </a:solidFill>
                          <a:effectLst>
                            <a:outerShdw blurRad="38100" dist="38100" dir="2700000" algn="tl">
                              <a:srgbClr val="000000">
                                <a:alpha val="43137"/>
                              </a:srgbClr>
                            </a:outerShdw>
                          </a:effectLst>
                          <a:latin typeface="Liter" pitchFamily="34" charset="0"/>
                          <a:ea typeface="Liter" pitchFamily="34" charset="-122"/>
                          <a:cs typeface="Liter" pitchFamily="34" charset="-120"/>
                        </a:rPr>
                        <a:t>K-Means (K=3)</a:t>
                      </a:r>
                      <a:endParaRPr lang="en-US" sz="1400" dirty="0">
                        <a:effectLst>
                          <a:outerShdw blurRad="38100" dist="38100" dir="2700000" algn="tl">
                            <a:srgbClr val="000000">
                              <a:alpha val="43137"/>
                            </a:srgbClr>
                          </a:outerShdw>
                        </a:effectLst>
                        <a:latin typeface="Liter" charset="0"/>
                        <a:ea typeface="Liter" charset="0"/>
                        <a:cs typeface="Liter" charset="0"/>
                      </a:endParaRPr>
                    </a:p>
                  </a:txBody>
                  <a:tcPr marT="0" marB="0" anchor="ctr">
                    <a:lnL w="12700" cap="flat" cmpd="sng" algn="ctr">
                      <a:solidFill>
                        <a:srgbClr val="2A2A35"/>
                      </a:solidFill>
                      <a:prstDash val="solid"/>
                      <a:round/>
                      <a:headEnd type="none" w="med" len="med"/>
                      <a:tailEnd type="none" w="med" len="med"/>
                    </a:lnL>
                    <a:lnR w="12700" cap="flat" cmpd="sng" algn="ctr">
                      <a:solidFill>
                        <a:srgbClr val="2A2A35"/>
                      </a:solidFill>
                      <a:prstDash val="solid"/>
                      <a:round/>
                      <a:headEnd type="none" w="med" len="med"/>
                      <a:tailEnd type="none" w="med" len="med"/>
                    </a:lnR>
                    <a:lnT w="12700" cap="flat" cmpd="sng" algn="ctr">
                      <a:solidFill>
                        <a:srgbClr val="2A2A35"/>
                      </a:solidFill>
                      <a:prstDash val="solid"/>
                      <a:round/>
                      <a:headEnd type="none" w="med" len="med"/>
                      <a:tailEnd type="none" w="med" len="med"/>
                    </a:lnT>
                    <a:lnB w="12700" cap="flat" cmpd="sng" algn="ctr">
                      <a:solidFill>
                        <a:srgbClr val="2A2A35"/>
                      </a:solidFill>
                      <a:prstDash val="solid"/>
                      <a:round/>
                      <a:headEnd type="none" w="med" len="med"/>
                      <a:tailEnd type="none" w="med" len="med"/>
                    </a:lnB>
                    <a:solidFill>
                      <a:srgbClr val="1E1E28"/>
                    </a:solidFill>
                  </a:tcPr>
                </a:tc>
                <a:tc>
                  <a:txBody>
                    <a:bodyPr/>
                    <a:lstStyle/>
                    <a:p>
                      <a:pPr algn="ctr"/>
                      <a:r>
                        <a:rPr lang="en-US" sz="1400" b="1" u="none" dirty="0">
                          <a:solidFill>
                            <a:srgbClr val="008080"/>
                          </a:solidFill>
                          <a:effectLst>
                            <a:outerShdw blurRad="38100" dist="38100" dir="2700000" algn="tl">
                              <a:srgbClr val="000000">
                                <a:alpha val="43137"/>
                              </a:srgbClr>
                            </a:outerShdw>
                          </a:effectLst>
                          <a:latin typeface="Liter" pitchFamily="34" charset="0"/>
                          <a:ea typeface="Liter" pitchFamily="34" charset="-122"/>
                          <a:cs typeface="Liter" pitchFamily="34" charset="-120"/>
                        </a:rPr>
                        <a:t>Mean Shift</a:t>
                      </a:r>
                      <a:endParaRPr lang="en-US" sz="1400" dirty="0">
                        <a:effectLst>
                          <a:outerShdw blurRad="38100" dist="38100" dir="2700000" algn="tl">
                            <a:srgbClr val="000000">
                              <a:alpha val="43137"/>
                            </a:srgbClr>
                          </a:outerShdw>
                        </a:effectLst>
                        <a:latin typeface="Liter" charset="0"/>
                        <a:ea typeface="Liter" charset="0"/>
                        <a:cs typeface="Liter" charset="0"/>
                      </a:endParaRPr>
                    </a:p>
                  </a:txBody>
                  <a:tcPr marT="0" marB="0" anchor="ctr">
                    <a:lnL w="12700" cap="flat" cmpd="sng" algn="ctr">
                      <a:solidFill>
                        <a:srgbClr val="2A2A35"/>
                      </a:solidFill>
                      <a:prstDash val="solid"/>
                      <a:round/>
                      <a:headEnd type="none" w="med" len="med"/>
                      <a:tailEnd type="none" w="med" len="med"/>
                    </a:lnL>
                    <a:lnR w="12700" cap="flat" cmpd="sng" algn="ctr">
                      <a:solidFill>
                        <a:srgbClr val="2A2A35"/>
                      </a:solidFill>
                      <a:prstDash val="solid"/>
                      <a:round/>
                      <a:headEnd type="none" w="med" len="med"/>
                      <a:tailEnd type="none" w="med" len="med"/>
                    </a:lnR>
                    <a:lnT w="12700" cap="flat" cmpd="sng" algn="ctr">
                      <a:solidFill>
                        <a:srgbClr val="2A2A35"/>
                      </a:solidFill>
                      <a:prstDash val="solid"/>
                      <a:round/>
                      <a:headEnd type="none" w="med" len="med"/>
                      <a:tailEnd type="none" w="med" len="med"/>
                    </a:lnT>
                    <a:lnB w="12700" cap="flat" cmpd="sng" algn="ctr">
                      <a:solidFill>
                        <a:srgbClr val="2A2A35"/>
                      </a:solidFill>
                      <a:prstDash val="solid"/>
                      <a:round/>
                      <a:headEnd type="none" w="med" len="med"/>
                      <a:tailEnd type="none" w="med" len="med"/>
                    </a:lnB>
                    <a:solidFill>
                      <a:srgbClr val="1E1E28"/>
                    </a:solidFill>
                  </a:tcPr>
                </a:tc>
                <a:extLst>
                  <a:ext uri="{0D108BD9-81ED-4DB2-BD59-A6C34878D82A}">
                    <a16:rowId xmlns:a16="http://schemas.microsoft.com/office/drawing/2014/main" val="10000"/>
                  </a:ext>
                </a:extLst>
              </a:tr>
              <a:tr h="522270">
                <a:tc>
                  <a:txBody>
                    <a:bodyPr/>
                    <a:lstStyle/>
                    <a:p>
                      <a:pPr algn="ctr"/>
                      <a:r>
                        <a:rPr lang="en-US" sz="1400" u="none" dirty="0">
                          <a:solidFill>
                            <a:srgbClr val="E8E8E8"/>
                          </a:solidFill>
                          <a:latin typeface="Liter" pitchFamily="34" charset="0"/>
                          <a:ea typeface="Liter" pitchFamily="34" charset="-122"/>
                          <a:cs typeface="Liter" pitchFamily="34" charset="-120"/>
                        </a:rPr>
                        <a:t>N° Clusters</a:t>
                      </a:r>
                      <a:endParaRPr lang="en-US" sz="1400" dirty="0">
                        <a:latin typeface="Liter" charset="0"/>
                        <a:ea typeface="Liter" charset="0"/>
                        <a:cs typeface="Liter" charset="0"/>
                      </a:endParaRPr>
                    </a:p>
                  </a:txBody>
                  <a:tcPr marT="0" marB="0" anchor="ctr">
                    <a:lnL w="12700" cap="flat" cmpd="sng" algn="ctr">
                      <a:solidFill>
                        <a:srgbClr val="2A2A35"/>
                      </a:solidFill>
                      <a:prstDash val="solid"/>
                      <a:round/>
                      <a:headEnd type="none" w="med" len="med"/>
                      <a:tailEnd type="none" w="med" len="med"/>
                    </a:lnL>
                    <a:lnR w="12700" cap="flat" cmpd="sng" algn="ctr">
                      <a:solidFill>
                        <a:srgbClr val="2A2A35"/>
                      </a:solidFill>
                      <a:prstDash val="solid"/>
                      <a:round/>
                      <a:headEnd type="none" w="med" len="med"/>
                      <a:tailEnd type="none" w="med" len="med"/>
                    </a:lnR>
                    <a:lnT w="12700" cap="flat" cmpd="sng" algn="ctr">
                      <a:solidFill>
                        <a:srgbClr val="2A2A35"/>
                      </a:solidFill>
                      <a:prstDash val="solid"/>
                      <a:round/>
                      <a:headEnd type="none" w="med" len="med"/>
                      <a:tailEnd type="none" w="med" len="med"/>
                    </a:lnT>
                    <a:lnB w="12700" cap="flat" cmpd="sng" algn="ctr">
                      <a:solidFill>
                        <a:srgbClr val="2A2A35"/>
                      </a:solidFill>
                      <a:prstDash val="solid"/>
                      <a:round/>
                      <a:headEnd type="none" w="med" len="med"/>
                      <a:tailEnd type="none" w="med" len="med"/>
                    </a:lnB>
                    <a:solidFill>
                      <a:srgbClr val="0A0A0F"/>
                    </a:solidFill>
                  </a:tcPr>
                </a:tc>
                <a:tc>
                  <a:txBody>
                    <a:bodyPr/>
                    <a:lstStyle/>
                    <a:p>
                      <a:pPr algn="ctr"/>
                      <a:r>
                        <a:rPr lang="en-US" sz="1400" u="none" dirty="0">
                          <a:solidFill>
                            <a:srgbClr val="008080"/>
                          </a:solidFill>
                          <a:latin typeface="Liter" pitchFamily="34" charset="0"/>
                          <a:ea typeface="Liter" pitchFamily="34" charset="-122"/>
                          <a:cs typeface="Liter" pitchFamily="34" charset="-120"/>
                        </a:rPr>
                        <a:t>3 (fijado a priori)</a:t>
                      </a:r>
                      <a:endParaRPr lang="en-US" sz="1400" dirty="0">
                        <a:latin typeface="Liter" charset="0"/>
                        <a:ea typeface="Liter" charset="0"/>
                        <a:cs typeface="Liter" charset="0"/>
                      </a:endParaRPr>
                    </a:p>
                  </a:txBody>
                  <a:tcPr marT="0" marB="0" anchor="ctr">
                    <a:lnL w="12700" cap="flat" cmpd="sng" algn="ctr">
                      <a:solidFill>
                        <a:srgbClr val="2A2A35"/>
                      </a:solidFill>
                      <a:prstDash val="solid"/>
                      <a:round/>
                      <a:headEnd type="none" w="med" len="med"/>
                      <a:tailEnd type="none" w="med" len="med"/>
                    </a:lnL>
                    <a:lnR w="12700" cap="flat" cmpd="sng" algn="ctr">
                      <a:solidFill>
                        <a:srgbClr val="2A2A35"/>
                      </a:solidFill>
                      <a:prstDash val="solid"/>
                      <a:round/>
                      <a:headEnd type="none" w="med" len="med"/>
                      <a:tailEnd type="none" w="med" len="med"/>
                    </a:lnR>
                    <a:lnT w="12700" cap="flat" cmpd="sng" algn="ctr">
                      <a:solidFill>
                        <a:srgbClr val="2A2A35"/>
                      </a:solidFill>
                      <a:prstDash val="solid"/>
                      <a:round/>
                      <a:headEnd type="none" w="med" len="med"/>
                      <a:tailEnd type="none" w="med" len="med"/>
                    </a:lnT>
                    <a:lnB w="12700" cap="flat" cmpd="sng" algn="ctr">
                      <a:solidFill>
                        <a:srgbClr val="2A2A35"/>
                      </a:solidFill>
                      <a:prstDash val="solid"/>
                      <a:round/>
                      <a:headEnd type="none" w="med" len="med"/>
                      <a:tailEnd type="none" w="med" len="med"/>
                    </a:lnB>
                    <a:solidFill>
                      <a:srgbClr val="0A0A0F"/>
                    </a:solidFill>
                  </a:tcPr>
                </a:tc>
                <a:tc>
                  <a:txBody>
                    <a:bodyPr/>
                    <a:lstStyle/>
                    <a:p>
                      <a:pPr algn="ctr"/>
                      <a:r>
                        <a:rPr lang="en-US" sz="1400" u="none" dirty="0">
                          <a:solidFill>
                            <a:srgbClr val="6A5ACD"/>
                          </a:solidFill>
                          <a:latin typeface="Liter" pitchFamily="34" charset="0"/>
                          <a:ea typeface="Liter" pitchFamily="34" charset="-122"/>
                          <a:cs typeface="Liter" pitchFamily="34" charset="-120"/>
                        </a:rPr>
                        <a:t>7 (detectado automáticamente)</a:t>
                      </a:r>
                      <a:endParaRPr lang="en-US" sz="1400" dirty="0">
                        <a:latin typeface="Liter" charset="0"/>
                        <a:ea typeface="Liter" charset="0"/>
                        <a:cs typeface="Liter" charset="0"/>
                      </a:endParaRPr>
                    </a:p>
                  </a:txBody>
                  <a:tcPr marT="0" marB="0" anchor="ctr">
                    <a:lnL w="12700" cap="flat" cmpd="sng" algn="ctr">
                      <a:solidFill>
                        <a:srgbClr val="2A2A35"/>
                      </a:solidFill>
                      <a:prstDash val="solid"/>
                      <a:round/>
                      <a:headEnd type="none" w="med" len="med"/>
                      <a:tailEnd type="none" w="med" len="med"/>
                    </a:lnL>
                    <a:lnR w="12700" cap="flat" cmpd="sng" algn="ctr">
                      <a:solidFill>
                        <a:srgbClr val="2A2A35"/>
                      </a:solidFill>
                      <a:prstDash val="solid"/>
                      <a:round/>
                      <a:headEnd type="none" w="med" len="med"/>
                      <a:tailEnd type="none" w="med" len="med"/>
                    </a:lnR>
                    <a:lnT w="12700" cap="flat" cmpd="sng" algn="ctr">
                      <a:solidFill>
                        <a:srgbClr val="2A2A35"/>
                      </a:solidFill>
                      <a:prstDash val="solid"/>
                      <a:round/>
                      <a:headEnd type="none" w="med" len="med"/>
                      <a:tailEnd type="none" w="med" len="med"/>
                    </a:lnT>
                    <a:lnB w="12700" cap="flat" cmpd="sng" algn="ctr">
                      <a:solidFill>
                        <a:srgbClr val="2A2A35"/>
                      </a:solidFill>
                      <a:prstDash val="solid"/>
                      <a:round/>
                      <a:headEnd type="none" w="med" len="med"/>
                      <a:tailEnd type="none" w="med" len="med"/>
                    </a:lnB>
                    <a:solidFill>
                      <a:srgbClr val="0A0A0F"/>
                    </a:solidFill>
                  </a:tcPr>
                </a:tc>
                <a:extLst>
                  <a:ext uri="{0D108BD9-81ED-4DB2-BD59-A6C34878D82A}">
                    <a16:rowId xmlns:a16="http://schemas.microsoft.com/office/drawing/2014/main" val="10001"/>
                  </a:ext>
                </a:extLst>
              </a:tr>
              <a:tr h="561214">
                <a:tc>
                  <a:txBody>
                    <a:bodyPr/>
                    <a:lstStyle/>
                    <a:p>
                      <a:pPr algn="ctr"/>
                      <a:r>
                        <a:rPr lang="en-US" sz="1400" u="none" dirty="0">
                          <a:solidFill>
                            <a:srgbClr val="E8E8E8"/>
                          </a:solidFill>
                          <a:latin typeface="Liter" pitchFamily="34" charset="0"/>
                          <a:ea typeface="Liter" pitchFamily="34" charset="-122"/>
                          <a:cs typeface="Liter" pitchFamily="34" charset="-120"/>
                        </a:rPr>
                        <a:t>Ancho de banda</a:t>
                      </a:r>
                      <a:endParaRPr lang="en-US" sz="1400" dirty="0">
                        <a:latin typeface="Liter" charset="0"/>
                        <a:ea typeface="Liter" charset="0"/>
                        <a:cs typeface="Liter" charset="0"/>
                      </a:endParaRPr>
                    </a:p>
                  </a:txBody>
                  <a:tcPr marT="0" marB="0" anchor="ctr">
                    <a:lnL w="12700" cap="flat" cmpd="sng" algn="ctr">
                      <a:solidFill>
                        <a:srgbClr val="2A2A35"/>
                      </a:solidFill>
                      <a:prstDash val="solid"/>
                      <a:round/>
                      <a:headEnd type="none" w="med" len="med"/>
                      <a:tailEnd type="none" w="med" len="med"/>
                    </a:lnL>
                    <a:lnR w="12700" cap="flat" cmpd="sng" algn="ctr">
                      <a:solidFill>
                        <a:srgbClr val="2A2A35"/>
                      </a:solidFill>
                      <a:prstDash val="solid"/>
                      <a:round/>
                      <a:headEnd type="none" w="med" len="med"/>
                      <a:tailEnd type="none" w="med" len="med"/>
                    </a:lnR>
                    <a:lnT w="12700" cap="flat" cmpd="sng" algn="ctr">
                      <a:solidFill>
                        <a:srgbClr val="2A2A35"/>
                      </a:solidFill>
                      <a:prstDash val="solid"/>
                      <a:round/>
                      <a:headEnd type="none" w="med" len="med"/>
                      <a:tailEnd type="none" w="med" len="med"/>
                    </a:lnT>
                    <a:lnB w="12700" cap="flat" cmpd="sng" algn="ctr">
                      <a:solidFill>
                        <a:srgbClr val="2A2A35"/>
                      </a:solidFill>
                      <a:prstDash val="solid"/>
                      <a:round/>
                      <a:headEnd type="none" w="med" len="med"/>
                      <a:tailEnd type="none" w="med" len="med"/>
                    </a:lnB>
                    <a:solidFill>
                      <a:srgbClr val="14141B"/>
                    </a:solidFill>
                  </a:tcPr>
                </a:tc>
                <a:tc>
                  <a:txBody>
                    <a:bodyPr/>
                    <a:lstStyle/>
                    <a:p>
                      <a:pPr algn="ctr"/>
                      <a:r>
                        <a:rPr lang="en-US" sz="1400" u="none" dirty="0">
                          <a:solidFill>
                            <a:srgbClr val="E8E8E8"/>
                          </a:solidFill>
                          <a:latin typeface="Liter" pitchFamily="34" charset="0"/>
                          <a:ea typeface="Liter" pitchFamily="34" charset="-122"/>
                          <a:cs typeface="Liter" pitchFamily="34" charset="-120"/>
                        </a:rPr>
                        <a:t>N/A</a:t>
                      </a:r>
                      <a:endParaRPr lang="en-US" sz="1400" dirty="0">
                        <a:latin typeface="Liter" charset="0"/>
                        <a:ea typeface="Liter" charset="0"/>
                        <a:cs typeface="Liter" charset="0"/>
                      </a:endParaRPr>
                    </a:p>
                  </a:txBody>
                  <a:tcPr marT="0" marB="0" anchor="ctr">
                    <a:lnL w="12700" cap="flat" cmpd="sng" algn="ctr">
                      <a:solidFill>
                        <a:srgbClr val="2A2A35"/>
                      </a:solidFill>
                      <a:prstDash val="solid"/>
                      <a:round/>
                      <a:headEnd type="none" w="med" len="med"/>
                      <a:tailEnd type="none" w="med" len="med"/>
                    </a:lnL>
                    <a:lnR w="12700" cap="flat" cmpd="sng" algn="ctr">
                      <a:solidFill>
                        <a:srgbClr val="2A2A35"/>
                      </a:solidFill>
                      <a:prstDash val="solid"/>
                      <a:round/>
                      <a:headEnd type="none" w="med" len="med"/>
                      <a:tailEnd type="none" w="med" len="med"/>
                    </a:lnR>
                    <a:lnT w="12700" cap="flat" cmpd="sng" algn="ctr">
                      <a:solidFill>
                        <a:srgbClr val="2A2A35"/>
                      </a:solidFill>
                      <a:prstDash val="solid"/>
                      <a:round/>
                      <a:headEnd type="none" w="med" len="med"/>
                      <a:tailEnd type="none" w="med" len="med"/>
                    </a:lnT>
                    <a:lnB w="12700" cap="flat" cmpd="sng" algn="ctr">
                      <a:solidFill>
                        <a:srgbClr val="2A2A35"/>
                      </a:solidFill>
                      <a:prstDash val="solid"/>
                      <a:round/>
                      <a:headEnd type="none" w="med" len="med"/>
                      <a:tailEnd type="none" w="med" len="med"/>
                    </a:lnB>
                    <a:solidFill>
                      <a:srgbClr val="14141B"/>
                    </a:solidFill>
                  </a:tcPr>
                </a:tc>
                <a:tc>
                  <a:txBody>
                    <a:bodyPr/>
                    <a:lstStyle/>
                    <a:p>
                      <a:pPr algn="ctr"/>
                      <a:r>
                        <a:rPr lang="en-US" sz="1400" u="none" dirty="0">
                          <a:solidFill>
                            <a:srgbClr val="E8E8E8"/>
                          </a:solidFill>
                          <a:latin typeface="Liter" pitchFamily="34" charset="0"/>
                          <a:ea typeface="Liter" pitchFamily="34" charset="-122"/>
                          <a:cs typeface="Liter" pitchFamily="34" charset="-120"/>
                        </a:rPr>
                        <a:t>0.1476 (quantile=0.1, n_samples=1000)</a:t>
                      </a:r>
                      <a:endParaRPr lang="en-US" sz="1400" dirty="0">
                        <a:latin typeface="Liter" charset="0"/>
                        <a:ea typeface="Liter" charset="0"/>
                        <a:cs typeface="Liter" charset="0"/>
                      </a:endParaRPr>
                    </a:p>
                  </a:txBody>
                  <a:tcPr marT="0" marB="0" anchor="ctr">
                    <a:lnL w="12700" cap="flat" cmpd="sng" algn="ctr">
                      <a:solidFill>
                        <a:srgbClr val="2A2A35"/>
                      </a:solidFill>
                      <a:prstDash val="solid"/>
                      <a:round/>
                      <a:headEnd type="none" w="med" len="med"/>
                      <a:tailEnd type="none" w="med" len="med"/>
                    </a:lnL>
                    <a:lnR w="12700" cap="flat" cmpd="sng" algn="ctr">
                      <a:solidFill>
                        <a:srgbClr val="2A2A35"/>
                      </a:solidFill>
                      <a:prstDash val="solid"/>
                      <a:round/>
                      <a:headEnd type="none" w="med" len="med"/>
                      <a:tailEnd type="none" w="med" len="med"/>
                    </a:lnR>
                    <a:lnT w="12700" cap="flat" cmpd="sng" algn="ctr">
                      <a:solidFill>
                        <a:srgbClr val="2A2A35"/>
                      </a:solidFill>
                      <a:prstDash val="solid"/>
                      <a:round/>
                      <a:headEnd type="none" w="med" len="med"/>
                      <a:tailEnd type="none" w="med" len="med"/>
                    </a:lnT>
                    <a:lnB w="12700" cap="flat" cmpd="sng" algn="ctr">
                      <a:solidFill>
                        <a:srgbClr val="2A2A35"/>
                      </a:solidFill>
                      <a:prstDash val="solid"/>
                      <a:round/>
                      <a:headEnd type="none" w="med" len="med"/>
                      <a:tailEnd type="none" w="med" len="med"/>
                    </a:lnB>
                    <a:solidFill>
                      <a:srgbClr val="14141B"/>
                    </a:solidFill>
                  </a:tcPr>
                </a:tc>
                <a:extLst>
                  <a:ext uri="{0D108BD9-81ED-4DB2-BD59-A6C34878D82A}">
                    <a16:rowId xmlns:a16="http://schemas.microsoft.com/office/drawing/2014/main" val="10002"/>
                  </a:ext>
                </a:extLst>
              </a:tr>
              <a:tr h="585180">
                <a:tc>
                  <a:txBody>
                    <a:bodyPr/>
                    <a:lstStyle/>
                    <a:p>
                      <a:pPr algn="ctr"/>
                      <a:r>
                        <a:rPr lang="en-US" sz="1400" u="none" dirty="0">
                          <a:solidFill>
                            <a:srgbClr val="E8E8E8"/>
                          </a:solidFill>
                          <a:latin typeface="Liter" pitchFamily="34" charset="0"/>
                          <a:ea typeface="Liter" pitchFamily="34" charset="-122"/>
                          <a:cs typeface="Liter" pitchFamily="34" charset="-120"/>
                        </a:rPr>
                        <a:t>Silhouette Score</a:t>
                      </a:r>
                      <a:endParaRPr lang="en-US" sz="1400" dirty="0">
                        <a:latin typeface="Liter" charset="0"/>
                        <a:ea typeface="Liter" charset="0"/>
                        <a:cs typeface="Liter" charset="0"/>
                      </a:endParaRPr>
                    </a:p>
                  </a:txBody>
                  <a:tcPr marT="0" marB="0" anchor="ctr">
                    <a:lnL w="12700" cap="flat" cmpd="sng" algn="ctr">
                      <a:solidFill>
                        <a:srgbClr val="2A2A35"/>
                      </a:solidFill>
                      <a:prstDash val="solid"/>
                      <a:round/>
                      <a:headEnd type="none" w="med" len="med"/>
                      <a:tailEnd type="none" w="med" len="med"/>
                    </a:lnL>
                    <a:lnR w="12700" cap="flat" cmpd="sng" algn="ctr">
                      <a:solidFill>
                        <a:srgbClr val="2A2A35"/>
                      </a:solidFill>
                      <a:prstDash val="solid"/>
                      <a:round/>
                      <a:headEnd type="none" w="med" len="med"/>
                      <a:tailEnd type="none" w="med" len="med"/>
                    </a:lnR>
                    <a:lnT w="12700" cap="flat" cmpd="sng" algn="ctr">
                      <a:solidFill>
                        <a:srgbClr val="2A2A35"/>
                      </a:solidFill>
                      <a:prstDash val="solid"/>
                      <a:round/>
                      <a:headEnd type="none" w="med" len="med"/>
                      <a:tailEnd type="none" w="med" len="med"/>
                    </a:lnT>
                    <a:lnB w="12700" cap="flat" cmpd="sng" algn="ctr">
                      <a:solidFill>
                        <a:srgbClr val="2A2A35"/>
                      </a:solidFill>
                      <a:prstDash val="solid"/>
                      <a:round/>
                      <a:headEnd type="none" w="med" len="med"/>
                      <a:tailEnd type="none" w="med" len="med"/>
                    </a:lnB>
                    <a:solidFill>
                      <a:srgbClr val="0A0A0F"/>
                    </a:solidFill>
                  </a:tcPr>
                </a:tc>
                <a:tc>
                  <a:txBody>
                    <a:bodyPr/>
                    <a:lstStyle/>
                    <a:p>
                      <a:pPr algn="ctr"/>
                      <a:r>
                        <a:rPr lang="en-US" sz="1400" u="none" dirty="0">
                          <a:solidFill>
                            <a:srgbClr val="008080"/>
                          </a:solidFill>
                          <a:latin typeface="Liter" pitchFamily="34" charset="0"/>
                          <a:ea typeface="Liter" pitchFamily="34" charset="-122"/>
                          <a:cs typeface="Liter" pitchFamily="34" charset="-120"/>
                        </a:rPr>
                        <a:t>0.5733 (RGB) / 0.695 (HSV)</a:t>
                      </a:r>
                      <a:endParaRPr lang="en-US" sz="1400" dirty="0">
                        <a:latin typeface="Liter" charset="0"/>
                        <a:ea typeface="Liter" charset="0"/>
                        <a:cs typeface="Liter" charset="0"/>
                      </a:endParaRPr>
                    </a:p>
                  </a:txBody>
                  <a:tcPr marT="0" marB="0" anchor="ctr">
                    <a:lnL w="12700" cap="flat" cmpd="sng" algn="ctr">
                      <a:solidFill>
                        <a:srgbClr val="2A2A35"/>
                      </a:solidFill>
                      <a:prstDash val="solid"/>
                      <a:round/>
                      <a:headEnd type="none" w="med" len="med"/>
                      <a:tailEnd type="none" w="med" len="med"/>
                    </a:lnL>
                    <a:lnR w="12700" cap="flat" cmpd="sng" algn="ctr">
                      <a:solidFill>
                        <a:srgbClr val="2A2A35"/>
                      </a:solidFill>
                      <a:prstDash val="solid"/>
                      <a:round/>
                      <a:headEnd type="none" w="med" len="med"/>
                      <a:tailEnd type="none" w="med" len="med"/>
                    </a:lnR>
                    <a:lnT w="12700" cap="flat" cmpd="sng" algn="ctr">
                      <a:solidFill>
                        <a:srgbClr val="2A2A35"/>
                      </a:solidFill>
                      <a:prstDash val="solid"/>
                      <a:round/>
                      <a:headEnd type="none" w="med" len="med"/>
                      <a:tailEnd type="none" w="med" len="med"/>
                    </a:lnT>
                    <a:lnB w="12700" cap="flat" cmpd="sng" algn="ctr">
                      <a:solidFill>
                        <a:srgbClr val="2A2A35"/>
                      </a:solidFill>
                      <a:prstDash val="solid"/>
                      <a:round/>
                      <a:headEnd type="none" w="med" len="med"/>
                      <a:tailEnd type="none" w="med" len="med"/>
                    </a:lnB>
                    <a:solidFill>
                      <a:srgbClr val="0A0A0F"/>
                    </a:solidFill>
                  </a:tcPr>
                </a:tc>
                <a:tc>
                  <a:txBody>
                    <a:bodyPr/>
                    <a:lstStyle/>
                    <a:p>
                      <a:pPr algn="ctr"/>
                      <a:r>
                        <a:rPr lang="en-US" sz="1400" u="none" dirty="0">
                          <a:solidFill>
                            <a:srgbClr val="6A5ACD"/>
                          </a:solidFill>
                          <a:latin typeface="Liter" pitchFamily="34" charset="0"/>
                          <a:ea typeface="Liter" pitchFamily="34" charset="-122"/>
                          <a:cs typeface="Liter" pitchFamily="34" charset="-120"/>
                        </a:rPr>
                        <a:t>0.6950 (HSV, muestra 10K)</a:t>
                      </a:r>
                      <a:endParaRPr lang="en-US" sz="1400" dirty="0">
                        <a:latin typeface="Liter" charset="0"/>
                        <a:ea typeface="Liter" charset="0"/>
                        <a:cs typeface="Liter" charset="0"/>
                      </a:endParaRPr>
                    </a:p>
                  </a:txBody>
                  <a:tcPr marT="0" marB="0" anchor="ctr">
                    <a:lnL w="12700" cap="flat" cmpd="sng" algn="ctr">
                      <a:solidFill>
                        <a:srgbClr val="2A2A35"/>
                      </a:solidFill>
                      <a:prstDash val="solid"/>
                      <a:round/>
                      <a:headEnd type="none" w="med" len="med"/>
                      <a:tailEnd type="none" w="med" len="med"/>
                    </a:lnL>
                    <a:lnR w="12700" cap="flat" cmpd="sng" algn="ctr">
                      <a:solidFill>
                        <a:srgbClr val="2A2A35"/>
                      </a:solidFill>
                      <a:prstDash val="solid"/>
                      <a:round/>
                      <a:headEnd type="none" w="med" len="med"/>
                      <a:tailEnd type="none" w="med" len="med"/>
                    </a:lnR>
                    <a:lnT w="12700" cap="flat" cmpd="sng" algn="ctr">
                      <a:solidFill>
                        <a:srgbClr val="2A2A35"/>
                      </a:solidFill>
                      <a:prstDash val="solid"/>
                      <a:round/>
                      <a:headEnd type="none" w="med" len="med"/>
                      <a:tailEnd type="none" w="med" len="med"/>
                    </a:lnT>
                    <a:lnB w="12700" cap="flat" cmpd="sng" algn="ctr">
                      <a:solidFill>
                        <a:srgbClr val="2A2A35"/>
                      </a:solidFill>
                      <a:prstDash val="solid"/>
                      <a:round/>
                      <a:headEnd type="none" w="med" len="med"/>
                      <a:tailEnd type="none" w="med" len="med"/>
                    </a:lnB>
                    <a:solidFill>
                      <a:srgbClr val="0A0A0F"/>
                    </a:solidFill>
                  </a:tcPr>
                </a:tc>
                <a:extLst>
                  <a:ext uri="{0D108BD9-81ED-4DB2-BD59-A6C34878D82A}">
                    <a16:rowId xmlns:a16="http://schemas.microsoft.com/office/drawing/2014/main" val="10003"/>
                  </a:ext>
                </a:extLst>
              </a:tr>
              <a:tr h="440366">
                <a:tc>
                  <a:txBody>
                    <a:bodyPr/>
                    <a:lstStyle/>
                    <a:p>
                      <a:pPr algn="ctr"/>
                      <a:r>
                        <a:rPr lang="en-US" sz="1400" u="none" dirty="0">
                          <a:solidFill>
                            <a:srgbClr val="E8E8E8"/>
                          </a:solidFill>
                          <a:latin typeface="Liter" pitchFamily="34" charset="0"/>
                          <a:ea typeface="Liter" pitchFamily="34" charset="-122"/>
                          <a:cs typeface="Liter" pitchFamily="34" charset="-120"/>
                        </a:rPr>
                        <a:t>Tiempo de cómputo</a:t>
                      </a:r>
                      <a:endParaRPr lang="en-US" sz="1400" dirty="0">
                        <a:latin typeface="Liter" charset="0"/>
                        <a:ea typeface="Liter" charset="0"/>
                        <a:cs typeface="Liter" charset="0"/>
                      </a:endParaRPr>
                    </a:p>
                  </a:txBody>
                  <a:tcPr marT="0" marB="0" anchor="ctr">
                    <a:lnL w="12700" cap="flat" cmpd="sng" algn="ctr">
                      <a:solidFill>
                        <a:srgbClr val="2A2A35"/>
                      </a:solidFill>
                      <a:prstDash val="solid"/>
                      <a:round/>
                      <a:headEnd type="none" w="med" len="med"/>
                      <a:tailEnd type="none" w="med" len="med"/>
                    </a:lnL>
                    <a:lnR w="12700" cap="flat" cmpd="sng" algn="ctr">
                      <a:solidFill>
                        <a:srgbClr val="2A2A35"/>
                      </a:solidFill>
                      <a:prstDash val="solid"/>
                      <a:round/>
                      <a:headEnd type="none" w="med" len="med"/>
                      <a:tailEnd type="none" w="med" len="med"/>
                    </a:lnR>
                    <a:lnT w="12700" cap="flat" cmpd="sng" algn="ctr">
                      <a:solidFill>
                        <a:srgbClr val="2A2A35"/>
                      </a:solidFill>
                      <a:prstDash val="solid"/>
                      <a:round/>
                      <a:headEnd type="none" w="med" len="med"/>
                      <a:tailEnd type="none" w="med" len="med"/>
                    </a:lnT>
                    <a:lnB w="12700" cap="flat" cmpd="sng" algn="ctr">
                      <a:solidFill>
                        <a:srgbClr val="2A2A35"/>
                      </a:solidFill>
                      <a:prstDash val="solid"/>
                      <a:round/>
                      <a:headEnd type="none" w="med" len="med"/>
                      <a:tailEnd type="none" w="med" len="med"/>
                    </a:lnB>
                    <a:solidFill>
                      <a:srgbClr val="14141B"/>
                    </a:solidFill>
                  </a:tcPr>
                </a:tc>
                <a:tc>
                  <a:txBody>
                    <a:bodyPr/>
                    <a:lstStyle/>
                    <a:p>
                      <a:pPr algn="ctr"/>
                      <a:r>
                        <a:rPr lang="en-US" sz="1400" u="none" dirty="0">
                          <a:solidFill>
                            <a:srgbClr val="E8E8E8"/>
                          </a:solidFill>
                          <a:latin typeface="Liter" pitchFamily="34" charset="0"/>
                          <a:ea typeface="Liter" pitchFamily="34" charset="-122"/>
                          <a:cs typeface="Liter" pitchFamily="34" charset="-120"/>
                        </a:rPr>
                        <a:t>~2 segundos</a:t>
                      </a:r>
                      <a:endParaRPr lang="en-US" sz="1400" dirty="0">
                        <a:latin typeface="Liter" charset="0"/>
                        <a:ea typeface="Liter" charset="0"/>
                        <a:cs typeface="Liter" charset="0"/>
                      </a:endParaRPr>
                    </a:p>
                  </a:txBody>
                  <a:tcPr marT="0" marB="0" anchor="ctr">
                    <a:lnL w="12700" cap="flat" cmpd="sng" algn="ctr">
                      <a:solidFill>
                        <a:srgbClr val="2A2A35"/>
                      </a:solidFill>
                      <a:prstDash val="solid"/>
                      <a:round/>
                      <a:headEnd type="none" w="med" len="med"/>
                      <a:tailEnd type="none" w="med" len="med"/>
                    </a:lnL>
                    <a:lnR w="12700" cap="flat" cmpd="sng" algn="ctr">
                      <a:solidFill>
                        <a:srgbClr val="2A2A35"/>
                      </a:solidFill>
                      <a:prstDash val="solid"/>
                      <a:round/>
                      <a:headEnd type="none" w="med" len="med"/>
                      <a:tailEnd type="none" w="med" len="med"/>
                    </a:lnR>
                    <a:lnT w="12700" cap="flat" cmpd="sng" algn="ctr">
                      <a:solidFill>
                        <a:srgbClr val="2A2A35"/>
                      </a:solidFill>
                      <a:prstDash val="solid"/>
                      <a:round/>
                      <a:headEnd type="none" w="med" len="med"/>
                      <a:tailEnd type="none" w="med" len="med"/>
                    </a:lnT>
                    <a:lnB w="12700" cap="flat" cmpd="sng" algn="ctr">
                      <a:solidFill>
                        <a:srgbClr val="2A2A35"/>
                      </a:solidFill>
                      <a:prstDash val="solid"/>
                      <a:round/>
                      <a:headEnd type="none" w="med" len="med"/>
                      <a:tailEnd type="none" w="med" len="med"/>
                    </a:lnB>
                    <a:solidFill>
                      <a:srgbClr val="14141B"/>
                    </a:solidFill>
                  </a:tcPr>
                </a:tc>
                <a:tc>
                  <a:txBody>
                    <a:bodyPr/>
                    <a:lstStyle/>
                    <a:p>
                      <a:pPr algn="ctr"/>
                      <a:r>
                        <a:rPr lang="en-US" sz="1400" u="none" dirty="0">
                          <a:solidFill>
                            <a:srgbClr val="E8E8E8"/>
                          </a:solidFill>
                          <a:latin typeface="Liter" pitchFamily="34" charset="0"/>
                          <a:ea typeface="Liter" pitchFamily="34" charset="-122"/>
                          <a:cs typeface="Liter" pitchFamily="34" charset="-120"/>
                        </a:rPr>
                        <a:t>~45 segundos</a:t>
                      </a:r>
                      <a:endParaRPr lang="en-US" sz="1400" dirty="0">
                        <a:latin typeface="Liter" charset="0"/>
                        <a:ea typeface="Liter" charset="0"/>
                        <a:cs typeface="Liter" charset="0"/>
                      </a:endParaRPr>
                    </a:p>
                  </a:txBody>
                  <a:tcPr marT="0" marB="0" anchor="ctr">
                    <a:lnL w="12700" cap="flat" cmpd="sng" algn="ctr">
                      <a:solidFill>
                        <a:srgbClr val="2A2A35"/>
                      </a:solidFill>
                      <a:prstDash val="solid"/>
                      <a:round/>
                      <a:headEnd type="none" w="med" len="med"/>
                      <a:tailEnd type="none" w="med" len="med"/>
                    </a:lnL>
                    <a:lnR w="12700" cap="flat" cmpd="sng" algn="ctr">
                      <a:solidFill>
                        <a:srgbClr val="2A2A35"/>
                      </a:solidFill>
                      <a:prstDash val="solid"/>
                      <a:round/>
                      <a:headEnd type="none" w="med" len="med"/>
                      <a:tailEnd type="none" w="med" len="med"/>
                    </a:lnR>
                    <a:lnT w="12700" cap="flat" cmpd="sng" algn="ctr">
                      <a:solidFill>
                        <a:srgbClr val="2A2A35"/>
                      </a:solidFill>
                      <a:prstDash val="solid"/>
                      <a:round/>
                      <a:headEnd type="none" w="med" len="med"/>
                      <a:tailEnd type="none" w="med" len="med"/>
                    </a:lnT>
                    <a:lnB w="12700" cap="flat" cmpd="sng" algn="ctr">
                      <a:solidFill>
                        <a:srgbClr val="2A2A35"/>
                      </a:solidFill>
                      <a:prstDash val="solid"/>
                      <a:round/>
                      <a:headEnd type="none" w="med" len="med"/>
                      <a:tailEnd type="none" w="med" len="med"/>
                    </a:lnB>
                    <a:solidFill>
                      <a:srgbClr val="14141B"/>
                    </a:solidFill>
                  </a:tcPr>
                </a:tc>
                <a:extLst>
                  <a:ext uri="{0D108BD9-81ED-4DB2-BD59-A6C34878D82A}">
                    <a16:rowId xmlns:a16="http://schemas.microsoft.com/office/drawing/2014/main" val="10004"/>
                  </a:ext>
                </a:extLst>
              </a:tr>
              <a:tr h="641386">
                <a:tc>
                  <a:txBody>
                    <a:bodyPr/>
                    <a:lstStyle/>
                    <a:p>
                      <a:pPr algn="ctr"/>
                      <a:r>
                        <a:rPr lang="en-US" sz="1400" u="none" dirty="0">
                          <a:solidFill>
                            <a:srgbClr val="E8E8E8"/>
                          </a:solidFill>
                          <a:latin typeface="Liter" pitchFamily="34" charset="0"/>
                          <a:ea typeface="Liter" pitchFamily="34" charset="-122"/>
                          <a:cs typeface="Liter" pitchFamily="34" charset="-120"/>
                        </a:rPr>
                        <a:t>Interpretabilidad clínica</a:t>
                      </a:r>
                      <a:endParaRPr lang="en-US" sz="1400" dirty="0">
                        <a:latin typeface="Liter" charset="0"/>
                        <a:ea typeface="Liter" charset="0"/>
                        <a:cs typeface="Liter" charset="0"/>
                      </a:endParaRPr>
                    </a:p>
                  </a:txBody>
                  <a:tcPr marT="0" marB="0" anchor="ctr">
                    <a:lnL w="12700" cap="flat" cmpd="sng" algn="ctr">
                      <a:solidFill>
                        <a:srgbClr val="2A2A35"/>
                      </a:solidFill>
                      <a:prstDash val="solid"/>
                      <a:round/>
                      <a:headEnd type="none" w="med" len="med"/>
                      <a:tailEnd type="none" w="med" len="med"/>
                    </a:lnL>
                    <a:lnR w="12700" cap="flat" cmpd="sng" algn="ctr">
                      <a:solidFill>
                        <a:srgbClr val="2A2A35"/>
                      </a:solidFill>
                      <a:prstDash val="solid"/>
                      <a:round/>
                      <a:headEnd type="none" w="med" len="med"/>
                      <a:tailEnd type="none" w="med" len="med"/>
                    </a:lnR>
                    <a:lnT w="12700" cap="flat" cmpd="sng" algn="ctr">
                      <a:solidFill>
                        <a:srgbClr val="2A2A35"/>
                      </a:solidFill>
                      <a:prstDash val="solid"/>
                      <a:round/>
                      <a:headEnd type="none" w="med" len="med"/>
                      <a:tailEnd type="none" w="med" len="med"/>
                    </a:lnT>
                    <a:lnB w="12700" cap="flat" cmpd="sng" algn="ctr">
                      <a:solidFill>
                        <a:srgbClr val="2A2A35"/>
                      </a:solidFill>
                      <a:prstDash val="solid"/>
                      <a:round/>
                      <a:headEnd type="none" w="med" len="med"/>
                      <a:tailEnd type="none" w="med" len="med"/>
                    </a:lnB>
                    <a:solidFill>
                      <a:srgbClr val="0A0A0F"/>
                    </a:solidFill>
                  </a:tcPr>
                </a:tc>
                <a:tc>
                  <a:txBody>
                    <a:bodyPr/>
                    <a:lstStyle/>
                    <a:p>
                      <a:pPr algn="ctr"/>
                      <a:r>
                        <a:rPr lang="en-US" sz="1400" u="none" dirty="0">
                          <a:solidFill>
                            <a:srgbClr val="B8860B"/>
                          </a:solidFill>
                          <a:latin typeface="Liter" pitchFamily="34" charset="0"/>
                          <a:ea typeface="Liter" pitchFamily="34" charset="-122"/>
                          <a:cs typeface="Liter" pitchFamily="34" charset="-120"/>
                        </a:rPr>
                        <a:t>ALTA (3 clusters = 3 estructuras)</a:t>
                      </a:r>
                      <a:endParaRPr lang="en-US" sz="1400" dirty="0">
                        <a:latin typeface="Liter" charset="0"/>
                        <a:ea typeface="Liter" charset="0"/>
                        <a:cs typeface="Liter" charset="0"/>
                      </a:endParaRPr>
                    </a:p>
                  </a:txBody>
                  <a:tcPr marT="0" marB="0" anchor="ctr">
                    <a:lnL w="12700" cap="flat" cmpd="sng" algn="ctr">
                      <a:solidFill>
                        <a:srgbClr val="2A2A35"/>
                      </a:solidFill>
                      <a:prstDash val="solid"/>
                      <a:round/>
                      <a:headEnd type="none" w="med" len="med"/>
                      <a:tailEnd type="none" w="med" len="med"/>
                    </a:lnL>
                    <a:lnR w="12700" cap="flat" cmpd="sng" algn="ctr">
                      <a:solidFill>
                        <a:srgbClr val="2A2A35"/>
                      </a:solidFill>
                      <a:prstDash val="solid"/>
                      <a:round/>
                      <a:headEnd type="none" w="med" len="med"/>
                      <a:tailEnd type="none" w="med" len="med"/>
                    </a:lnR>
                    <a:lnT w="12700" cap="flat" cmpd="sng" algn="ctr">
                      <a:solidFill>
                        <a:srgbClr val="2A2A35"/>
                      </a:solidFill>
                      <a:prstDash val="solid"/>
                      <a:round/>
                      <a:headEnd type="none" w="med" len="med"/>
                      <a:tailEnd type="none" w="med" len="med"/>
                    </a:lnT>
                    <a:lnB w="12700" cap="flat" cmpd="sng" algn="ctr">
                      <a:solidFill>
                        <a:srgbClr val="2A2A35"/>
                      </a:solidFill>
                      <a:prstDash val="solid"/>
                      <a:round/>
                      <a:headEnd type="none" w="med" len="med"/>
                      <a:tailEnd type="none" w="med" len="med"/>
                    </a:lnB>
                    <a:solidFill>
                      <a:srgbClr val="0A0A0F"/>
                    </a:solidFill>
                  </a:tcPr>
                </a:tc>
                <a:tc>
                  <a:txBody>
                    <a:bodyPr/>
                    <a:lstStyle/>
                    <a:p>
                      <a:pPr algn="ctr"/>
                      <a:r>
                        <a:rPr lang="en-US" sz="1400" u="none" dirty="0">
                          <a:solidFill>
                            <a:srgbClr val="9CA3AF"/>
                          </a:solidFill>
                          <a:latin typeface="Liter" pitchFamily="34" charset="0"/>
                          <a:ea typeface="Liter" pitchFamily="34" charset="-122"/>
                          <a:cs typeface="Liter" pitchFamily="34" charset="-120"/>
                        </a:rPr>
                        <a:t>BAJA (7 clusters fragmentan biología)</a:t>
                      </a:r>
                      <a:endParaRPr lang="en-US" sz="1400" dirty="0">
                        <a:latin typeface="Liter" charset="0"/>
                        <a:ea typeface="Liter" charset="0"/>
                        <a:cs typeface="Liter" charset="0"/>
                      </a:endParaRPr>
                    </a:p>
                  </a:txBody>
                  <a:tcPr marT="0" marB="0" anchor="ctr">
                    <a:lnL w="12700" cap="flat" cmpd="sng" algn="ctr">
                      <a:solidFill>
                        <a:srgbClr val="2A2A35"/>
                      </a:solidFill>
                      <a:prstDash val="solid"/>
                      <a:round/>
                      <a:headEnd type="none" w="med" len="med"/>
                      <a:tailEnd type="none" w="med" len="med"/>
                    </a:lnL>
                    <a:lnR w="12700" cap="flat" cmpd="sng" algn="ctr">
                      <a:solidFill>
                        <a:srgbClr val="2A2A35"/>
                      </a:solidFill>
                      <a:prstDash val="solid"/>
                      <a:round/>
                      <a:headEnd type="none" w="med" len="med"/>
                      <a:tailEnd type="none" w="med" len="med"/>
                    </a:lnR>
                    <a:lnT w="12700" cap="flat" cmpd="sng" algn="ctr">
                      <a:solidFill>
                        <a:srgbClr val="2A2A35"/>
                      </a:solidFill>
                      <a:prstDash val="solid"/>
                      <a:round/>
                      <a:headEnd type="none" w="med" len="med"/>
                      <a:tailEnd type="none" w="med" len="med"/>
                    </a:lnT>
                    <a:lnB w="12700" cap="flat" cmpd="sng" algn="ctr">
                      <a:solidFill>
                        <a:srgbClr val="2A2A35"/>
                      </a:solidFill>
                      <a:prstDash val="solid"/>
                      <a:round/>
                      <a:headEnd type="none" w="med" len="med"/>
                      <a:tailEnd type="none" w="med" len="med"/>
                    </a:lnB>
                    <a:solidFill>
                      <a:srgbClr val="0A0A0F"/>
                    </a:solidFill>
                  </a:tcPr>
                </a:tc>
                <a:extLst>
                  <a:ext uri="{0D108BD9-81ED-4DB2-BD59-A6C34878D82A}">
                    <a16:rowId xmlns:a16="http://schemas.microsoft.com/office/drawing/2014/main" val="10005"/>
                  </a:ext>
                </a:extLst>
              </a:tr>
            </a:tbl>
          </a:graphicData>
        </a:graphic>
      </p:graphicFrame>
      <p:sp>
        <p:nvSpPr>
          <p:cNvPr id="5" name="Shape 2"/>
          <p:cNvSpPr/>
          <p:nvPr/>
        </p:nvSpPr>
        <p:spPr>
          <a:xfrm>
            <a:off x="761999" y="6545740"/>
            <a:ext cx="15005637" cy="2090260"/>
          </a:xfrm>
          <a:prstGeom prst="rect">
            <a:avLst/>
          </a:prstGeom>
          <a:solidFill>
            <a:srgbClr val="14141B"/>
          </a:solidFill>
          <a:ln w="12700">
            <a:solidFill>
              <a:srgbClr val="B8860B"/>
            </a:solidFill>
            <a:prstDash val="solid"/>
          </a:ln>
        </p:spPr>
        <p:txBody>
          <a:bodyPr/>
          <a:lstStyle/>
          <a:p>
            <a:endParaRPr lang="es-CO"/>
          </a:p>
        </p:txBody>
      </p:sp>
      <p:sp>
        <p:nvSpPr>
          <p:cNvPr id="6" name="Shape 3"/>
          <p:cNvSpPr/>
          <p:nvPr/>
        </p:nvSpPr>
        <p:spPr>
          <a:xfrm>
            <a:off x="753666" y="6477000"/>
            <a:ext cx="50800" cy="2159000"/>
          </a:xfrm>
          <a:prstGeom prst="rect">
            <a:avLst/>
          </a:prstGeom>
          <a:solidFill>
            <a:srgbClr val="B8860B"/>
          </a:solidFill>
          <a:ln/>
        </p:spPr>
        <p:txBody>
          <a:bodyPr/>
          <a:lstStyle/>
          <a:p>
            <a:endParaRPr lang="es-CO"/>
          </a:p>
        </p:txBody>
      </p:sp>
      <p:sp>
        <p:nvSpPr>
          <p:cNvPr id="7" name="Text 4"/>
          <p:cNvSpPr/>
          <p:nvPr/>
        </p:nvSpPr>
        <p:spPr>
          <a:xfrm>
            <a:off x="1270000" y="6553200"/>
            <a:ext cx="5080000" cy="355600"/>
          </a:xfrm>
          <a:prstGeom prst="rect">
            <a:avLst/>
          </a:prstGeom>
          <a:noFill/>
          <a:ln/>
        </p:spPr>
        <p:txBody>
          <a:bodyPr wrap="none" lIns="0" tIns="0" rIns="0" bIns="0" rtlCol="0" anchor="ctr"/>
          <a:lstStyle/>
          <a:p>
            <a:pPr>
              <a:lnSpc>
                <a:spcPct val="160000"/>
              </a:lnSpc>
            </a:pPr>
            <a:r>
              <a:rPr lang="en-US" sz="1800" b="1" dirty="0">
                <a:solidFill>
                  <a:srgbClr val="B8860B"/>
                </a:solidFill>
                <a:latin typeface="Liter" pitchFamily="34" charset="0"/>
                <a:ea typeface="Liter" pitchFamily="34" charset="-122"/>
                <a:cs typeface="Liter" pitchFamily="34" charset="-120"/>
              </a:rPr>
              <a:t>CONCLUSIÓN ESTRATÉGICA</a:t>
            </a:r>
            <a:endParaRPr lang="en-US" sz="1800" dirty="0"/>
          </a:p>
        </p:txBody>
      </p:sp>
      <p:sp>
        <p:nvSpPr>
          <p:cNvPr id="8" name="Shape 5"/>
          <p:cNvSpPr/>
          <p:nvPr/>
        </p:nvSpPr>
        <p:spPr>
          <a:xfrm>
            <a:off x="1270000" y="7010400"/>
            <a:ext cx="13716000" cy="12700"/>
          </a:xfrm>
          <a:prstGeom prst="rect">
            <a:avLst/>
          </a:prstGeom>
          <a:solidFill>
            <a:srgbClr val="2A2A35"/>
          </a:solidFill>
          <a:ln/>
        </p:spPr>
        <p:txBody>
          <a:bodyPr/>
          <a:lstStyle/>
          <a:p>
            <a:endParaRPr lang="es-CO"/>
          </a:p>
        </p:txBody>
      </p:sp>
      <p:sp>
        <p:nvSpPr>
          <p:cNvPr id="4" name="Text 6"/>
          <p:cNvSpPr/>
          <p:nvPr/>
        </p:nvSpPr>
        <p:spPr>
          <a:xfrm>
            <a:off x="1270000" y="6985000"/>
            <a:ext cx="13716000" cy="1524000"/>
          </a:xfrm>
          <a:prstGeom prst="rect">
            <a:avLst/>
          </a:prstGeom>
          <a:noFill/>
          <a:ln/>
        </p:spPr>
        <p:txBody>
          <a:bodyPr wrap="square" lIns="0" tIns="0" rIns="0" bIns="0" rtlCol="0" anchor="t"/>
          <a:lstStyle/>
          <a:p>
            <a:pPr>
              <a:lnSpc>
                <a:spcPct val="160000"/>
              </a:lnSpc>
            </a:pPr>
            <a:r>
              <a:rPr lang="en-US" sz="1800" b="1" dirty="0">
                <a:solidFill>
                  <a:srgbClr val="008080"/>
                </a:solidFill>
                <a:latin typeface="Liter" pitchFamily="34" charset="0"/>
                <a:ea typeface="Liter" pitchFamily="34" charset="-122"/>
                <a:cs typeface="Liter" pitchFamily="34" charset="-120"/>
              </a:rPr>
              <a:t>K-Means ofrece el equilibrio óptimo</a:t>
            </a:r>
            <a:r>
              <a:rPr lang="en-US" sz="1800" dirty="0">
                <a:solidFill>
                  <a:srgbClr val="E8E8E8"/>
                </a:solidFill>
                <a:latin typeface="Liter" pitchFamily="34" charset="0"/>
                <a:ea typeface="Liter" pitchFamily="34" charset="-122"/>
                <a:cs typeface="Liter" pitchFamily="34" charset="-120"/>
              </a:rPr>
              <a:t> entre precisión matemática y correspondencia biológica. Mean Shift genera 7 clusters que sobresegmentan el tejido, perdiendo la correspondencia 1:1 con estructuras histológicas. La </a:t>
            </a:r>
            <a:r>
              <a:rPr lang="en-US" sz="1800" b="1" dirty="0">
                <a:solidFill>
                  <a:srgbClr val="B8860B"/>
                </a:solidFill>
                <a:latin typeface="Liter" pitchFamily="34" charset="0"/>
                <a:ea typeface="Liter" pitchFamily="34" charset="-122"/>
                <a:cs typeface="Liter" pitchFamily="34" charset="-120"/>
              </a:rPr>
              <a:t>interpretabilidad clínica</a:t>
            </a:r>
            <a:r>
              <a:rPr lang="en-US" sz="1800" dirty="0">
                <a:solidFill>
                  <a:srgbClr val="E8E8E8"/>
                </a:solidFill>
                <a:latin typeface="Liter" pitchFamily="34" charset="0"/>
                <a:ea typeface="Liter" pitchFamily="34" charset="-122"/>
                <a:cs typeface="Liter" pitchFamily="34" charset="-120"/>
              </a:rPr>
              <a:t> prima sobre la pureza matemática.</a:t>
            </a:r>
            <a:endParaRPr lang="en-US" sz="1800" dirty="0"/>
          </a:p>
        </p:txBody>
      </p:sp>
      <p:sp>
        <p:nvSpPr>
          <p:cNvPr id="10" name="Shape 7"/>
          <p:cNvSpPr/>
          <p:nvPr/>
        </p:nvSpPr>
        <p:spPr>
          <a:xfrm>
            <a:off x="762000" y="8763000"/>
            <a:ext cx="14732000" cy="12700"/>
          </a:xfrm>
          <a:prstGeom prst="rect">
            <a:avLst/>
          </a:prstGeom>
          <a:solidFill>
            <a:srgbClr val="2A2A35"/>
          </a:solidFill>
          <a:ln/>
        </p:spPr>
        <p:txBody>
          <a:bodyPr/>
          <a:lstStyle/>
          <a:p>
            <a:endParaRPr lang="es-CO"/>
          </a:p>
        </p:txBody>
      </p:sp>
      <p:sp>
        <p:nvSpPr>
          <p:cNvPr id="11" name="Text 8"/>
          <p:cNvSpPr/>
          <p:nvPr/>
        </p:nvSpPr>
        <p:spPr>
          <a:xfrm>
            <a:off x="762000" y="8839200"/>
            <a:ext cx="6350000" cy="254000"/>
          </a:xfrm>
          <a:prstGeom prst="rect">
            <a:avLst/>
          </a:prstGeom>
          <a:noFill/>
          <a:ln/>
        </p:spPr>
        <p:txBody>
          <a:bodyPr wrap="none" lIns="0" tIns="0" rIns="0" bIns="0" rtlCol="0" anchor="ctr"/>
          <a:lstStyle/>
          <a:p>
            <a:pPr>
              <a:lnSpc>
                <a:spcPct val="140000"/>
              </a:lnSpc>
            </a:pPr>
            <a:r>
              <a:rPr lang="en-US" sz="1400" dirty="0">
                <a:solidFill>
                  <a:srgbClr val="9CA3AF"/>
                </a:solidFill>
                <a:latin typeface="Liter" pitchFamily="34" charset="0"/>
                <a:ea typeface="Liter" pitchFamily="34" charset="-122"/>
                <a:cs typeface="Liter" pitchFamily="34" charset="-120"/>
              </a:rPr>
              <a:t>Metrica: silhouette_score() scikit-learn | Muestra: 5,000 pixeles</a:t>
            </a:r>
            <a:endParaRPr lang="en-US" sz="1400" dirty="0"/>
          </a:p>
        </p:txBody>
      </p:sp>
      <p:graphicFrame>
        <p:nvGraphicFramePr>
          <p:cNvPr id="12" name="Tabla 11">
            <a:extLst>
              <a:ext uri="{FF2B5EF4-FFF2-40B4-BE49-F238E27FC236}">
                <a16:creationId xmlns:a16="http://schemas.microsoft.com/office/drawing/2014/main" id="{87B12EA3-0FCA-6676-6E36-B7C1028D0B95}"/>
              </a:ext>
            </a:extLst>
          </p:cNvPr>
          <p:cNvGraphicFramePr>
            <a:graphicFrameLocks noGrp="1"/>
          </p:cNvGraphicFramePr>
          <p:nvPr>
            <p:extLst>
              <p:ext uri="{D42A27DB-BD31-4B8C-83A1-F6EECF244321}">
                <p14:modId xmlns:p14="http://schemas.microsoft.com/office/powerpoint/2010/main" val="751080886"/>
              </p:ext>
            </p:extLst>
          </p:nvPr>
        </p:nvGraphicFramePr>
        <p:xfrm>
          <a:off x="6248399" y="2095660"/>
          <a:ext cx="4434114" cy="2815369"/>
        </p:xfrm>
        <a:graphic>
          <a:graphicData uri="http://schemas.openxmlformats.org/drawingml/2006/table">
            <a:tbl>
              <a:tblPr firstRow="1" bandRow="1">
                <a:tableStyleId>{5C22544A-7EE6-4342-B048-85BDC9FD1C3A}</a:tableStyleId>
              </a:tblPr>
              <a:tblGrid>
                <a:gridCol w="1478038">
                  <a:extLst>
                    <a:ext uri="{9D8B030D-6E8A-4147-A177-3AD203B41FA5}">
                      <a16:colId xmlns:a16="http://schemas.microsoft.com/office/drawing/2014/main" val="3904153625"/>
                    </a:ext>
                  </a:extLst>
                </a:gridCol>
                <a:gridCol w="1478038">
                  <a:extLst>
                    <a:ext uri="{9D8B030D-6E8A-4147-A177-3AD203B41FA5}">
                      <a16:colId xmlns:a16="http://schemas.microsoft.com/office/drawing/2014/main" val="583989534"/>
                    </a:ext>
                  </a:extLst>
                </a:gridCol>
                <a:gridCol w="1478038">
                  <a:extLst>
                    <a:ext uri="{9D8B030D-6E8A-4147-A177-3AD203B41FA5}">
                      <a16:colId xmlns:a16="http://schemas.microsoft.com/office/drawing/2014/main" val="2863723618"/>
                    </a:ext>
                  </a:extLst>
                </a:gridCol>
              </a:tblGrid>
              <a:tr h="889699">
                <a:tc>
                  <a:txBody>
                    <a:bodyPr/>
                    <a:lstStyle/>
                    <a:p>
                      <a:pPr algn="ctr"/>
                      <a:r>
                        <a:rPr lang="es-ES" dirty="0">
                          <a:effectLst>
                            <a:outerShdw blurRad="38100" dist="38100" dir="2700000" algn="tl">
                              <a:srgbClr val="000000">
                                <a:alpha val="43137"/>
                              </a:srgbClr>
                            </a:outerShdw>
                          </a:effectLst>
                          <a:latin typeface="Liter" panose="020B0604020202020204" charset="0"/>
                        </a:rPr>
                        <a:t>K</a:t>
                      </a:r>
                    </a:p>
                  </a:txBody>
                  <a:tcPr anchor="ctr"/>
                </a:tc>
                <a:tc>
                  <a:txBody>
                    <a:bodyPr/>
                    <a:lstStyle/>
                    <a:p>
                      <a:pPr algn="ctr"/>
                      <a:r>
                        <a:rPr kumimoji="0" lang="es-ES" sz="18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Liter" panose="020B0604020202020204" charset="0"/>
                          <a:ea typeface="+mn-ea"/>
                          <a:cs typeface="+mn-cs"/>
                        </a:rPr>
                        <a:t>Silhouette Score</a:t>
                      </a:r>
                      <a:endParaRPr lang="es-CO" dirty="0">
                        <a:effectLst>
                          <a:outerShdw blurRad="38100" dist="38100" dir="2700000" algn="tl">
                            <a:srgbClr val="000000">
                              <a:alpha val="43137"/>
                            </a:srgbClr>
                          </a:outerShdw>
                        </a:effectLst>
                        <a:latin typeface="Liter" panose="020B0604020202020204" charset="0"/>
                      </a:endParaRPr>
                    </a:p>
                  </a:txBody>
                  <a:tcPr anchor="ctr"/>
                </a:tc>
                <a:tc>
                  <a:txBody>
                    <a:bodyPr/>
                    <a:lstStyle/>
                    <a:p>
                      <a:pPr algn="ctr"/>
                      <a:r>
                        <a:rPr kumimoji="0" lang="es-ES" sz="18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Liter" panose="020B0604020202020204" charset="0"/>
                          <a:ea typeface="+mn-ea"/>
                          <a:cs typeface="+mn-cs"/>
                        </a:rPr>
                        <a:t>Categoría</a:t>
                      </a:r>
                      <a:endParaRPr lang="es-CO" dirty="0">
                        <a:effectLst>
                          <a:outerShdw blurRad="38100" dist="38100" dir="2700000" algn="tl">
                            <a:srgbClr val="000000">
                              <a:alpha val="43137"/>
                            </a:srgbClr>
                          </a:outerShdw>
                        </a:effectLst>
                        <a:latin typeface="Liter" panose="020B0604020202020204" charset="0"/>
                      </a:endParaRPr>
                    </a:p>
                  </a:txBody>
                  <a:tcPr anchor="ctr"/>
                </a:tc>
                <a:extLst>
                  <a:ext uri="{0D108BD9-81ED-4DB2-BD59-A6C34878D82A}">
                    <a16:rowId xmlns:a16="http://schemas.microsoft.com/office/drawing/2014/main" val="2012124241"/>
                  </a:ext>
                </a:extLst>
              </a:tr>
              <a:tr h="664777">
                <a:tc>
                  <a:txBody>
                    <a:bodyPr/>
                    <a:lstStyle/>
                    <a:p>
                      <a:pPr algn="ctr"/>
                      <a:r>
                        <a:rPr kumimoji="0" lang="es-ES" sz="1400" b="1" i="0" u="none" strike="noStrike" kern="1200" cap="none" spc="0" normalizeH="0" baseline="0" noProof="0" dirty="0">
                          <a:ln>
                            <a:noFill/>
                          </a:ln>
                          <a:solidFill>
                            <a:schemeClr val="tx1"/>
                          </a:solidFill>
                          <a:effectLst/>
                          <a:uLnTx/>
                          <a:uFillTx/>
                          <a:latin typeface="Liter" panose="020B0604020202020204" charset="0"/>
                          <a:ea typeface="+mn-ea"/>
                          <a:cs typeface="+mn-cs"/>
                        </a:rPr>
                        <a:t>2</a:t>
                      </a:r>
                      <a:endParaRPr lang="es-CO" sz="1400" dirty="0">
                        <a:solidFill>
                          <a:schemeClr val="tx1"/>
                        </a:solidFill>
                        <a:latin typeface="Liter" panose="020B0604020202020204" charset="0"/>
                      </a:endParaRPr>
                    </a:p>
                  </a:txBody>
                  <a:tcPr anchor="ctr"/>
                </a:tc>
                <a:tc>
                  <a:txBody>
                    <a:bodyPr/>
                    <a:lstStyle/>
                    <a:p>
                      <a:pPr algn="ctr"/>
                      <a:r>
                        <a:rPr kumimoji="0" lang="es-ES" sz="1400" b="1" i="0" u="none" strike="noStrike" kern="1200" cap="none" spc="0" normalizeH="0" baseline="0" noProof="0" dirty="0">
                          <a:ln>
                            <a:noFill/>
                          </a:ln>
                          <a:solidFill>
                            <a:schemeClr val="tx1"/>
                          </a:solidFill>
                          <a:effectLst/>
                          <a:uLnTx/>
                          <a:uFillTx/>
                          <a:latin typeface="Liter" panose="020B0604020202020204" charset="0"/>
                          <a:ea typeface="+mn-ea"/>
                          <a:cs typeface="+mn-cs"/>
                        </a:rPr>
                        <a:t>0.5943</a:t>
                      </a:r>
                      <a:endParaRPr lang="es-CO" sz="1400" dirty="0">
                        <a:solidFill>
                          <a:schemeClr val="tx1"/>
                        </a:solidFill>
                        <a:latin typeface="Liter" panose="020B0604020202020204" charset="0"/>
                      </a:endParaRPr>
                    </a:p>
                  </a:txBody>
                  <a:tcPr anchor="ctr"/>
                </a:tc>
                <a:tc>
                  <a:txBody>
                    <a:bodyPr/>
                    <a:lstStyle/>
                    <a:p>
                      <a:pPr algn="ctr"/>
                      <a:r>
                        <a:rPr kumimoji="0" lang="es-ES" sz="1400" b="1" i="0" u="none" strike="noStrike" kern="1200" cap="none" spc="0" normalizeH="0" baseline="0" noProof="0" dirty="0">
                          <a:ln>
                            <a:noFill/>
                          </a:ln>
                          <a:solidFill>
                            <a:schemeClr val="tx1"/>
                          </a:solidFill>
                          <a:effectLst/>
                          <a:uLnTx/>
                          <a:uFillTx/>
                          <a:latin typeface="Liter" panose="020B0604020202020204" charset="0"/>
                          <a:ea typeface="+mn-ea"/>
                          <a:cs typeface="+mn-cs"/>
                        </a:rPr>
                        <a:t>Buena separación</a:t>
                      </a:r>
                      <a:endParaRPr lang="es-CO" sz="1400" dirty="0">
                        <a:solidFill>
                          <a:schemeClr val="tx1"/>
                        </a:solidFill>
                        <a:latin typeface="Liter" panose="020B0604020202020204" charset="0"/>
                      </a:endParaRPr>
                    </a:p>
                  </a:txBody>
                  <a:tcPr anchor="ctr"/>
                </a:tc>
                <a:extLst>
                  <a:ext uri="{0D108BD9-81ED-4DB2-BD59-A6C34878D82A}">
                    <a16:rowId xmlns:a16="http://schemas.microsoft.com/office/drawing/2014/main" val="2305350975"/>
                  </a:ext>
                </a:extLst>
              </a:tr>
              <a:tr h="629823">
                <a:tc>
                  <a:txBody>
                    <a:bodyPr/>
                    <a:lstStyle/>
                    <a:p>
                      <a:pPr algn="ctr"/>
                      <a:r>
                        <a:rPr kumimoji="0" lang="es-ES" sz="1400" b="1" i="0" u="none" strike="noStrike" kern="1200" cap="none" spc="0" normalizeH="0" baseline="0" noProof="0" dirty="0">
                          <a:ln>
                            <a:noFill/>
                          </a:ln>
                          <a:solidFill>
                            <a:schemeClr val="tx1"/>
                          </a:solidFill>
                          <a:effectLst/>
                          <a:uLnTx/>
                          <a:uFillTx/>
                          <a:latin typeface="Liter" panose="020B0604020202020204" charset="0"/>
                          <a:ea typeface="+mn-ea"/>
                          <a:cs typeface="+mn-cs"/>
                        </a:rPr>
                        <a:t>3</a:t>
                      </a:r>
                      <a:endParaRPr lang="es-CO" sz="1400" dirty="0">
                        <a:solidFill>
                          <a:schemeClr val="tx1"/>
                        </a:solidFill>
                        <a:latin typeface="Liter" panose="020B0604020202020204" charset="0"/>
                      </a:endParaRPr>
                    </a:p>
                  </a:txBody>
                  <a:tcPr anchor="ctr"/>
                </a:tc>
                <a:tc>
                  <a:txBody>
                    <a:bodyPr/>
                    <a:lstStyle/>
                    <a:p>
                      <a:pPr algn="ctr"/>
                      <a:r>
                        <a:rPr kumimoji="0" lang="es-ES" sz="1400" b="1" i="0" u="none" strike="noStrike" kern="1200" cap="none" spc="0" normalizeH="0" baseline="0" noProof="0" dirty="0">
                          <a:ln>
                            <a:noFill/>
                          </a:ln>
                          <a:solidFill>
                            <a:schemeClr val="tx1"/>
                          </a:solidFill>
                          <a:effectLst/>
                          <a:uLnTx/>
                          <a:uFillTx/>
                          <a:latin typeface="Liter" panose="020B0604020202020204" charset="0"/>
                          <a:ea typeface="+mn-ea"/>
                          <a:cs typeface="+mn-cs"/>
                        </a:rPr>
                        <a:t>0.5773</a:t>
                      </a:r>
                      <a:endParaRPr lang="es-CO" sz="1400" dirty="0">
                        <a:solidFill>
                          <a:schemeClr val="tx1"/>
                        </a:solidFill>
                        <a:latin typeface="Liter" panose="020B060402020202020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400" b="1" i="0" u="none" strike="noStrike" kern="1200" cap="none" spc="0" normalizeH="0" baseline="0" noProof="0" dirty="0">
                          <a:ln>
                            <a:noFill/>
                          </a:ln>
                          <a:solidFill>
                            <a:schemeClr val="tx1"/>
                          </a:solidFill>
                          <a:effectLst/>
                          <a:uLnTx/>
                          <a:uFillTx/>
                          <a:latin typeface="Liter" panose="020B0604020202020204" charset="0"/>
                          <a:ea typeface="+mn-ea"/>
                          <a:cs typeface="+mn-cs"/>
                        </a:rPr>
                        <a:t>Buena separación</a:t>
                      </a:r>
                      <a:endParaRPr kumimoji="0" lang="es-CO" sz="1400" b="1" i="0" u="none" strike="noStrike" kern="1200" cap="none" spc="0" normalizeH="0" baseline="0" noProof="0" dirty="0">
                        <a:ln>
                          <a:noFill/>
                        </a:ln>
                        <a:solidFill>
                          <a:schemeClr val="tx1"/>
                        </a:solidFill>
                        <a:effectLst/>
                        <a:uLnTx/>
                        <a:uFillTx/>
                        <a:latin typeface="Liter" panose="020B0604020202020204" charset="0"/>
                        <a:ea typeface="+mn-ea"/>
                        <a:cs typeface="+mn-cs"/>
                      </a:endParaRPr>
                    </a:p>
                  </a:txBody>
                  <a:tcPr anchor="ctr"/>
                </a:tc>
                <a:extLst>
                  <a:ext uri="{0D108BD9-81ED-4DB2-BD59-A6C34878D82A}">
                    <a16:rowId xmlns:a16="http://schemas.microsoft.com/office/drawing/2014/main" val="365547175"/>
                  </a:ext>
                </a:extLst>
              </a:tr>
              <a:tr h="631070">
                <a:tc>
                  <a:txBody>
                    <a:bodyPr/>
                    <a:lstStyle/>
                    <a:p>
                      <a:pPr algn="ctr"/>
                      <a:r>
                        <a:rPr lang="es-ES" sz="1400" dirty="0">
                          <a:solidFill>
                            <a:schemeClr val="tx1"/>
                          </a:solidFill>
                          <a:latin typeface="Liter" panose="020B0604020202020204" charset="0"/>
                        </a:rPr>
                        <a:t>4</a:t>
                      </a:r>
                      <a:endParaRPr lang="es-CO" sz="1400" dirty="0">
                        <a:solidFill>
                          <a:schemeClr val="tx1"/>
                        </a:solidFill>
                        <a:latin typeface="Liter" panose="020B0604020202020204" charset="0"/>
                      </a:endParaRPr>
                    </a:p>
                  </a:txBody>
                  <a:tcPr anchor="ctr"/>
                </a:tc>
                <a:tc>
                  <a:txBody>
                    <a:bodyPr/>
                    <a:lstStyle/>
                    <a:p>
                      <a:pPr algn="ctr"/>
                      <a:r>
                        <a:rPr kumimoji="0" lang="es-ES" sz="1400" b="1" i="0" u="none" strike="noStrike" kern="1200" cap="none" spc="0" normalizeH="0" baseline="0" noProof="0" dirty="0">
                          <a:ln>
                            <a:noFill/>
                          </a:ln>
                          <a:solidFill>
                            <a:schemeClr val="tx1"/>
                          </a:solidFill>
                          <a:effectLst/>
                          <a:uLnTx/>
                          <a:uFillTx/>
                          <a:latin typeface="Liter" panose="020B0604020202020204" charset="0"/>
                          <a:ea typeface="+mn-ea"/>
                          <a:cs typeface="+mn-cs"/>
                        </a:rPr>
                        <a:t>0.5829</a:t>
                      </a:r>
                      <a:endParaRPr lang="es-CO" sz="1400" dirty="0">
                        <a:solidFill>
                          <a:schemeClr val="tx1"/>
                        </a:solidFill>
                        <a:latin typeface="Liter" panose="020B060402020202020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400" b="1" i="0" u="none" strike="noStrike" kern="1200" cap="none" spc="0" normalizeH="0" baseline="0" noProof="0" dirty="0">
                          <a:ln>
                            <a:noFill/>
                          </a:ln>
                          <a:solidFill>
                            <a:schemeClr val="tx1"/>
                          </a:solidFill>
                          <a:effectLst/>
                          <a:uLnTx/>
                          <a:uFillTx/>
                          <a:latin typeface="Liter" panose="020B0604020202020204" charset="0"/>
                          <a:ea typeface="+mn-ea"/>
                          <a:cs typeface="+mn-cs"/>
                        </a:rPr>
                        <a:t>Buena separación</a:t>
                      </a:r>
                      <a:endParaRPr kumimoji="0" lang="es-CO" sz="1400" b="1" i="0" u="none" strike="noStrike" kern="1200" cap="none" spc="0" normalizeH="0" baseline="0" noProof="0" dirty="0">
                        <a:ln>
                          <a:noFill/>
                        </a:ln>
                        <a:solidFill>
                          <a:schemeClr val="tx1"/>
                        </a:solidFill>
                        <a:effectLst/>
                        <a:uLnTx/>
                        <a:uFillTx/>
                        <a:latin typeface="Liter" panose="020B0604020202020204" charset="0"/>
                        <a:ea typeface="+mn-ea"/>
                        <a:cs typeface="+mn-cs"/>
                      </a:endParaRPr>
                    </a:p>
                  </a:txBody>
                  <a:tcPr anchor="ctr"/>
                </a:tc>
                <a:extLst>
                  <a:ext uri="{0D108BD9-81ED-4DB2-BD59-A6C34878D82A}">
                    <a16:rowId xmlns:a16="http://schemas.microsoft.com/office/drawing/2014/main" val="2356953018"/>
                  </a:ext>
                </a:extLst>
              </a:tr>
            </a:tbl>
          </a:graphicData>
        </a:graphic>
      </p:graphicFrame>
      <p:graphicFrame>
        <p:nvGraphicFramePr>
          <p:cNvPr id="14" name="Tabla 13">
            <a:extLst>
              <a:ext uri="{FF2B5EF4-FFF2-40B4-BE49-F238E27FC236}">
                <a16:creationId xmlns:a16="http://schemas.microsoft.com/office/drawing/2014/main" id="{5B4CBEBD-17C0-274A-6632-CE76D93CD065}"/>
              </a:ext>
            </a:extLst>
          </p:cNvPr>
          <p:cNvGraphicFramePr>
            <a:graphicFrameLocks noGrp="1"/>
          </p:cNvGraphicFramePr>
          <p:nvPr>
            <p:extLst>
              <p:ext uri="{D42A27DB-BD31-4B8C-83A1-F6EECF244321}">
                <p14:modId xmlns:p14="http://schemas.microsoft.com/office/powerpoint/2010/main" val="362502699"/>
              </p:ext>
            </p:extLst>
          </p:nvPr>
        </p:nvGraphicFramePr>
        <p:xfrm>
          <a:off x="804466" y="5087945"/>
          <a:ext cx="14963171" cy="1341120"/>
        </p:xfrm>
        <a:graphic>
          <a:graphicData uri="http://schemas.openxmlformats.org/drawingml/2006/table">
            <a:tbl>
              <a:tblPr>
                <a:tableStyleId>{3C2FFA5D-87B4-456A-9821-1D502468CF0F}</a:tableStyleId>
              </a:tblPr>
              <a:tblGrid>
                <a:gridCol w="4680262">
                  <a:extLst>
                    <a:ext uri="{9D8B030D-6E8A-4147-A177-3AD203B41FA5}">
                      <a16:colId xmlns:a16="http://schemas.microsoft.com/office/drawing/2014/main" val="2971392602"/>
                    </a:ext>
                  </a:extLst>
                </a:gridCol>
                <a:gridCol w="4680262">
                  <a:extLst>
                    <a:ext uri="{9D8B030D-6E8A-4147-A177-3AD203B41FA5}">
                      <a16:colId xmlns:a16="http://schemas.microsoft.com/office/drawing/2014/main" val="1166154792"/>
                    </a:ext>
                  </a:extLst>
                </a:gridCol>
                <a:gridCol w="5602647">
                  <a:extLst>
                    <a:ext uri="{9D8B030D-6E8A-4147-A177-3AD203B41FA5}">
                      <a16:colId xmlns:a16="http://schemas.microsoft.com/office/drawing/2014/main" val="1165266858"/>
                    </a:ext>
                  </a:extLst>
                </a:gridCol>
              </a:tblGrid>
              <a:tr h="272505">
                <a:tc>
                  <a:txBody>
                    <a:bodyPr/>
                    <a:lstStyle/>
                    <a:p>
                      <a:pPr algn="ctr" rtl="0">
                        <a:buNone/>
                      </a:pPr>
                      <a:r>
                        <a:rPr lang="es-CO" sz="1200" b="1" u="sng" dirty="0">
                          <a:solidFill>
                            <a:srgbClr val="1F1F1F"/>
                          </a:solidFill>
                          <a:effectLst>
                            <a:outerShdw blurRad="38100" dist="38100" dir="2700000" algn="tl">
                              <a:srgbClr val="000000">
                                <a:alpha val="43137"/>
                              </a:srgbClr>
                            </a:outerShdw>
                          </a:effectLst>
                        </a:rPr>
                        <a:t>Métrica</a:t>
                      </a:r>
                      <a:endParaRPr lang="es-CO" sz="1200" b="1" u="sng" dirty="0">
                        <a:solidFill>
                          <a:srgbClr val="1F1F1F"/>
                        </a:solidFill>
                        <a:effectLst>
                          <a:outerShdw blurRad="38100" dist="38100" dir="2700000" algn="tl">
                            <a:srgbClr val="000000">
                              <a:alpha val="43137"/>
                            </a:srgbClr>
                          </a:outerShdw>
                        </a:effectLst>
                        <a:latin typeface="Google Sans Text"/>
                      </a:endParaRPr>
                    </a:p>
                  </a:txBody>
                  <a:tcPr marR="57150" marT="76200" marB="76200" anchor="ctr"/>
                </a:tc>
                <a:tc>
                  <a:txBody>
                    <a:bodyPr/>
                    <a:lstStyle/>
                    <a:p>
                      <a:pPr algn="ctr" rtl="0">
                        <a:buNone/>
                      </a:pPr>
                      <a:r>
                        <a:rPr lang="es-CO" sz="1200" b="1" u="sng">
                          <a:solidFill>
                            <a:srgbClr val="1F1F1F"/>
                          </a:solidFill>
                          <a:effectLst>
                            <a:outerShdw blurRad="38100" dist="38100" dir="2700000" algn="tl">
                              <a:srgbClr val="000000">
                                <a:alpha val="43137"/>
                              </a:srgbClr>
                            </a:outerShdw>
                          </a:effectLst>
                        </a:rPr>
                        <a:t>K-Means (K=3)</a:t>
                      </a:r>
                      <a:endParaRPr lang="es-CO" sz="1200" b="1" u="sng">
                        <a:solidFill>
                          <a:srgbClr val="1F1F1F"/>
                        </a:solidFill>
                        <a:effectLst>
                          <a:outerShdw blurRad="38100" dist="38100" dir="2700000" algn="tl">
                            <a:srgbClr val="000000">
                              <a:alpha val="43137"/>
                            </a:srgbClr>
                          </a:outerShdw>
                        </a:effectLst>
                        <a:latin typeface="Google Sans Text"/>
                      </a:endParaRPr>
                    </a:p>
                  </a:txBody>
                  <a:tcPr marR="57150" marT="76200" marB="76200" anchor="ctr"/>
                </a:tc>
                <a:tc>
                  <a:txBody>
                    <a:bodyPr/>
                    <a:lstStyle/>
                    <a:p>
                      <a:pPr algn="ctr" rtl="0">
                        <a:buNone/>
                      </a:pPr>
                      <a:r>
                        <a:rPr lang="es-CO" sz="1200" b="1" u="sng">
                          <a:solidFill>
                            <a:srgbClr val="1F1F1F"/>
                          </a:solidFill>
                          <a:effectLst>
                            <a:outerShdw blurRad="38100" dist="38100" dir="2700000" algn="tl">
                              <a:srgbClr val="000000">
                                <a:alpha val="43137"/>
                              </a:srgbClr>
                            </a:outerShdw>
                          </a:effectLst>
                        </a:rPr>
                        <a:t>Mean Shift</a:t>
                      </a:r>
                      <a:endParaRPr lang="es-CO" sz="1200" b="1" u="sng">
                        <a:solidFill>
                          <a:srgbClr val="1F1F1F"/>
                        </a:solidFill>
                        <a:effectLst>
                          <a:outerShdw blurRad="38100" dist="38100" dir="2700000" algn="tl">
                            <a:srgbClr val="000000">
                              <a:alpha val="43137"/>
                            </a:srgbClr>
                          </a:outerShdw>
                        </a:effectLst>
                        <a:latin typeface="Google Sans Text"/>
                      </a:endParaRPr>
                    </a:p>
                  </a:txBody>
                  <a:tcPr marT="76200" marB="76200" anchor="ctr"/>
                </a:tc>
                <a:extLst>
                  <a:ext uri="{0D108BD9-81ED-4DB2-BD59-A6C34878D82A}">
                    <a16:rowId xmlns:a16="http://schemas.microsoft.com/office/drawing/2014/main" val="2114334908"/>
                  </a:ext>
                </a:extLst>
              </a:tr>
              <a:tr h="272505">
                <a:tc>
                  <a:txBody>
                    <a:bodyPr/>
                    <a:lstStyle/>
                    <a:p>
                      <a:pPr algn="ctr" rtl="0">
                        <a:buNone/>
                      </a:pPr>
                      <a:r>
                        <a:rPr lang="es-CO" sz="1200" b="1" u="sng">
                          <a:solidFill>
                            <a:srgbClr val="1F1F1F"/>
                          </a:solidFill>
                          <a:effectLst>
                            <a:outerShdw blurRad="38100" dist="38100" dir="2700000" algn="tl">
                              <a:srgbClr val="000000">
                                <a:alpha val="43137"/>
                              </a:srgbClr>
                            </a:outerShdw>
                          </a:effectLst>
                        </a:rPr>
                        <a:t>Puntaje de Calidad</a:t>
                      </a:r>
                      <a:endParaRPr lang="es-CO" sz="1200" b="1" u="sng">
                        <a:solidFill>
                          <a:srgbClr val="1F1F1F"/>
                        </a:solidFill>
                        <a:effectLst>
                          <a:outerShdw blurRad="38100" dist="38100" dir="2700000" algn="tl">
                            <a:srgbClr val="000000">
                              <a:alpha val="43137"/>
                            </a:srgbClr>
                          </a:outerShdw>
                        </a:effectLst>
                        <a:latin typeface="Google Sans Text"/>
                      </a:endParaRPr>
                    </a:p>
                  </a:txBody>
                  <a:tcPr marR="57150" marT="76200" marB="76200" anchor="ctr"/>
                </a:tc>
                <a:tc>
                  <a:txBody>
                    <a:bodyPr/>
                    <a:lstStyle/>
                    <a:p>
                      <a:pPr algn="ctr" rtl="0">
                        <a:buNone/>
                      </a:pPr>
                      <a:r>
                        <a:rPr lang="es-CO" sz="1200" b="1" u="sng">
                          <a:solidFill>
                            <a:srgbClr val="1F1F1F"/>
                          </a:solidFill>
                          <a:effectLst>
                            <a:outerShdw blurRad="38100" dist="38100" dir="2700000" algn="tl">
                              <a:srgbClr val="000000">
                                <a:alpha val="43137"/>
                              </a:srgbClr>
                            </a:outerShdw>
                          </a:effectLst>
                        </a:rPr>
                        <a:t>0.59 (Silhouette Score)</a:t>
                      </a:r>
                      <a:endParaRPr lang="es-CO" sz="1200" b="1" u="sng">
                        <a:solidFill>
                          <a:srgbClr val="1F1F1F"/>
                        </a:solidFill>
                        <a:effectLst>
                          <a:outerShdw blurRad="38100" dist="38100" dir="2700000" algn="tl">
                            <a:srgbClr val="000000">
                              <a:alpha val="43137"/>
                            </a:srgbClr>
                          </a:outerShdw>
                        </a:effectLst>
                        <a:latin typeface="Google Sans Text"/>
                      </a:endParaRPr>
                    </a:p>
                  </a:txBody>
                  <a:tcPr marR="57150" marT="76200" marB="76200" anchor="ctr"/>
                </a:tc>
                <a:tc>
                  <a:txBody>
                    <a:bodyPr/>
                    <a:lstStyle/>
                    <a:p>
                      <a:pPr algn="ctr" rtl="0">
                        <a:buNone/>
                      </a:pPr>
                      <a:r>
                        <a:rPr lang="es-ES" sz="1200" b="1" u="sng" dirty="0">
                          <a:solidFill>
                            <a:srgbClr val="1F1F1F"/>
                          </a:solidFill>
                          <a:effectLst>
                            <a:outerShdw blurRad="38100" dist="38100" dir="2700000" algn="tl">
                              <a:srgbClr val="000000">
                                <a:alpha val="43137"/>
                              </a:srgbClr>
                            </a:outerShdw>
                          </a:effectLst>
                        </a:rPr>
                        <a:t>N/A (Basado en densidad)</a:t>
                      </a:r>
                      <a:endParaRPr lang="es-ES" sz="1200" b="1" u="sng" dirty="0">
                        <a:solidFill>
                          <a:srgbClr val="1F1F1F"/>
                        </a:solidFill>
                        <a:effectLst>
                          <a:outerShdw blurRad="38100" dist="38100" dir="2700000" algn="tl">
                            <a:srgbClr val="000000">
                              <a:alpha val="43137"/>
                            </a:srgbClr>
                          </a:outerShdw>
                        </a:effectLst>
                        <a:latin typeface="Google Sans Text"/>
                      </a:endParaRPr>
                    </a:p>
                  </a:txBody>
                  <a:tcPr marT="76200" marB="76200" anchor="ctr"/>
                </a:tc>
                <a:extLst>
                  <a:ext uri="{0D108BD9-81ED-4DB2-BD59-A6C34878D82A}">
                    <a16:rowId xmlns:a16="http://schemas.microsoft.com/office/drawing/2014/main" val="51706354"/>
                  </a:ext>
                </a:extLst>
              </a:tr>
              <a:tr h="272505">
                <a:tc>
                  <a:txBody>
                    <a:bodyPr/>
                    <a:lstStyle/>
                    <a:p>
                      <a:pPr algn="ctr" rtl="0">
                        <a:buNone/>
                      </a:pPr>
                      <a:r>
                        <a:rPr lang="es-CO" sz="1200" b="1" u="sng">
                          <a:solidFill>
                            <a:srgbClr val="1F1F1F"/>
                          </a:solidFill>
                          <a:effectLst>
                            <a:outerShdw blurRad="38100" dist="38100" dir="2700000" algn="tl">
                              <a:srgbClr val="000000">
                                <a:alpha val="43137"/>
                              </a:srgbClr>
                            </a:outerShdw>
                          </a:effectLst>
                        </a:rPr>
                        <a:t>Complejidad Encontrada</a:t>
                      </a:r>
                      <a:endParaRPr lang="es-CO" sz="1200" b="1" u="sng">
                        <a:solidFill>
                          <a:srgbClr val="1F1F1F"/>
                        </a:solidFill>
                        <a:effectLst>
                          <a:outerShdw blurRad="38100" dist="38100" dir="2700000" algn="tl">
                            <a:srgbClr val="000000">
                              <a:alpha val="43137"/>
                            </a:srgbClr>
                          </a:outerShdw>
                        </a:effectLst>
                        <a:latin typeface="Google Sans Text"/>
                      </a:endParaRPr>
                    </a:p>
                  </a:txBody>
                  <a:tcPr marR="57150" marT="76200" marB="76200" anchor="ctr"/>
                </a:tc>
                <a:tc>
                  <a:txBody>
                    <a:bodyPr/>
                    <a:lstStyle/>
                    <a:p>
                      <a:pPr algn="ctr" rtl="0">
                        <a:buNone/>
                      </a:pPr>
                      <a:r>
                        <a:rPr lang="es-CO" sz="1200" b="1" u="sng" dirty="0">
                          <a:solidFill>
                            <a:srgbClr val="1F1F1F"/>
                          </a:solidFill>
                          <a:effectLst>
                            <a:outerShdw blurRad="38100" dist="38100" dir="2700000" algn="tl">
                              <a:srgbClr val="000000">
                                <a:alpha val="43137"/>
                              </a:srgbClr>
                            </a:outerShdw>
                          </a:effectLst>
                        </a:rPr>
                        <a:t>3 </a:t>
                      </a:r>
                      <a:r>
                        <a:rPr lang="es-CO" sz="1200" b="1" u="sng" dirty="0" err="1">
                          <a:solidFill>
                            <a:srgbClr val="1F1F1F"/>
                          </a:solidFill>
                          <a:effectLst>
                            <a:outerShdw blurRad="38100" dist="38100" dir="2700000" algn="tl">
                              <a:srgbClr val="000000">
                                <a:alpha val="43137"/>
                              </a:srgbClr>
                            </a:outerShdw>
                          </a:effectLst>
                        </a:rPr>
                        <a:t>Clusters</a:t>
                      </a:r>
                      <a:r>
                        <a:rPr lang="es-CO" sz="1200" b="1" u="sng" dirty="0">
                          <a:solidFill>
                            <a:srgbClr val="1F1F1F"/>
                          </a:solidFill>
                          <a:effectLst>
                            <a:outerShdw blurRad="38100" dist="38100" dir="2700000" algn="tl">
                              <a:srgbClr val="000000">
                                <a:alpha val="43137"/>
                              </a:srgbClr>
                            </a:outerShdw>
                          </a:effectLst>
                        </a:rPr>
                        <a:t> (Forzado)</a:t>
                      </a:r>
                      <a:endParaRPr lang="es-CO" sz="1200" b="1" u="sng" dirty="0">
                        <a:solidFill>
                          <a:srgbClr val="1F1F1F"/>
                        </a:solidFill>
                        <a:effectLst>
                          <a:outerShdw blurRad="38100" dist="38100" dir="2700000" algn="tl">
                            <a:srgbClr val="000000">
                              <a:alpha val="43137"/>
                            </a:srgbClr>
                          </a:outerShdw>
                        </a:effectLst>
                        <a:latin typeface="Google Sans Text"/>
                      </a:endParaRPr>
                    </a:p>
                  </a:txBody>
                  <a:tcPr marR="57150" marT="76200" marB="76200" anchor="ctr"/>
                </a:tc>
                <a:tc>
                  <a:txBody>
                    <a:bodyPr/>
                    <a:lstStyle/>
                    <a:p>
                      <a:pPr algn="ctr" rtl="0">
                        <a:buNone/>
                      </a:pPr>
                      <a:r>
                        <a:rPr lang="es-CO" sz="1200" b="1" u="sng">
                          <a:solidFill>
                            <a:srgbClr val="1F1F1F"/>
                          </a:solidFill>
                          <a:effectLst>
                            <a:outerShdw blurRad="38100" dist="38100" dir="2700000" algn="tl">
                              <a:srgbClr val="000000">
                                <a:alpha val="43137"/>
                              </a:srgbClr>
                            </a:outerShdw>
                          </a:effectLst>
                        </a:rPr>
                        <a:t>7 Clusters (Automático)</a:t>
                      </a:r>
                      <a:endParaRPr lang="es-CO" sz="1200" b="1" u="sng">
                        <a:solidFill>
                          <a:srgbClr val="1F1F1F"/>
                        </a:solidFill>
                        <a:effectLst>
                          <a:outerShdw blurRad="38100" dist="38100" dir="2700000" algn="tl">
                            <a:srgbClr val="000000">
                              <a:alpha val="43137"/>
                            </a:srgbClr>
                          </a:outerShdw>
                        </a:effectLst>
                        <a:latin typeface="Google Sans Text"/>
                      </a:endParaRPr>
                    </a:p>
                  </a:txBody>
                  <a:tcPr marT="76200" marB="76200" anchor="ctr"/>
                </a:tc>
                <a:extLst>
                  <a:ext uri="{0D108BD9-81ED-4DB2-BD59-A6C34878D82A}">
                    <a16:rowId xmlns:a16="http://schemas.microsoft.com/office/drawing/2014/main" val="3839886012"/>
                  </a:ext>
                </a:extLst>
              </a:tr>
              <a:tr h="272505">
                <a:tc>
                  <a:txBody>
                    <a:bodyPr/>
                    <a:lstStyle/>
                    <a:p>
                      <a:pPr algn="ctr" rtl="0">
                        <a:buNone/>
                      </a:pPr>
                      <a:r>
                        <a:rPr lang="es-CO" sz="1200" b="1" u="sng">
                          <a:solidFill>
                            <a:srgbClr val="1F1F1F"/>
                          </a:solidFill>
                          <a:effectLst>
                            <a:outerShdw blurRad="38100" dist="38100" dir="2700000" algn="tl">
                              <a:srgbClr val="000000">
                                <a:alpha val="43137"/>
                              </a:srgbClr>
                            </a:outerShdw>
                          </a:effectLst>
                        </a:rPr>
                        <a:t>Parámetro Clave</a:t>
                      </a:r>
                      <a:endParaRPr lang="es-CO" sz="1200" b="1" u="sng">
                        <a:solidFill>
                          <a:srgbClr val="1F1F1F"/>
                        </a:solidFill>
                        <a:effectLst>
                          <a:outerShdw blurRad="38100" dist="38100" dir="2700000" algn="tl">
                            <a:srgbClr val="000000">
                              <a:alpha val="43137"/>
                            </a:srgbClr>
                          </a:outerShdw>
                        </a:effectLst>
                        <a:latin typeface="Google Sans Text"/>
                      </a:endParaRPr>
                    </a:p>
                  </a:txBody>
                  <a:tcPr marR="57150" marT="76200" marB="76200" anchor="ctr"/>
                </a:tc>
                <a:tc>
                  <a:txBody>
                    <a:bodyPr/>
                    <a:lstStyle/>
                    <a:p>
                      <a:pPr algn="ctr" rtl="0">
                        <a:buNone/>
                      </a:pPr>
                      <a:r>
                        <a:rPr lang="es-CO" sz="1200" b="1" u="sng">
                          <a:solidFill>
                            <a:srgbClr val="1F1F1F"/>
                          </a:solidFill>
                          <a:effectLst>
                            <a:outerShdw blurRad="38100" dist="38100" dir="2700000" algn="tl">
                              <a:srgbClr val="000000">
                                <a:alpha val="43137"/>
                              </a:srgbClr>
                            </a:outerShdw>
                          </a:effectLst>
                        </a:rPr>
                        <a:t>Centroides iniciales</a:t>
                      </a:r>
                      <a:endParaRPr lang="es-CO" sz="1200" b="1" u="sng">
                        <a:solidFill>
                          <a:srgbClr val="1F1F1F"/>
                        </a:solidFill>
                        <a:effectLst>
                          <a:outerShdw blurRad="38100" dist="38100" dir="2700000" algn="tl">
                            <a:srgbClr val="000000">
                              <a:alpha val="43137"/>
                            </a:srgbClr>
                          </a:outerShdw>
                        </a:effectLst>
                        <a:latin typeface="Google Sans Text"/>
                      </a:endParaRPr>
                    </a:p>
                  </a:txBody>
                  <a:tcPr marR="57150" marT="76200" marB="76200" anchor="ctr"/>
                </a:tc>
                <a:tc>
                  <a:txBody>
                    <a:bodyPr/>
                    <a:lstStyle/>
                    <a:p>
                      <a:pPr algn="ctr" rtl="0">
                        <a:buNone/>
                      </a:pPr>
                      <a:r>
                        <a:rPr lang="es-CO" sz="1200" b="1" u="sng" dirty="0" err="1">
                          <a:solidFill>
                            <a:srgbClr val="1F1F1F"/>
                          </a:solidFill>
                          <a:effectLst>
                            <a:outerShdw blurRad="38100" dist="38100" dir="2700000" algn="tl">
                              <a:srgbClr val="000000">
                                <a:alpha val="43137"/>
                              </a:srgbClr>
                            </a:outerShdw>
                          </a:effectLst>
                        </a:rPr>
                        <a:t>Bandwidth</a:t>
                      </a:r>
                      <a:r>
                        <a:rPr lang="es-CO" sz="1200" b="1" u="sng" dirty="0">
                          <a:solidFill>
                            <a:srgbClr val="1F1F1F"/>
                          </a:solidFill>
                          <a:effectLst>
                            <a:outerShdw blurRad="38100" dist="38100" dir="2700000" algn="tl">
                              <a:srgbClr val="000000">
                                <a:alpha val="43137"/>
                              </a:srgbClr>
                            </a:outerShdw>
                          </a:effectLst>
                        </a:rPr>
                        <a:t>: 0.0806</a:t>
                      </a:r>
                      <a:endParaRPr lang="es-CO" sz="1200" b="1" u="sng" dirty="0">
                        <a:solidFill>
                          <a:srgbClr val="1F1F1F"/>
                        </a:solidFill>
                        <a:effectLst>
                          <a:outerShdw blurRad="38100" dist="38100" dir="2700000" algn="tl">
                            <a:srgbClr val="000000">
                              <a:alpha val="43137"/>
                            </a:srgbClr>
                          </a:outerShdw>
                        </a:effectLst>
                        <a:latin typeface="Google Sans Text"/>
                      </a:endParaRPr>
                    </a:p>
                  </a:txBody>
                  <a:tcPr marT="76200" marB="76200" anchor="ctr"/>
                </a:tc>
                <a:extLst>
                  <a:ext uri="{0D108BD9-81ED-4DB2-BD59-A6C34878D82A}">
                    <a16:rowId xmlns:a16="http://schemas.microsoft.com/office/drawing/2014/main" val="2720695147"/>
                  </a:ext>
                </a:extLst>
              </a:tr>
            </a:tbl>
          </a:graphicData>
        </a:graphic>
      </p:graphicFrame>
      <p:graphicFrame>
        <p:nvGraphicFramePr>
          <p:cNvPr id="15" name="Tabla 14">
            <a:extLst>
              <a:ext uri="{FF2B5EF4-FFF2-40B4-BE49-F238E27FC236}">
                <a16:creationId xmlns:a16="http://schemas.microsoft.com/office/drawing/2014/main" id="{A597CC5F-32F4-4A0D-D3B6-73A5E518F851}"/>
              </a:ext>
            </a:extLst>
          </p:cNvPr>
          <p:cNvGraphicFramePr>
            <a:graphicFrameLocks noGrp="1"/>
          </p:cNvGraphicFramePr>
          <p:nvPr>
            <p:extLst>
              <p:ext uri="{D42A27DB-BD31-4B8C-83A1-F6EECF244321}">
                <p14:modId xmlns:p14="http://schemas.microsoft.com/office/powerpoint/2010/main" val="2929544983"/>
              </p:ext>
            </p:extLst>
          </p:nvPr>
        </p:nvGraphicFramePr>
        <p:xfrm>
          <a:off x="11149531" y="1752599"/>
          <a:ext cx="4564317" cy="3158430"/>
        </p:xfrm>
        <a:graphic>
          <a:graphicData uri="http://schemas.openxmlformats.org/drawingml/2006/table">
            <a:tbl>
              <a:tblPr firstRow="1" bandRow="1">
                <a:tableStyleId>{5C22544A-7EE6-4342-B048-85BDC9FD1C3A}</a:tableStyleId>
              </a:tblPr>
              <a:tblGrid>
                <a:gridCol w="1552695">
                  <a:extLst>
                    <a:ext uri="{9D8B030D-6E8A-4147-A177-3AD203B41FA5}">
                      <a16:colId xmlns:a16="http://schemas.microsoft.com/office/drawing/2014/main" val="3290446030"/>
                    </a:ext>
                  </a:extLst>
                </a:gridCol>
                <a:gridCol w="1505810">
                  <a:extLst>
                    <a:ext uri="{9D8B030D-6E8A-4147-A177-3AD203B41FA5}">
                      <a16:colId xmlns:a16="http://schemas.microsoft.com/office/drawing/2014/main" val="1193994347"/>
                    </a:ext>
                  </a:extLst>
                </a:gridCol>
                <a:gridCol w="752906">
                  <a:extLst>
                    <a:ext uri="{9D8B030D-6E8A-4147-A177-3AD203B41FA5}">
                      <a16:colId xmlns:a16="http://schemas.microsoft.com/office/drawing/2014/main" val="987261717"/>
                    </a:ext>
                  </a:extLst>
                </a:gridCol>
                <a:gridCol w="752906">
                  <a:extLst>
                    <a:ext uri="{9D8B030D-6E8A-4147-A177-3AD203B41FA5}">
                      <a16:colId xmlns:a16="http://schemas.microsoft.com/office/drawing/2014/main" val="2306742756"/>
                    </a:ext>
                  </a:extLst>
                </a:gridCol>
              </a:tblGrid>
              <a:tr h="392234">
                <a:tc>
                  <a:txBody>
                    <a:bodyPr/>
                    <a:lstStyle/>
                    <a:p>
                      <a:pPr algn="ctr"/>
                      <a:r>
                        <a:rPr lang="es-CO" sz="1400" dirty="0">
                          <a:effectLst>
                            <a:outerShdw blurRad="38100" dist="38100" dir="2700000" algn="tl">
                              <a:srgbClr val="000000">
                                <a:alpha val="43137"/>
                              </a:srgbClr>
                            </a:outerShdw>
                          </a:effectLst>
                          <a:latin typeface="Liter" panose="020B0604020202020204" charset="0"/>
                        </a:rPr>
                        <a:t>Cluster</a:t>
                      </a:r>
                    </a:p>
                  </a:txBody>
                  <a:tcPr anchor="ctr"/>
                </a:tc>
                <a:tc>
                  <a:txBody>
                    <a:bodyPr/>
                    <a:lstStyle/>
                    <a:p>
                      <a:pPr algn="ctr"/>
                      <a:r>
                        <a:rPr lang="es-CO" sz="1400" dirty="0">
                          <a:effectLst>
                            <a:outerShdw blurRad="38100" dist="38100" dir="2700000" algn="tl">
                              <a:srgbClr val="000000">
                                <a:alpha val="43137"/>
                              </a:srgbClr>
                            </a:outerShdw>
                          </a:effectLst>
                          <a:latin typeface="Liter" panose="020B0604020202020204" charset="0"/>
                        </a:rPr>
                        <a:t>R</a:t>
                      </a:r>
                    </a:p>
                  </a:txBody>
                  <a:tcPr anchor="ctr"/>
                </a:tc>
                <a:tc>
                  <a:txBody>
                    <a:bodyPr/>
                    <a:lstStyle/>
                    <a:p>
                      <a:pPr algn="ctr"/>
                      <a:r>
                        <a:rPr lang="es-CO" sz="1400" dirty="0">
                          <a:effectLst>
                            <a:outerShdw blurRad="38100" dist="38100" dir="2700000" algn="tl">
                              <a:srgbClr val="000000">
                                <a:alpha val="43137"/>
                              </a:srgbClr>
                            </a:outerShdw>
                          </a:effectLst>
                          <a:latin typeface="Liter" panose="020B0604020202020204" charset="0"/>
                        </a:rPr>
                        <a:t>G</a:t>
                      </a:r>
                    </a:p>
                  </a:txBody>
                  <a:tcPr anchor="ctr"/>
                </a:tc>
                <a:tc>
                  <a:txBody>
                    <a:bodyPr/>
                    <a:lstStyle/>
                    <a:p>
                      <a:pPr algn="ctr"/>
                      <a:r>
                        <a:rPr lang="es-CO" sz="1400" dirty="0">
                          <a:effectLst>
                            <a:outerShdw blurRad="38100" dist="38100" dir="2700000" algn="tl">
                              <a:srgbClr val="000000">
                                <a:alpha val="43137"/>
                              </a:srgbClr>
                            </a:outerShdw>
                          </a:effectLst>
                          <a:latin typeface="Liter" panose="020B0604020202020204" charset="0"/>
                        </a:rPr>
                        <a:t>B</a:t>
                      </a:r>
                    </a:p>
                  </a:txBody>
                  <a:tcPr anchor="ctr"/>
                </a:tc>
                <a:extLst>
                  <a:ext uri="{0D108BD9-81ED-4DB2-BD59-A6C34878D82A}">
                    <a16:rowId xmlns:a16="http://schemas.microsoft.com/office/drawing/2014/main" val="3928033796"/>
                  </a:ext>
                </a:extLst>
              </a:tr>
              <a:tr h="412792">
                <a:tc>
                  <a:txBody>
                    <a:bodyPr/>
                    <a:lstStyle/>
                    <a:p>
                      <a:pPr algn="ctr"/>
                      <a:r>
                        <a:rPr lang="es-CO" sz="1400" dirty="0">
                          <a:latin typeface="Liter" panose="020B0604020202020204" charset="0"/>
                        </a:rPr>
                        <a:t>0</a:t>
                      </a:r>
                    </a:p>
                  </a:txBody>
                  <a:tcPr anchor="ctr"/>
                </a:tc>
                <a:tc>
                  <a:txBody>
                    <a:bodyPr/>
                    <a:lstStyle/>
                    <a:p>
                      <a:pPr algn="ctr"/>
                      <a:r>
                        <a:rPr kumimoji="0" lang="es-CO" sz="1400" b="0" i="0" u="none" strike="noStrike" kern="1200" cap="none" spc="0" normalizeH="0" baseline="0" noProof="0" dirty="0">
                          <a:ln>
                            <a:noFill/>
                          </a:ln>
                          <a:solidFill>
                            <a:srgbClr val="000000"/>
                          </a:solidFill>
                          <a:effectLst/>
                          <a:uLnTx/>
                          <a:uFillTx/>
                          <a:latin typeface="Liter" panose="020B0604020202020204" charset="0"/>
                          <a:ea typeface="+mn-ea"/>
                          <a:cs typeface="+mn-cs"/>
                        </a:rPr>
                        <a:t>238</a:t>
                      </a:r>
                      <a:endParaRPr lang="es-CO" sz="1400" dirty="0">
                        <a:latin typeface="Liter" panose="020B0604020202020204" charset="0"/>
                      </a:endParaRPr>
                    </a:p>
                  </a:txBody>
                  <a:tcPr anchor="ctr"/>
                </a:tc>
                <a:tc>
                  <a:txBody>
                    <a:bodyPr/>
                    <a:lstStyle/>
                    <a:p>
                      <a:pPr algn="ctr"/>
                      <a:r>
                        <a:rPr lang="es-CO" sz="1400" dirty="0">
                          <a:latin typeface="Liter" panose="020B0604020202020204" charset="0"/>
                        </a:rPr>
                        <a:t>237</a:t>
                      </a:r>
                    </a:p>
                  </a:txBody>
                  <a:tcPr anchor="ctr"/>
                </a:tc>
                <a:tc>
                  <a:txBody>
                    <a:bodyPr/>
                    <a:lstStyle/>
                    <a:p>
                      <a:pPr algn="ctr"/>
                      <a:r>
                        <a:rPr kumimoji="0" lang="es-CO" sz="1400" b="0" i="0" u="none" strike="noStrike" kern="1200" cap="none" spc="0" normalizeH="0" baseline="0" noProof="0" dirty="0">
                          <a:ln>
                            <a:noFill/>
                          </a:ln>
                          <a:solidFill>
                            <a:srgbClr val="000000"/>
                          </a:solidFill>
                          <a:effectLst/>
                          <a:uLnTx/>
                          <a:uFillTx/>
                          <a:latin typeface="Liter" panose="020B0604020202020204" charset="0"/>
                          <a:ea typeface="+mn-ea"/>
                          <a:cs typeface="+mn-cs"/>
                        </a:rPr>
                        <a:t>238</a:t>
                      </a:r>
                      <a:endParaRPr lang="es-CO" sz="1400" dirty="0">
                        <a:latin typeface="Liter" panose="020B0604020202020204" charset="0"/>
                      </a:endParaRPr>
                    </a:p>
                  </a:txBody>
                  <a:tcPr anchor="ctr"/>
                </a:tc>
                <a:extLst>
                  <a:ext uri="{0D108BD9-81ED-4DB2-BD59-A6C34878D82A}">
                    <a16:rowId xmlns:a16="http://schemas.microsoft.com/office/drawing/2014/main" val="934198574"/>
                  </a:ext>
                </a:extLst>
              </a:tr>
              <a:tr h="392234">
                <a:tc>
                  <a:txBody>
                    <a:bodyPr/>
                    <a:lstStyle/>
                    <a:p>
                      <a:pPr algn="ctr"/>
                      <a:r>
                        <a:rPr lang="es-CO" sz="1400" dirty="0">
                          <a:latin typeface="Liter" panose="020B0604020202020204" charset="0"/>
                        </a:rPr>
                        <a:t>1</a:t>
                      </a:r>
                    </a:p>
                  </a:txBody>
                  <a:tcPr anchor="ctr"/>
                </a:tc>
                <a:tc>
                  <a:txBody>
                    <a:bodyPr/>
                    <a:lstStyle/>
                    <a:p>
                      <a:pPr algn="ctr"/>
                      <a:r>
                        <a:rPr lang="es-CO" sz="1400" dirty="0">
                          <a:latin typeface="Liter" panose="020B0604020202020204" charset="0"/>
                        </a:rPr>
                        <a:t>193</a:t>
                      </a:r>
                    </a:p>
                  </a:txBody>
                  <a:tcPr anchor="ctr"/>
                </a:tc>
                <a:tc>
                  <a:txBody>
                    <a:bodyPr/>
                    <a:lstStyle/>
                    <a:p>
                      <a:pPr algn="ctr"/>
                      <a:r>
                        <a:rPr lang="es-CO" sz="1400" dirty="0">
                          <a:latin typeface="Liter" panose="020B0604020202020204" charset="0"/>
                        </a:rPr>
                        <a:t>188</a:t>
                      </a:r>
                    </a:p>
                  </a:txBody>
                  <a:tcPr anchor="ctr"/>
                </a:tc>
                <a:tc>
                  <a:txBody>
                    <a:bodyPr/>
                    <a:lstStyle/>
                    <a:p>
                      <a:pPr algn="ctr"/>
                      <a:r>
                        <a:rPr lang="es-CO" sz="1400" dirty="0">
                          <a:latin typeface="Liter" panose="020B0604020202020204" charset="0"/>
                        </a:rPr>
                        <a:t>199</a:t>
                      </a:r>
                    </a:p>
                  </a:txBody>
                  <a:tcPr anchor="ctr"/>
                </a:tc>
                <a:extLst>
                  <a:ext uri="{0D108BD9-81ED-4DB2-BD59-A6C34878D82A}">
                    <a16:rowId xmlns:a16="http://schemas.microsoft.com/office/drawing/2014/main" val="3359600298"/>
                  </a:ext>
                </a:extLst>
              </a:tr>
              <a:tr h="392234">
                <a:tc>
                  <a:txBody>
                    <a:bodyPr/>
                    <a:lstStyle/>
                    <a:p>
                      <a:pPr algn="ctr"/>
                      <a:r>
                        <a:rPr lang="es-CO" sz="1400" dirty="0">
                          <a:latin typeface="Liter" panose="020B0604020202020204" charset="0"/>
                        </a:rPr>
                        <a:t>2</a:t>
                      </a:r>
                    </a:p>
                  </a:txBody>
                  <a:tcPr anchor="ctr"/>
                </a:tc>
                <a:tc>
                  <a:txBody>
                    <a:bodyPr/>
                    <a:lstStyle/>
                    <a:p>
                      <a:pPr algn="ctr"/>
                      <a:r>
                        <a:rPr lang="es-CO" sz="1400" dirty="0">
                          <a:latin typeface="Liter" panose="020B0604020202020204" charset="0"/>
                        </a:rPr>
                        <a:t>136</a:t>
                      </a:r>
                    </a:p>
                  </a:txBody>
                  <a:tcPr anchor="ctr"/>
                </a:tc>
                <a:tc>
                  <a:txBody>
                    <a:bodyPr/>
                    <a:lstStyle/>
                    <a:p>
                      <a:pPr algn="ctr"/>
                      <a:r>
                        <a:rPr lang="es-CO" sz="1400" dirty="0">
                          <a:latin typeface="Liter" panose="020B0604020202020204" charset="0"/>
                        </a:rPr>
                        <a:t>117</a:t>
                      </a:r>
                    </a:p>
                  </a:txBody>
                  <a:tcPr anchor="ctr"/>
                </a:tc>
                <a:tc>
                  <a:txBody>
                    <a:bodyPr/>
                    <a:lstStyle/>
                    <a:p>
                      <a:pPr algn="ctr"/>
                      <a:r>
                        <a:rPr lang="es-CO" sz="1400" dirty="0">
                          <a:latin typeface="Liter" panose="020B0604020202020204" charset="0"/>
                        </a:rPr>
                        <a:t>116</a:t>
                      </a:r>
                    </a:p>
                  </a:txBody>
                  <a:tcPr anchor="ctr"/>
                </a:tc>
                <a:extLst>
                  <a:ext uri="{0D108BD9-81ED-4DB2-BD59-A6C34878D82A}">
                    <a16:rowId xmlns:a16="http://schemas.microsoft.com/office/drawing/2014/main" val="3039215541"/>
                  </a:ext>
                </a:extLst>
              </a:tr>
              <a:tr h="392234">
                <a:tc>
                  <a:txBody>
                    <a:bodyPr/>
                    <a:lstStyle/>
                    <a:p>
                      <a:pPr algn="ctr"/>
                      <a:r>
                        <a:rPr lang="es-CO" sz="1400" dirty="0">
                          <a:latin typeface="Liter" panose="020B0604020202020204" charset="0"/>
                        </a:rPr>
                        <a:t>3</a:t>
                      </a:r>
                    </a:p>
                  </a:txBody>
                  <a:tcPr anchor="ctr"/>
                </a:tc>
                <a:tc>
                  <a:txBody>
                    <a:bodyPr/>
                    <a:lstStyle/>
                    <a:p>
                      <a:pPr algn="ctr"/>
                      <a:r>
                        <a:rPr lang="es-CO" sz="1400" dirty="0">
                          <a:latin typeface="Liter" panose="020B0604020202020204" charset="0"/>
                        </a:rPr>
                        <a:t>122</a:t>
                      </a:r>
                    </a:p>
                  </a:txBody>
                  <a:tcPr anchor="ctr"/>
                </a:tc>
                <a:tc>
                  <a:txBody>
                    <a:bodyPr/>
                    <a:lstStyle/>
                    <a:p>
                      <a:pPr algn="ctr"/>
                      <a:r>
                        <a:rPr lang="es-CO" sz="1400" dirty="0">
                          <a:latin typeface="Liter" panose="020B0604020202020204" charset="0"/>
                        </a:rPr>
                        <a:t>101</a:t>
                      </a:r>
                    </a:p>
                  </a:txBody>
                  <a:tcPr anchor="ctr"/>
                </a:tc>
                <a:tc>
                  <a:txBody>
                    <a:bodyPr/>
                    <a:lstStyle/>
                    <a:p>
                      <a:pPr algn="ctr"/>
                      <a:r>
                        <a:rPr lang="es-CO" sz="1400" dirty="0">
                          <a:latin typeface="Liter" panose="020B0604020202020204" charset="0"/>
                        </a:rPr>
                        <a:t>99</a:t>
                      </a:r>
                    </a:p>
                  </a:txBody>
                  <a:tcPr anchor="ctr"/>
                </a:tc>
                <a:extLst>
                  <a:ext uri="{0D108BD9-81ED-4DB2-BD59-A6C34878D82A}">
                    <a16:rowId xmlns:a16="http://schemas.microsoft.com/office/drawing/2014/main" val="1876149595"/>
                  </a:ext>
                </a:extLst>
              </a:tr>
              <a:tr h="392234">
                <a:tc>
                  <a:txBody>
                    <a:bodyPr/>
                    <a:lstStyle/>
                    <a:p>
                      <a:pPr algn="ctr"/>
                      <a:r>
                        <a:rPr lang="es-CO" sz="1400" dirty="0">
                          <a:latin typeface="Liter" panose="020B0604020202020204" charset="0"/>
                        </a:rPr>
                        <a:t>4</a:t>
                      </a:r>
                    </a:p>
                  </a:txBody>
                  <a:tcPr anchor="ctr"/>
                </a:tc>
                <a:tc>
                  <a:txBody>
                    <a:bodyPr/>
                    <a:lstStyle/>
                    <a:p>
                      <a:pPr algn="ctr"/>
                      <a:r>
                        <a:rPr lang="es-CO" sz="1400" dirty="0">
                          <a:latin typeface="Liter" panose="020B0604020202020204" charset="0"/>
                        </a:rPr>
                        <a:t>151</a:t>
                      </a:r>
                    </a:p>
                  </a:txBody>
                  <a:tcPr anchor="ctr"/>
                </a:tc>
                <a:tc>
                  <a:txBody>
                    <a:bodyPr/>
                    <a:lstStyle/>
                    <a:p>
                      <a:pPr algn="ctr"/>
                      <a:r>
                        <a:rPr lang="es-CO" sz="1400" dirty="0">
                          <a:latin typeface="Liter" panose="020B0604020202020204" charset="0"/>
                        </a:rPr>
                        <a:t>135</a:t>
                      </a:r>
                    </a:p>
                  </a:txBody>
                  <a:tcPr anchor="ctr"/>
                </a:tc>
                <a:tc>
                  <a:txBody>
                    <a:bodyPr/>
                    <a:lstStyle/>
                    <a:p>
                      <a:pPr algn="ctr"/>
                      <a:r>
                        <a:rPr lang="es-CO" sz="1400" dirty="0">
                          <a:latin typeface="Liter" panose="020B0604020202020204" charset="0"/>
                        </a:rPr>
                        <a:t>139</a:t>
                      </a:r>
                    </a:p>
                  </a:txBody>
                  <a:tcPr anchor="ctr"/>
                </a:tc>
                <a:extLst>
                  <a:ext uri="{0D108BD9-81ED-4DB2-BD59-A6C34878D82A}">
                    <a16:rowId xmlns:a16="http://schemas.microsoft.com/office/drawing/2014/main" val="3144850149"/>
                  </a:ext>
                </a:extLst>
              </a:tr>
              <a:tr h="392234">
                <a:tc>
                  <a:txBody>
                    <a:bodyPr/>
                    <a:lstStyle/>
                    <a:p>
                      <a:pPr algn="ctr"/>
                      <a:r>
                        <a:rPr lang="es-CO" sz="1400" dirty="0">
                          <a:latin typeface="Liter" panose="020B0604020202020204" charset="0"/>
                        </a:rPr>
                        <a:t>5</a:t>
                      </a:r>
                    </a:p>
                  </a:txBody>
                  <a:tcPr anchor="ctr"/>
                </a:tc>
                <a:tc>
                  <a:txBody>
                    <a:bodyPr/>
                    <a:lstStyle/>
                    <a:p>
                      <a:pPr algn="ctr"/>
                      <a:r>
                        <a:rPr lang="es-CO" sz="1400" dirty="0">
                          <a:latin typeface="Liter" panose="020B0604020202020204" charset="0"/>
                        </a:rPr>
                        <a:t>109</a:t>
                      </a:r>
                    </a:p>
                  </a:txBody>
                  <a:tcPr anchor="ctr"/>
                </a:tc>
                <a:tc>
                  <a:txBody>
                    <a:bodyPr/>
                    <a:lstStyle/>
                    <a:p>
                      <a:pPr algn="ctr"/>
                      <a:r>
                        <a:rPr lang="es-CO" sz="1400" dirty="0">
                          <a:latin typeface="Liter" panose="020B0604020202020204" charset="0"/>
                        </a:rPr>
                        <a:t>85</a:t>
                      </a:r>
                    </a:p>
                  </a:txBody>
                  <a:tcPr anchor="ctr"/>
                </a:tc>
                <a:tc>
                  <a:txBody>
                    <a:bodyPr/>
                    <a:lstStyle/>
                    <a:p>
                      <a:pPr algn="ctr"/>
                      <a:r>
                        <a:rPr lang="es-CO" sz="1400" dirty="0">
                          <a:latin typeface="Liter" panose="020B0604020202020204" charset="0"/>
                        </a:rPr>
                        <a:t>80</a:t>
                      </a:r>
                    </a:p>
                  </a:txBody>
                  <a:tcPr anchor="ctr"/>
                </a:tc>
                <a:extLst>
                  <a:ext uri="{0D108BD9-81ED-4DB2-BD59-A6C34878D82A}">
                    <a16:rowId xmlns:a16="http://schemas.microsoft.com/office/drawing/2014/main" val="2176653895"/>
                  </a:ext>
                </a:extLst>
              </a:tr>
              <a:tr h="392234">
                <a:tc>
                  <a:txBody>
                    <a:bodyPr/>
                    <a:lstStyle/>
                    <a:p>
                      <a:pPr algn="ctr"/>
                      <a:r>
                        <a:rPr lang="es-CO" sz="1400" dirty="0">
                          <a:latin typeface="Liter" panose="020B0604020202020204" charset="0"/>
                        </a:rPr>
                        <a:t>6</a:t>
                      </a:r>
                    </a:p>
                  </a:txBody>
                  <a:tcPr anchor="ctr"/>
                </a:tc>
                <a:tc>
                  <a:txBody>
                    <a:bodyPr/>
                    <a:lstStyle/>
                    <a:p>
                      <a:pPr algn="ctr"/>
                      <a:r>
                        <a:rPr lang="es-CO" sz="1400" dirty="0">
                          <a:latin typeface="Liter" panose="020B0604020202020204" charset="0"/>
                        </a:rPr>
                        <a:t>35</a:t>
                      </a:r>
                    </a:p>
                  </a:txBody>
                  <a:tcPr anchor="ctr"/>
                </a:tc>
                <a:tc>
                  <a:txBody>
                    <a:bodyPr/>
                    <a:lstStyle/>
                    <a:p>
                      <a:pPr algn="ctr"/>
                      <a:r>
                        <a:rPr lang="es-CO" sz="1400" dirty="0">
                          <a:latin typeface="Liter" panose="020B0604020202020204" charset="0"/>
                        </a:rPr>
                        <a:t>30</a:t>
                      </a:r>
                    </a:p>
                  </a:txBody>
                  <a:tcPr anchor="ctr"/>
                </a:tc>
                <a:tc>
                  <a:txBody>
                    <a:bodyPr/>
                    <a:lstStyle/>
                    <a:p>
                      <a:pPr algn="ctr"/>
                      <a:r>
                        <a:rPr lang="es-CO" sz="1400" dirty="0">
                          <a:latin typeface="Liter" panose="020B0604020202020204" charset="0"/>
                        </a:rPr>
                        <a:t>60</a:t>
                      </a:r>
                    </a:p>
                  </a:txBody>
                  <a:tcPr anchor="ctr"/>
                </a:tc>
                <a:extLst>
                  <a:ext uri="{0D108BD9-81ED-4DB2-BD59-A6C34878D82A}">
                    <a16:rowId xmlns:a16="http://schemas.microsoft.com/office/drawing/2014/main" val="2295550453"/>
                  </a:ext>
                </a:extLst>
              </a:tr>
            </a:tbl>
          </a:graphicData>
        </a:graphic>
      </p:graphicFrame>
      <p:graphicFrame>
        <p:nvGraphicFramePr>
          <p:cNvPr id="16" name="Tabla 15">
            <a:extLst>
              <a:ext uri="{FF2B5EF4-FFF2-40B4-BE49-F238E27FC236}">
                <a16:creationId xmlns:a16="http://schemas.microsoft.com/office/drawing/2014/main" id="{811FEDA4-A145-91CC-6363-72DF1FD96D18}"/>
              </a:ext>
            </a:extLst>
          </p:cNvPr>
          <p:cNvGraphicFramePr>
            <a:graphicFrameLocks noGrp="1"/>
          </p:cNvGraphicFramePr>
          <p:nvPr>
            <p:extLst>
              <p:ext uri="{D42A27DB-BD31-4B8C-83A1-F6EECF244321}">
                <p14:modId xmlns:p14="http://schemas.microsoft.com/office/powerpoint/2010/main" val="3423767100"/>
              </p:ext>
            </p:extLst>
          </p:nvPr>
        </p:nvGraphicFramePr>
        <p:xfrm>
          <a:off x="11149531" y="1388462"/>
          <a:ext cx="4564317" cy="370840"/>
        </p:xfrm>
        <a:graphic>
          <a:graphicData uri="http://schemas.openxmlformats.org/drawingml/2006/table">
            <a:tbl>
              <a:tblPr firstRow="1" bandRow="1">
                <a:tableStyleId>{5C22544A-7EE6-4342-B048-85BDC9FD1C3A}</a:tableStyleId>
              </a:tblPr>
              <a:tblGrid>
                <a:gridCol w="4564317">
                  <a:extLst>
                    <a:ext uri="{9D8B030D-6E8A-4147-A177-3AD203B41FA5}">
                      <a16:colId xmlns:a16="http://schemas.microsoft.com/office/drawing/2014/main" val="4009954056"/>
                    </a:ext>
                  </a:extLst>
                </a:gridCol>
              </a:tblGrid>
              <a:tr h="370840">
                <a:tc>
                  <a:txBody>
                    <a:bodyPr/>
                    <a:lstStyle/>
                    <a:p>
                      <a:pPr algn="ctr"/>
                      <a:r>
                        <a:rPr lang="en-US" sz="1600" dirty="0" err="1"/>
                        <a:t>Centroides</a:t>
                      </a:r>
                      <a:r>
                        <a:rPr lang="en-US" sz="1600" dirty="0"/>
                        <a:t> Mean Shift (RGB 0-255):</a:t>
                      </a:r>
                      <a:endParaRPr lang="es-CO" sz="1600" dirty="0"/>
                    </a:p>
                  </a:txBody>
                  <a:tcPr anchor="ctr"/>
                </a:tc>
                <a:extLst>
                  <a:ext uri="{0D108BD9-81ED-4DB2-BD59-A6C34878D82A}">
                    <a16:rowId xmlns:a16="http://schemas.microsoft.com/office/drawing/2014/main" val="64617463"/>
                  </a:ext>
                </a:extLst>
              </a:tr>
            </a:tbl>
          </a:graphicData>
        </a:graphic>
      </p:graphicFrame>
      <p:graphicFrame>
        <p:nvGraphicFramePr>
          <p:cNvPr id="17" name="Tabla 16">
            <a:extLst>
              <a:ext uri="{FF2B5EF4-FFF2-40B4-BE49-F238E27FC236}">
                <a16:creationId xmlns:a16="http://schemas.microsoft.com/office/drawing/2014/main" id="{8BEDC871-64AA-5CEA-7D8B-8B2F13440FB2}"/>
              </a:ext>
            </a:extLst>
          </p:cNvPr>
          <p:cNvGraphicFramePr>
            <a:graphicFrameLocks noGrp="1"/>
          </p:cNvGraphicFramePr>
          <p:nvPr>
            <p:extLst>
              <p:ext uri="{D42A27DB-BD31-4B8C-83A1-F6EECF244321}">
                <p14:modId xmlns:p14="http://schemas.microsoft.com/office/powerpoint/2010/main" val="4280945585"/>
              </p:ext>
            </p:extLst>
          </p:nvPr>
        </p:nvGraphicFramePr>
        <p:xfrm>
          <a:off x="6185647" y="1516540"/>
          <a:ext cx="4564317" cy="579120"/>
        </p:xfrm>
        <a:graphic>
          <a:graphicData uri="http://schemas.openxmlformats.org/drawingml/2006/table">
            <a:tbl>
              <a:tblPr firstRow="1" bandRow="1">
                <a:tableStyleId>{5C22544A-7EE6-4342-B048-85BDC9FD1C3A}</a:tableStyleId>
              </a:tblPr>
              <a:tblGrid>
                <a:gridCol w="4564317">
                  <a:extLst>
                    <a:ext uri="{9D8B030D-6E8A-4147-A177-3AD203B41FA5}">
                      <a16:colId xmlns:a16="http://schemas.microsoft.com/office/drawing/2014/main" val="4009954056"/>
                    </a:ext>
                  </a:extLst>
                </a:gridCol>
              </a:tblGrid>
              <a:tr h="578960">
                <a:tc>
                  <a:txBody>
                    <a:bodyPr/>
                    <a:lstStyle/>
                    <a:p>
                      <a:pPr algn="ctr"/>
                      <a:r>
                        <a:rPr lang="en-US" sz="1600" dirty="0" err="1"/>
                        <a:t>Comparacion</a:t>
                      </a:r>
                      <a:r>
                        <a:rPr lang="en-US" sz="1600" dirty="0"/>
                        <a:t> de Silhouette Score </a:t>
                      </a:r>
                      <a:r>
                        <a:rPr lang="en-US" sz="1600" dirty="0" err="1"/>
                        <a:t>por</a:t>
                      </a:r>
                      <a:r>
                        <a:rPr lang="en-US" sz="1600" dirty="0"/>
                        <a:t> </a:t>
                      </a:r>
                      <a:r>
                        <a:rPr lang="en-US" sz="1600" dirty="0" err="1"/>
                        <a:t>numero</a:t>
                      </a:r>
                      <a:r>
                        <a:rPr lang="en-US" sz="1600" dirty="0"/>
                        <a:t> de clusters:</a:t>
                      </a:r>
                      <a:endParaRPr lang="es-CO" sz="1600" dirty="0"/>
                    </a:p>
                  </a:txBody>
                  <a:tcPr anchor="ctr"/>
                </a:tc>
                <a:extLst>
                  <a:ext uri="{0D108BD9-81ED-4DB2-BD59-A6C34878D82A}">
                    <a16:rowId xmlns:a16="http://schemas.microsoft.com/office/drawing/2014/main" val="64617463"/>
                  </a:ext>
                </a:extLst>
              </a:tr>
            </a:tbl>
          </a:graphicData>
        </a:graphic>
      </p:graphicFrame>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A0F"/>
        </a:solidFill>
        <a:effectLst/>
      </p:bgPr>
    </p:bg>
    <p:spTree>
      <p:nvGrpSpPr>
        <p:cNvPr id="1" name=""/>
        <p:cNvGrpSpPr/>
        <p:nvPr/>
      </p:nvGrpSpPr>
      <p:grpSpPr>
        <a:xfrm>
          <a:off x="0" y="0"/>
          <a:ext cx="0" cy="0"/>
          <a:chOff x="0" y="0"/>
          <a:chExt cx="0" cy="0"/>
        </a:xfrm>
      </p:grpSpPr>
      <p:sp>
        <p:nvSpPr>
          <p:cNvPr id="2" name="Text 0"/>
          <p:cNvSpPr/>
          <p:nvPr/>
        </p:nvSpPr>
        <p:spPr>
          <a:xfrm>
            <a:off x="762000" y="508000"/>
            <a:ext cx="13970000" cy="571500"/>
          </a:xfrm>
          <a:prstGeom prst="rect">
            <a:avLst/>
          </a:prstGeom>
          <a:noFill/>
          <a:ln/>
        </p:spPr>
        <p:txBody>
          <a:bodyPr wrap="none" lIns="0" tIns="0" rIns="0" bIns="0" rtlCol="0" anchor="ctr"/>
          <a:lstStyle/>
          <a:p>
            <a:pPr>
              <a:lnSpc>
                <a:spcPct val="130000"/>
              </a:lnSpc>
            </a:pPr>
            <a:r>
              <a:rPr lang="en-US" sz="3200" kern="0" spc="50" dirty="0">
                <a:solidFill>
                  <a:srgbClr val="008080"/>
                </a:solidFill>
                <a:latin typeface="QuattrocentoSans" pitchFamily="34" charset="0"/>
                <a:ea typeface="QuattrocentoSans" pitchFamily="34" charset="-122"/>
                <a:cs typeface="QuattrocentoSans" pitchFamily="34" charset="-120"/>
              </a:rPr>
              <a:t>DISTRIBUCIÓN Y FRECUENCIA</a:t>
            </a:r>
            <a:r>
              <a:rPr lang="en-US" sz="3200" kern="0" spc="50" dirty="0">
                <a:solidFill>
                  <a:srgbClr val="FFFFFF"/>
                </a:solidFill>
                <a:latin typeface="QuattrocentoSans" pitchFamily="34" charset="0"/>
                <a:ea typeface="QuattrocentoSans" pitchFamily="34" charset="-122"/>
                <a:cs typeface="QuattrocentoSans" pitchFamily="34" charset="-120"/>
              </a:rPr>
              <a:t> — Índice de Positividad TP53</a:t>
            </a:r>
            <a:endParaRPr lang="en-US" sz="3200" dirty="0"/>
          </a:p>
        </p:txBody>
      </p:sp>
      <p:sp>
        <p:nvSpPr>
          <p:cNvPr id="3" name="Shape 1"/>
          <p:cNvSpPr/>
          <p:nvPr/>
        </p:nvSpPr>
        <p:spPr>
          <a:xfrm>
            <a:off x="762000" y="1168400"/>
            <a:ext cx="14732000" cy="12700"/>
          </a:xfrm>
          <a:prstGeom prst="rect">
            <a:avLst/>
          </a:prstGeom>
          <a:solidFill>
            <a:srgbClr val="2A2A35"/>
          </a:solidFill>
          <a:ln/>
        </p:spPr>
        <p:txBody>
          <a:bodyPr/>
          <a:lstStyle/>
          <a:p>
            <a:endParaRPr lang="es-CO"/>
          </a:p>
        </p:txBody>
      </p:sp>
      <p:graphicFrame>
        <p:nvGraphicFramePr>
          <p:cNvPr id="4" name="Chart 0"/>
          <p:cNvGraphicFramePr/>
          <p:nvPr>
            <p:extLst>
              <p:ext uri="{D42A27DB-BD31-4B8C-83A1-F6EECF244321}">
                <p14:modId xmlns:p14="http://schemas.microsoft.com/office/powerpoint/2010/main" val="3986756122"/>
              </p:ext>
            </p:extLst>
          </p:nvPr>
        </p:nvGraphicFramePr>
        <p:xfrm>
          <a:off x="1917605" y="4500228"/>
          <a:ext cx="4676801" cy="2484772"/>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8382000" y="1524000"/>
            <a:ext cx="7112000" cy="5334000"/>
          </a:xfrm>
          <a:prstGeom prst="rect">
            <a:avLst/>
          </a:prstGeom>
          <a:solidFill>
            <a:srgbClr val="14141B"/>
          </a:solidFill>
          <a:ln w="12700">
            <a:solidFill>
              <a:srgbClr val="2A2A35"/>
            </a:solidFill>
            <a:prstDash val="solid"/>
          </a:ln>
        </p:spPr>
        <p:txBody>
          <a:bodyPr/>
          <a:lstStyle/>
          <a:p>
            <a:endParaRPr lang="es-CO"/>
          </a:p>
        </p:txBody>
      </p:sp>
      <p:sp>
        <p:nvSpPr>
          <p:cNvPr id="6" name="Text 3"/>
          <p:cNvSpPr/>
          <p:nvPr/>
        </p:nvSpPr>
        <p:spPr>
          <a:xfrm>
            <a:off x="8890000" y="1778000"/>
            <a:ext cx="6096000" cy="355600"/>
          </a:xfrm>
          <a:prstGeom prst="rect">
            <a:avLst/>
          </a:prstGeom>
          <a:noFill/>
          <a:ln/>
        </p:spPr>
        <p:txBody>
          <a:bodyPr wrap="none" lIns="0" tIns="0" rIns="0" bIns="0" rtlCol="0" anchor="ctr"/>
          <a:lstStyle/>
          <a:p>
            <a:pPr>
              <a:lnSpc>
                <a:spcPct val="160000"/>
              </a:lnSpc>
            </a:pPr>
            <a:r>
              <a:rPr lang="en-US" sz="1800" b="1" dirty="0">
                <a:solidFill>
                  <a:srgbClr val="008080"/>
                </a:solidFill>
                <a:latin typeface="Liter" pitchFamily="34" charset="0"/>
                <a:ea typeface="Liter" pitchFamily="34" charset="-122"/>
                <a:cs typeface="Liter" pitchFamily="34" charset="-120"/>
              </a:rPr>
              <a:t>CÁLCULO DEL ÍNDICE DE POSITIVIDAD</a:t>
            </a:r>
            <a:endParaRPr lang="en-US" sz="1800" dirty="0"/>
          </a:p>
        </p:txBody>
      </p:sp>
      <p:sp>
        <p:nvSpPr>
          <p:cNvPr id="7" name="Shape 4"/>
          <p:cNvSpPr/>
          <p:nvPr/>
        </p:nvSpPr>
        <p:spPr>
          <a:xfrm>
            <a:off x="8890000" y="2235200"/>
            <a:ext cx="6096000" cy="12700"/>
          </a:xfrm>
          <a:prstGeom prst="rect">
            <a:avLst/>
          </a:prstGeom>
          <a:solidFill>
            <a:srgbClr val="2A2A35"/>
          </a:solidFill>
          <a:ln/>
        </p:spPr>
        <p:txBody>
          <a:bodyPr/>
          <a:lstStyle/>
          <a:p>
            <a:endParaRPr lang="es-CO"/>
          </a:p>
        </p:txBody>
      </p:sp>
      <p:sp>
        <p:nvSpPr>
          <p:cNvPr id="8" name="Text 5"/>
          <p:cNvSpPr/>
          <p:nvPr/>
        </p:nvSpPr>
        <p:spPr>
          <a:xfrm>
            <a:off x="8890000" y="2489200"/>
            <a:ext cx="6096000" cy="1270000"/>
          </a:xfrm>
          <a:prstGeom prst="rect">
            <a:avLst/>
          </a:prstGeom>
          <a:noFill/>
          <a:ln/>
        </p:spPr>
        <p:txBody>
          <a:bodyPr wrap="square" lIns="0" tIns="0" rIns="0" bIns="0" rtlCol="0" anchor="t"/>
          <a:lstStyle/>
          <a:p>
            <a:pPr>
              <a:lnSpc>
                <a:spcPct val="160000"/>
              </a:lnSpc>
            </a:pPr>
            <a:r>
              <a:rPr lang="en-US" sz="3200" b="1" dirty="0">
                <a:solidFill>
                  <a:srgbClr val="B8860B"/>
                </a:solidFill>
                <a:latin typeface="Liter" pitchFamily="34" charset="0"/>
                <a:ea typeface="Liter" pitchFamily="34" charset="-122"/>
                <a:cs typeface="Liter" pitchFamily="34" charset="-120"/>
              </a:rPr>
              <a:t>29.2%</a:t>
            </a:r>
            <a:r>
              <a:rPr lang="en-US" sz="1800" dirty="0">
                <a:solidFill>
                  <a:srgbClr val="E8E8E8"/>
                </a:solidFill>
                <a:latin typeface="Liter" pitchFamily="34" charset="0"/>
                <a:ea typeface="Liter" pitchFamily="34" charset="-122"/>
                <a:cs typeface="Liter" pitchFamily="34" charset="-120"/>
              </a:rPr>
              <a:t> </a:t>
            </a:r>
            <a:r>
              <a:rPr lang="en-US" sz="1800" dirty="0">
                <a:solidFill>
                  <a:srgbClr val="9CA3AF"/>
                </a:solidFill>
                <a:latin typeface="Liter" pitchFamily="34" charset="0"/>
                <a:ea typeface="Liter" pitchFamily="34" charset="-122"/>
                <a:cs typeface="Liter" pitchFamily="34" charset="-120"/>
              </a:rPr>
              <a:t>Área DAB / TP53+</a:t>
            </a:r>
            <a:endParaRPr lang="en-US" sz="1800" dirty="0"/>
          </a:p>
          <a:p>
            <a:pPr>
              <a:lnSpc>
                <a:spcPct val="160000"/>
              </a:lnSpc>
              <a:spcBef>
                <a:spcPts val="400"/>
              </a:spcBef>
            </a:pPr>
            <a:r>
              <a:rPr lang="en-US" sz="1800" dirty="0">
                <a:solidFill>
                  <a:srgbClr val="9CA3AF"/>
                </a:solidFill>
                <a:latin typeface="Liter" pitchFamily="34" charset="0"/>
                <a:ea typeface="Liter" pitchFamily="34" charset="-122"/>
                <a:cs typeface="Liter" pitchFamily="34" charset="-120"/>
              </a:rPr>
              <a:t>179,247 píxeles de expresión tumoral</a:t>
            </a:r>
            <a:endParaRPr lang="en-US" sz="1800" dirty="0"/>
          </a:p>
        </p:txBody>
      </p:sp>
      <p:sp>
        <p:nvSpPr>
          <p:cNvPr id="9" name="Text 6"/>
          <p:cNvSpPr/>
          <p:nvPr/>
        </p:nvSpPr>
        <p:spPr>
          <a:xfrm>
            <a:off x="8890000" y="3937000"/>
            <a:ext cx="6096000" cy="1270000"/>
          </a:xfrm>
          <a:prstGeom prst="rect">
            <a:avLst/>
          </a:prstGeom>
          <a:noFill/>
          <a:ln/>
        </p:spPr>
        <p:txBody>
          <a:bodyPr wrap="square" lIns="0" tIns="0" rIns="0" bIns="0" rtlCol="0" anchor="t"/>
          <a:lstStyle/>
          <a:p>
            <a:pPr>
              <a:lnSpc>
                <a:spcPct val="160000"/>
              </a:lnSpc>
            </a:pPr>
            <a:r>
              <a:rPr lang="en-US" sz="3200" b="1" dirty="0">
                <a:solidFill>
                  <a:srgbClr val="6A5ACD"/>
                </a:solidFill>
                <a:latin typeface="Liter" pitchFamily="34" charset="0"/>
                <a:ea typeface="Liter" pitchFamily="34" charset="-122"/>
                <a:cs typeface="Liter" pitchFamily="34" charset="-120"/>
              </a:rPr>
              <a:t>40.5%</a:t>
            </a:r>
            <a:r>
              <a:rPr lang="en-US" sz="1800" dirty="0">
                <a:solidFill>
                  <a:srgbClr val="E8E8E8"/>
                </a:solidFill>
                <a:latin typeface="Liter" pitchFamily="34" charset="0"/>
                <a:ea typeface="Liter" pitchFamily="34" charset="-122"/>
                <a:cs typeface="Liter" pitchFamily="34" charset="-120"/>
              </a:rPr>
              <a:t> </a:t>
            </a:r>
            <a:r>
              <a:rPr lang="en-US" sz="1800" dirty="0">
                <a:solidFill>
                  <a:srgbClr val="9CA3AF"/>
                </a:solidFill>
                <a:latin typeface="Liter" pitchFamily="34" charset="0"/>
                <a:ea typeface="Liter" pitchFamily="34" charset="-122"/>
                <a:cs typeface="Liter" pitchFamily="34" charset="-120"/>
              </a:rPr>
              <a:t>Área Hematoxilina</a:t>
            </a:r>
            <a:endParaRPr lang="en-US" sz="1800" dirty="0"/>
          </a:p>
          <a:p>
            <a:pPr>
              <a:lnSpc>
                <a:spcPct val="160000"/>
              </a:lnSpc>
              <a:spcBef>
                <a:spcPts val="400"/>
              </a:spcBef>
            </a:pPr>
            <a:r>
              <a:rPr lang="en-US" sz="1800" dirty="0">
                <a:solidFill>
                  <a:srgbClr val="9CA3AF"/>
                </a:solidFill>
                <a:latin typeface="Liter" pitchFamily="34" charset="0"/>
                <a:ea typeface="Liter" pitchFamily="34" charset="-122"/>
                <a:cs typeface="Liter" pitchFamily="34" charset="-120"/>
              </a:rPr>
              <a:t>248,613 píxeles de tejido de soporte</a:t>
            </a:r>
            <a:endParaRPr lang="en-US" sz="1800" dirty="0"/>
          </a:p>
        </p:txBody>
      </p:sp>
      <p:sp>
        <p:nvSpPr>
          <p:cNvPr id="10" name="Shape 7"/>
          <p:cNvSpPr/>
          <p:nvPr/>
        </p:nvSpPr>
        <p:spPr>
          <a:xfrm>
            <a:off x="8890000" y="5334000"/>
            <a:ext cx="6096000" cy="1778000"/>
          </a:xfrm>
          <a:prstGeom prst="rect">
            <a:avLst/>
          </a:prstGeom>
          <a:solidFill>
            <a:srgbClr val="0A0A0F"/>
          </a:solidFill>
          <a:ln w="12700">
            <a:solidFill>
              <a:srgbClr val="B8860B"/>
            </a:solidFill>
            <a:prstDash val="solid"/>
          </a:ln>
        </p:spPr>
        <p:txBody>
          <a:bodyPr/>
          <a:lstStyle/>
          <a:p>
            <a:endParaRPr lang="es-CO"/>
          </a:p>
        </p:txBody>
      </p:sp>
      <p:sp>
        <p:nvSpPr>
          <p:cNvPr id="11" name="Text 8"/>
          <p:cNvSpPr/>
          <p:nvPr/>
        </p:nvSpPr>
        <p:spPr>
          <a:xfrm>
            <a:off x="9144000" y="5334000"/>
            <a:ext cx="5588000" cy="1397000"/>
          </a:xfrm>
          <a:prstGeom prst="rect">
            <a:avLst/>
          </a:prstGeom>
          <a:noFill/>
          <a:ln/>
        </p:spPr>
        <p:txBody>
          <a:bodyPr wrap="square" lIns="0" tIns="0" rIns="0" bIns="0" rtlCol="0" anchor="t"/>
          <a:lstStyle/>
          <a:p>
            <a:pPr>
              <a:lnSpc>
                <a:spcPct val="160000"/>
              </a:lnSpc>
            </a:pPr>
            <a:r>
              <a:rPr lang="en-US" sz="1800" b="1" dirty="0">
                <a:solidFill>
                  <a:srgbClr val="B8860B"/>
                </a:solidFill>
                <a:latin typeface="Liter" pitchFamily="34" charset="0"/>
                <a:ea typeface="Liter" pitchFamily="34" charset="-122"/>
                <a:cs typeface="Liter" pitchFamily="34" charset="-120"/>
              </a:rPr>
              <a:t>FÓRMULA:</a:t>
            </a:r>
            <a:r>
              <a:rPr lang="en-US" sz="1800" dirty="0">
                <a:solidFill>
                  <a:srgbClr val="E8E8E8"/>
                </a:solidFill>
                <a:latin typeface="Liter" pitchFamily="34" charset="0"/>
                <a:ea typeface="Liter" pitchFamily="34" charset="-122"/>
                <a:cs typeface="Liter" pitchFamily="34" charset="-120"/>
              </a:rPr>
              <a:t> %Positividad = Área DAB / (Área DAB + Área Hematoxilina) × 100</a:t>
            </a:r>
            <a:endParaRPr lang="en-US" sz="1800" dirty="0"/>
          </a:p>
          <a:p>
            <a:pPr>
              <a:lnSpc>
                <a:spcPct val="160000"/>
              </a:lnSpc>
            </a:pPr>
            <a:r>
              <a:rPr lang="en-US" sz="1800" b="1" dirty="0">
                <a:solidFill>
                  <a:srgbClr val="008080"/>
                </a:solidFill>
                <a:latin typeface="Liter" pitchFamily="34" charset="0"/>
                <a:ea typeface="Liter" pitchFamily="34" charset="-122"/>
                <a:cs typeface="Liter" pitchFamily="34" charset="-120"/>
              </a:rPr>
              <a:t>= 29.2 / (29.2 + 40.5) = 41.9%</a:t>
            </a:r>
            <a:endParaRPr lang="en-US" sz="1800" dirty="0"/>
          </a:p>
        </p:txBody>
      </p:sp>
      <p:sp>
        <p:nvSpPr>
          <p:cNvPr id="12" name="Shape 9"/>
          <p:cNvSpPr/>
          <p:nvPr/>
        </p:nvSpPr>
        <p:spPr>
          <a:xfrm>
            <a:off x="762000" y="7112000"/>
            <a:ext cx="14732000" cy="1524000"/>
          </a:xfrm>
          <a:prstGeom prst="rect">
            <a:avLst/>
          </a:prstGeom>
          <a:solidFill>
            <a:srgbClr val="14141B"/>
          </a:solidFill>
          <a:ln w="12700">
            <a:solidFill>
              <a:srgbClr val="008080"/>
            </a:solidFill>
            <a:prstDash val="solid"/>
          </a:ln>
        </p:spPr>
        <p:txBody>
          <a:bodyPr/>
          <a:lstStyle/>
          <a:p>
            <a:endParaRPr lang="es-CO"/>
          </a:p>
        </p:txBody>
      </p:sp>
      <p:sp>
        <p:nvSpPr>
          <p:cNvPr id="13" name="Shape 10"/>
          <p:cNvSpPr/>
          <p:nvPr/>
        </p:nvSpPr>
        <p:spPr>
          <a:xfrm>
            <a:off x="762000" y="6985000"/>
            <a:ext cx="50800" cy="1524000"/>
          </a:xfrm>
          <a:prstGeom prst="rect">
            <a:avLst/>
          </a:prstGeom>
          <a:solidFill>
            <a:srgbClr val="008080"/>
          </a:solidFill>
          <a:ln/>
        </p:spPr>
        <p:txBody>
          <a:bodyPr/>
          <a:lstStyle/>
          <a:p>
            <a:endParaRPr lang="es-CO"/>
          </a:p>
        </p:txBody>
      </p:sp>
      <p:sp>
        <p:nvSpPr>
          <p:cNvPr id="14" name="Text 11"/>
          <p:cNvSpPr/>
          <p:nvPr/>
        </p:nvSpPr>
        <p:spPr>
          <a:xfrm>
            <a:off x="1270000" y="7239000"/>
            <a:ext cx="13716000" cy="1397000"/>
          </a:xfrm>
          <a:prstGeom prst="rect">
            <a:avLst/>
          </a:prstGeom>
          <a:noFill/>
          <a:ln/>
        </p:spPr>
        <p:txBody>
          <a:bodyPr wrap="square" lIns="0" tIns="0" rIns="0" bIns="0" rtlCol="0" anchor="t"/>
          <a:lstStyle/>
          <a:p>
            <a:pPr>
              <a:lnSpc>
                <a:spcPct val="160000"/>
              </a:lnSpc>
            </a:pPr>
            <a:r>
              <a:rPr lang="en-US" sz="1800" b="1" dirty="0">
                <a:solidFill>
                  <a:srgbClr val="008080"/>
                </a:solidFill>
                <a:latin typeface="Liter" pitchFamily="34" charset="0"/>
                <a:ea typeface="Liter" pitchFamily="34" charset="-122"/>
                <a:cs typeface="Liter" pitchFamily="34" charset="-120"/>
              </a:rPr>
              <a:t>Valor diagnóstico:</a:t>
            </a:r>
            <a:r>
              <a:rPr lang="en-US" sz="1800" dirty="0">
                <a:solidFill>
                  <a:srgbClr val="E8E8E8"/>
                </a:solidFill>
                <a:latin typeface="Liter" pitchFamily="34" charset="0"/>
                <a:ea typeface="Liter" pitchFamily="34" charset="-122"/>
                <a:cs typeface="Liter" pitchFamily="34" charset="-120"/>
              </a:rPr>
              <a:t> Este índice de positividad del </a:t>
            </a:r>
            <a:r>
              <a:rPr lang="en-US" sz="1800" b="1" dirty="0">
                <a:solidFill>
                  <a:srgbClr val="B8860B"/>
                </a:solidFill>
                <a:latin typeface="Liter" pitchFamily="34" charset="0"/>
                <a:ea typeface="Liter" pitchFamily="34" charset="-122"/>
                <a:cs typeface="Liter" pitchFamily="34" charset="-120"/>
              </a:rPr>
              <a:t>41.9%</a:t>
            </a:r>
            <a:r>
              <a:rPr lang="en-US" sz="1800" dirty="0">
                <a:solidFill>
                  <a:srgbClr val="E8E8E8"/>
                </a:solidFill>
                <a:latin typeface="Liter" pitchFamily="34" charset="0"/>
                <a:ea typeface="Liter" pitchFamily="34" charset="-122"/>
                <a:cs typeface="Liter" pitchFamily="34" charset="-120"/>
              </a:rPr>
              <a:t> reemplaza la estimación visual del patólogo. La concordancia entre patólogos para H-score de TP53 es solo 65-75%; el cálculo pixel-level eleva esta concordancia a &gt;95%.</a:t>
            </a:r>
            <a:endParaRPr lang="en-US" sz="1800" dirty="0"/>
          </a:p>
        </p:txBody>
      </p:sp>
      <p:sp>
        <p:nvSpPr>
          <p:cNvPr id="15" name="Shape 12"/>
          <p:cNvSpPr/>
          <p:nvPr/>
        </p:nvSpPr>
        <p:spPr>
          <a:xfrm>
            <a:off x="762000" y="8763000"/>
            <a:ext cx="14732000" cy="12700"/>
          </a:xfrm>
          <a:prstGeom prst="rect">
            <a:avLst/>
          </a:prstGeom>
          <a:solidFill>
            <a:srgbClr val="2A2A35"/>
          </a:solidFill>
          <a:ln/>
        </p:spPr>
        <p:txBody>
          <a:bodyPr/>
          <a:lstStyle/>
          <a:p>
            <a:endParaRPr lang="es-CO"/>
          </a:p>
        </p:txBody>
      </p:sp>
      <p:sp>
        <p:nvSpPr>
          <p:cNvPr id="16" name="Text 13"/>
          <p:cNvSpPr/>
          <p:nvPr/>
        </p:nvSpPr>
        <p:spPr>
          <a:xfrm>
            <a:off x="762000" y="8839200"/>
            <a:ext cx="6350000" cy="254000"/>
          </a:xfrm>
          <a:prstGeom prst="rect">
            <a:avLst/>
          </a:prstGeom>
          <a:noFill/>
          <a:ln/>
        </p:spPr>
        <p:txBody>
          <a:bodyPr wrap="none" lIns="0" tIns="0" rIns="0" bIns="0" rtlCol="0" anchor="ctr"/>
          <a:lstStyle/>
          <a:p>
            <a:pPr>
              <a:lnSpc>
                <a:spcPct val="140000"/>
              </a:lnSpc>
            </a:pPr>
            <a:r>
              <a:rPr lang="en-US" sz="1400" dirty="0">
                <a:solidFill>
                  <a:srgbClr val="9CA3AF"/>
                </a:solidFill>
                <a:latin typeface="Liter" pitchFamily="34" charset="0"/>
                <a:ea typeface="Liter" pitchFamily="34" charset="-122"/>
                <a:cs typeface="Liter" pitchFamily="34" charset="-120"/>
              </a:rPr>
              <a:t>Total píxeles analizados: 613,860 | Recuento por máscara de cluster</a:t>
            </a:r>
            <a:endParaRPr lang="en-US" sz="1400" dirty="0"/>
          </a:p>
        </p:txBody>
      </p:sp>
      <p:pic>
        <p:nvPicPr>
          <p:cNvPr id="17" name="Imagen 16">
            <a:extLst>
              <a:ext uri="{FF2B5EF4-FFF2-40B4-BE49-F238E27FC236}">
                <a16:creationId xmlns:a16="http://schemas.microsoft.com/office/drawing/2014/main" id="{DD310E16-3E6A-3FAC-1D67-63D8E674B340}"/>
              </a:ext>
            </a:extLst>
          </p:cNvPr>
          <p:cNvPicPr>
            <a:picLocks noChangeAspect="1"/>
          </p:cNvPicPr>
          <p:nvPr/>
        </p:nvPicPr>
        <p:blipFill>
          <a:blip r:embed="rId4"/>
          <a:stretch>
            <a:fillRect/>
          </a:stretch>
        </p:blipFill>
        <p:spPr>
          <a:xfrm>
            <a:off x="227532" y="1524000"/>
            <a:ext cx="8056948" cy="2871267"/>
          </a:xfrm>
          <a:prstGeom prst="rect">
            <a:avLst/>
          </a:prstGeom>
        </p:spPr>
      </p:pic>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A0F"/>
        </a:solidFill>
        <a:effectLst/>
      </p:bgPr>
    </p:bg>
    <p:spTree>
      <p:nvGrpSpPr>
        <p:cNvPr id="1" name=""/>
        <p:cNvGrpSpPr/>
        <p:nvPr/>
      </p:nvGrpSpPr>
      <p:grpSpPr>
        <a:xfrm>
          <a:off x="0" y="0"/>
          <a:ext cx="0" cy="0"/>
          <a:chOff x="0" y="0"/>
          <a:chExt cx="0" cy="0"/>
        </a:xfrm>
      </p:grpSpPr>
      <p:sp>
        <p:nvSpPr>
          <p:cNvPr id="2" name="Text 0"/>
          <p:cNvSpPr/>
          <p:nvPr/>
        </p:nvSpPr>
        <p:spPr>
          <a:xfrm>
            <a:off x="762000" y="508000"/>
            <a:ext cx="13970000" cy="571500"/>
          </a:xfrm>
          <a:prstGeom prst="rect">
            <a:avLst/>
          </a:prstGeom>
          <a:noFill/>
          <a:ln/>
        </p:spPr>
        <p:txBody>
          <a:bodyPr wrap="none" lIns="0" tIns="0" rIns="0" bIns="0" rtlCol="0" anchor="ctr"/>
          <a:lstStyle/>
          <a:p>
            <a:pPr>
              <a:lnSpc>
                <a:spcPct val="130000"/>
              </a:lnSpc>
            </a:pPr>
            <a:r>
              <a:rPr lang="en-US" sz="3200" kern="0" spc="50" dirty="0">
                <a:solidFill>
                  <a:srgbClr val="008080"/>
                </a:solidFill>
                <a:latin typeface="QuattrocentoSans" pitchFamily="34" charset="0"/>
                <a:ea typeface="QuattrocentoSans" pitchFamily="34" charset="-122"/>
                <a:cs typeface="QuattrocentoSans" pitchFamily="34" charset="-120"/>
              </a:rPr>
              <a:t>CORRELACIÓN CLÍNICA</a:t>
            </a:r>
            <a:r>
              <a:rPr lang="en-US" sz="3200" kern="0" spc="50" dirty="0">
                <a:solidFill>
                  <a:srgbClr val="FFFFFF"/>
                </a:solidFill>
                <a:latin typeface="QuattrocentoSans" pitchFamily="34" charset="0"/>
                <a:ea typeface="QuattrocentoSans" pitchFamily="34" charset="-122"/>
                <a:cs typeface="QuattrocentoSans" pitchFamily="34" charset="-120"/>
              </a:rPr>
              <a:t> — De Píxeles a H-score y Allred Score</a:t>
            </a:r>
            <a:endParaRPr lang="en-US" sz="3200" dirty="0"/>
          </a:p>
        </p:txBody>
      </p:sp>
      <p:sp>
        <p:nvSpPr>
          <p:cNvPr id="3" name="Shape 1"/>
          <p:cNvSpPr/>
          <p:nvPr/>
        </p:nvSpPr>
        <p:spPr>
          <a:xfrm>
            <a:off x="762000" y="1168400"/>
            <a:ext cx="14732000" cy="12700"/>
          </a:xfrm>
          <a:prstGeom prst="rect">
            <a:avLst/>
          </a:prstGeom>
          <a:solidFill>
            <a:srgbClr val="2A2A35"/>
          </a:solidFill>
          <a:ln/>
        </p:spPr>
        <p:txBody>
          <a:bodyPr/>
          <a:lstStyle/>
          <a:p>
            <a:endParaRPr lang="es-CO"/>
          </a:p>
        </p:txBody>
      </p:sp>
      <p:sp>
        <p:nvSpPr>
          <p:cNvPr id="4" name="Shape 2"/>
          <p:cNvSpPr/>
          <p:nvPr/>
        </p:nvSpPr>
        <p:spPr>
          <a:xfrm>
            <a:off x="762000" y="1524000"/>
            <a:ext cx="7112000" cy="4191000"/>
          </a:xfrm>
          <a:prstGeom prst="rect">
            <a:avLst/>
          </a:prstGeom>
          <a:solidFill>
            <a:srgbClr val="14141B"/>
          </a:solidFill>
          <a:ln w="12700">
            <a:solidFill>
              <a:srgbClr val="B8860B"/>
            </a:solidFill>
            <a:prstDash val="solid"/>
          </a:ln>
        </p:spPr>
        <p:txBody>
          <a:bodyPr/>
          <a:lstStyle/>
          <a:p>
            <a:endParaRPr lang="es-CO"/>
          </a:p>
        </p:txBody>
      </p:sp>
      <p:sp>
        <p:nvSpPr>
          <p:cNvPr id="5" name="Shape 3"/>
          <p:cNvSpPr/>
          <p:nvPr/>
        </p:nvSpPr>
        <p:spPr>
          <a:xfrm>
            <a:off x="762000" y="1524000"/>
            <a:ext cx="7112000" cy="50800"/>
          </a:xfrm>
          <a:prstGeom prst="rect">
            <a:avLst/>
          </a:prstGeom>
          <a:solidFill>
            <a:srgbClr val="B8860B"/>
          </a:solidFill>
          <a:ln/>
        </p:spPr>
        <p:txBody>
          <a:bodyPr/>
          <a:lstStyle/>
          <a:p>
            <a:endParaRPr lang="es-CO"/>
          </a:p>
        </p:txBody>
      </p:sp>
      <p:sp>
        <p:nvSpPr>
          <p:cNvPr id="6" name="Text 4"/>
          <p:cNvSpPr/>
          <p:nvPr/>
        </p:nvSpPr>
        <p:spPr>
          <a:xfrm>
            <a:off x="1270000" y="1778000"/>
            <a:ext cx="6096000" cy="355600"/>
          </a:xfrm>
          <a:prstGeom prst="rect">
            <a:avLst/>
          </a:prstGeom>
          <a:noFill/>
          <a:ln/>
        </p:spPr>
        <p:txBody>
          <a:bodyPr wrap="none" lIns="0" tIns="0" rIns="0" bIns="0" rtlCol="0" anchor="ctr"/>
          <a:lstStyle/>
          <a:p>
            <a:pPr>
              <a:lnSpc>
                <a:spcPct val="160000"/>
              </a:lnSpc>
            </a:pPr>
            <a:r>
              <a:rPr lang="en-US" sz="1800" b="1" dirty="0">
                <a:solidFill>
                  <a:srgbClr val="B8860B"/>
                </a:solidFill>
                <a:latin typeface="Liter" pitchFamily="34" charset="0"/>
                <a:ea typeface="Liter" pitchFamily="34" charset="-122"/>
                <a:cs typeface="Liter" pitchFamily="34" charset="-120"/>
              </a:rPr>
              <a:t>H-SCORE (0-300)</a:t>
            </a:r>
            <a:endParaRPr lang="en-US" sz="1800" dirty="0"/>
          </a:p>
        </p:txBody>
      </p:sp>
      <p:sp>
        <p:nvSpPr>
          <p:cNvPr id="7" name="Text 5"/>
          <p:cNvSpPr/>
          <p:nvPr/>
        </p:nvSpPr>
        <p:spPr>
          <a:xfrm>
            <a:off x="1270000" y="2286000"/>
            <a:ext cx="6096000" cy="3302000"/>
          </a:xfrm>
          <a:prstGeom prst="rect">
            <a:avLst/>
          </a:prstGeom>
          <a:noFill/>
          <a:ln/>
        </p:spPr>
        <p:txBody>
          <a:bodyPr wrap="square" lIns="0" tIns="0" rIns="0" bIns="0" rtlCol="0" anchor="t"/>
          <a:lstStyle/>
          <a:p>
            <a:pPr>
              <a:lnSpc>
                <a:spcPct val="160000"/>
              </a:lnSpc>
            </a:pPr>
            <a:r>
              <a:rPr lang="en-US" sz="1800" dirty="0">
                <a:solidFill>
                  <a:srgbClr val="E8E8E8"/>
                </a:solidFill>
                <a:latin typeface="Liter" pitchFamily="34" charset="0"/>
                <a:ea typeface="Liter" pitchFamily="34" charset="-122"/>
                <a:cs typeface="Liter" pitchFamily="34" charset="-120"/>
              </a:rPr>
              <a:t>Fórmula estándar en patología digital:</a:t>
            </a:r>
            <a:endParaRPr lang="en-US" sz="1800" dirty="0"/>
          </a:p>
          <a:p>
            <a:pPr>
              <a:lnSpc>
                <a:spcPct val="160000"/>
              </a:lnSpc>
              <a:spcBef>
                <a:spcPts val="800"/>
              </a:spcBef>
            </a:pPr>
            <a:r>
              <a:rPr lang="en-US" sz="1800" b="1" dirty="0">
                <a:solidFill>
                  <a:srgbClr val="E8E8E8"/>
                </a:solidFill>
                <a:latin typeface="Liter" pitchFamily="34" charset="0"/>
                <a:ea typeface="Liter" pitchFamily="34" charset="-122"/>
                <a:cs typeface="Liter" pitchFamily="34" charset="-120"/>
              </a:rPr>
              <a:t>H = (%débil × 1) + (%moderado × 2) + (%intenso × 3)</a:t>
            </a:r>
            <a:endParaRPr lang="en-US" sz="1800" dirty="0"/>
          </a:p>
          <a:p>
            <a:pPr>
              <a:lnSpc>
                <a:spcPct val="160000"/>
              </a:lnSpc>
              <a:spcBef>
                <a:spcPts val="800"/>
              </a:spcBef>
            </a:pPr>
            <a:r>
              <a:rPr lang="en-US" sz="1800" dirty="0">
                <a:solidFill>
                  <a:srgbClr val="E8E8E8"/>
                </a:solidFill>
                <a:latin typeface="Liter" pitchFamily="34" charset="0"/>
                <a:ea typeface="Liter" pitchFamily="34" charset="-122"/>
                <a:cs typeface="Liter" pitchFamily="34" charset="-120"/>
              </a:rPr>
              <a:t>En este análisis, el cluster DAB se puede subdividir por </a:t>
            </a:r>
            <a:r>
              <a:rPr lang="en-US" sz="1800" b="1" dirty="0">
                <a:solidFill>
                  <a:srgbClr val="008080"/>
                </a:solidFill>
                <a:latin typeface="Liter" pitchFamily="34" charset="0"/>
                <a:ea typeface="Liter" pitchFamily="34" charset="-122"/>
                <a:cs typeface="Liter" pitchFamily="34" charset="-120"/>
              </a:rPr>
              <a:t>distancia al centroide</a:t>
            </a:r>
            <a:r>
              <a:rPr lang="en-US" sz="1800" dirty="0">
                <a:solidFill>
                  <a:srgbClr val="E8E8E8"/>
                </a:solidFill>
                <a:latin typeface="Liter" pitchFamily="34" charset="0"/>
                <a:ea typeface="Liter" pitchFamily="34" charset="-122"/>
                <a:cs typeface="Liter" pitchFamily="34" charset="-120"/>
              </a:rPr>
              <a:t>: píxeles cercanos = intensidad alta; píxeles lejanos = intensidad baja. Esta proxy cuantitativa aproxima el H-score sin anotación manual de intensidad por patólogo.</a:t>
            </a:r>
            <a:endParaRPr lang="en-US" sz="1800" dirty="0"/>
          </a:p>
        </p:txBody>
      </p:sp>
      <p:sp>
        <p:nvSpPr>
          <p:cNvPr id="8" name="Shape 6"/>
          <p:cNvSpPr/>
          <p:nvPr/>
        </p:nvSpPr>
        <p:spPr>
          <a:xfrm>
            <a:off x="8382000" y="1524000"/>
            <a:ext cx="7112000" cy="4191000"/>
          </a:xfrm>
          <a:prstGeom prst="rect">
            <a:avLst/>
          </a:prstGeom>
          <a:solidFill>
            <a:srgbClr val="14141B"/>
          </a:solidFill>
          <a:ln w="12700">
            <a:solidFill>
              <a:srgbClr val="6A5ACD"/>
            </a:solidFill>
            <a:prstDash val="solid"/>
          </a:ln>
        </p:spPr>
        <p:txBody>
          <a:bodyPr/>
          <a:lstStyle/>
          <a:p>
            <a:endParaRPr lang="es-CO"/>
          </a:p>
        </p:txBody>
      </p:sp>
      <p:sp>
        <p:nvSpPr>
          <p:cNvPr id="9" name="Shape 7"/>
          <p:cNvSpPr/>
          <p:nvPr/>
        </p:nvSpPr>
        <p:spPr>
          <a:xfrm>
            <a:off x="8382000" y="1524000"/>
            <a:ext cx="7112000" cy="50800"/>
          </a:xfrm>
          <a:prstGeom prst="rect">
            <a:avLst/>
          </a:prstGeom>
          <a:solidFill>
            <a:srgbClr val="6A5ACD"/>
          </a:solidFill>
          <a:ln/>
        </p:spPr>
        <p:txBody>
          <a:bodyPr/>
          <a:lstStyle/>
          <a:p>
            <a:endParaRPr lang="es-CO"/>
          </a:p>
        </p:txBody>
      </p:sp>
      <p:sp>
        <p:nvSpPr>
          <p:cNvPr id="10" name="Text 8"/>
          <p:cNvSpPr/>
          <p:nvPr/>
        </p:nvSpPr>
        <p:spPr>
          <a:xfrm>
            <a:off x="8890000" y="1778000"/>
            <a:ext cx="6096000" cy="355600"/>
          </a:xfrm>
          <a:prstGeom prst="rect">
            <a:avLst/>
          </a:prstGeom>
          <a:noFill/>
          <a:ln/>
        </p:spPr>
        <p:txBody>
          <a:bodyPr wrap="none" lIns="0" tIns="0" rIns="0" bIns="0" rtlCol="0" anchor="ctr"/>
          <a:lstStyle/>
          <a:p>
            <a:pPr>
              <a:lnSpc>
                <a:spcPct val="160000"/>
              </a:lnSpc>
            </a:pPr>
            <a:r>
              <a:rPr lang="en-US" sz="1800" b="1" dirty="0">
                <a:solidFill>
                  <a:srgbClr val="6A5ACD"/>
                </a:solidFill>
                <a:latin typeface="Liter" pitchFamily="34" charset="0"/>
                <a:ea typeface="Liter" pitchFamily="34" charset="-122"/>
                <a:cs typeface="Liter" pitchFamily="34" charset="-120"/>
              </a:rPr>
              <a:t>ALLRED SCORE (0-8)</a:t>
            </a:r>
            <a:endParaRPr lang="en-US" sz="1800" dirty="0"/>
          </a:p>
        </p:txBody>
      </p:sp>
      <p:sp>
        <p:nvSpPr>
          <p:cNvPr id="11" name="Text 9"/>
          <p:cNvSpPr/>
          <p:nvPr/>
        </p:nvSpPr>
        <p:spPr>
          <a:xfrm>
            <a:off x="8890000" y="2286000"/>
            <a:ext cx="6096000" cy="3048000"/>
          </a:xfrm>
          <a:prstGeom prst="rect">
            <a:avLst/>
          </a:prstGeom>
          <a:noFill/>
          <a:ln/>
        </p:spPr>
        <p:txBody>
          <a:bodyPr wrap="square" lIns="0" tIns="0" rIns="0" bIns="0" rtlCol="0" anchor="t"/>
          <a:lstStyle/>
          <a:p>
            <a:pPr>
              <a:lnSpc>
                <a:spcPct val="160000"/>
              </a:lnSpc>
            </a:pPr>
            <a:r>
              <a:rPr lang="en-US" sz="1800" dirty="0">
                <a:solidFill>
                  <a:srgbClr val="E8E8E8"/>
                </a:solidFill>
                <a:latin typeface="Liter" pitchFamily="34" charset="0"/>
                <a:ea typeface="Liter" pitchFamily="34" charset="-122"/>
                <a:cs typeface="Liter" pitchFamily="34" charset="-120"/>
              </a:rPr>
              <a:t>Score compuesto de proporción + intensidad:</a:t>
            </a:r>
            <a:endParaRPr lang="en-US" sz="1800" dirty="0"/>
          </a:p>
          <a:p>
            <a:pPr>
              <a:lnSpc>
                <a:spcPct val="160000"/>
              </a:lnSpc>
              <a:spcBef>
                <a:spcPts val="800"/>
              </a:spcBef>
            </a:pPr>
            <a:r>
              <a:rPr lang="en-US" sz="1800" b="1" dirty="0">
                <a:solidFill>
                  <a:srgbClr val="E8E8E8"/>
                </a:solidFill>
                <a:latin typeface="Liter" pitchFamily="34" charset="0"/>
                <a:ea typeface="Liter" pitchFamily="34" charset="-122"/>
                <a:cs typeface="Liter" pitchFamily="34" charset="-120"/>
              </a:rPr>
              <a:t>Allred = Proporción (0-5) + Intensidad (0-3)</a:t>
            </a:r>
            <a:endParaRPr lang="en-US" sz="1800" dirty="0"/>
          </a:p>
          <a:p>
            <a:pPr>
              <a:lnSpc>
                <a:spcPct val="160000"/>
              </a:lnSpc>
              <a:spcBef>
                <a:spcPts val="800"/>
              </a:spcBef>
            </a:pPr>
            <a:r>
              <a:rPr lang="en-US" sz="1800" dirty="0">
                <a:solidFill>
                  <a:srgbClr val="E8E8E8"/>
                </a:solidFill>
                <a:latin typeface="Liter" pitchFamily="34" charset="0"/>
                <a:ea typeface="Liter" pitchFamily="34" charset="-122"/>
                <a:cs typeface="Liter" pitchFamily="34" charset="-120"/>
              </a:rPr>
              <a:t>El </a:t>
            </a:r>
            <a:r>
              <a:rPr lang="en-US" sz="1800" b="1" dirty="0">
                <a:solidFill>
                  <a:srgbClr val="008080"/>
                </a:solidFill>
                <a:latin typeface="Liter" pitchFamily="34" charset="0"/>
                <a:ea typeface="Liter" pitchFamily="34" charset="-122"/>
                <a:cs typeface="Liter" pitchFamily="34" charset="-120"/>
              </a:rPr>
              <a:t>recuento pixel-level</a:t>
            </a:r>
            <a:r>
              <a:rPr lang="en-US" sz="1800" dirty="0">
                <a:solidFill>
                  <a:srgbClr val="E8E8E8"/>
                </a:solidFill>
                <a:latin typeface="Liter" pitchFamily="34" charset="0"/>
                <a:ea typeface="Liter" pitchFamily="34" charset="-122"/>
                <a:cs typeface="Liter" pitchFamily="34" charset="-120"/>
              </a:rPr>
              <a:t> proporciona la proporción objetiva (41.9% positivos ≈ proporción 4). La </a:t>
            </a:r>
            <a:r>
              <a:rPr lang="en-US" sz="1800" b="1" dirty="0">
                <a:solidFill>
                  <a:srgbClr val="6A5ACD"/>
                </a:solidFill>
                <a:latin typeface="Liter" pitchFamily="34" charset="0"/>
                <a:ea typeface="Liter" pitchFamily="34" charset="-122"/>
                <a:cs typeface="Liter" pitchFamily="34" charset="-120"/>
              </a:rPr>
              <a:t>distancia al centroide DAB</a:t>
            </a:r>
            <a:r>
              <a:rPr lang="en-US" sz="1800" dirty="0">
                <a:solidFill>
                  <a:srgbClr val="E8E8E8"/>
                </a:solidFill>
                <a:latin typeface="Liter" pitchFamily="34" charset="0"/>
                <a:ea typeface="Liter" pitchFamily="34" charset="-122"/>
                <a:cs typeface="Liter" pitchFamily="34" charset="-120"/>
              </a:rPr>
              <a:t> sirve como proxy de intensidad promedio, completando el score sin subjetividad humana.</a:t>
            </a:r>
            <a:endParaRPr lang="en-US" sz="1800" dirty="0"/>
          </a:p>
        </p:txBody>
      </p:sp>
      <p:sp>
        <p:nvSpPr>
          <p:cNvPr id="12" name="Shape 10"/>
          <p:cNvSpPr/>
          <p:nvPr/>
        </p:nvSpPr>
        <p:spPr>
          <a:xfrm>
            <a:off x="762000" y="5969000"/>
            <a:ext cx="14732000" cy="2794000"/>
          </a:xfrm>
          <a:prstGeom prst="rect">
            <a:avLst/>
          </a:prstGeom>
          <a:solidFill>
            <a:srgbClr val="14141B"/>
          </a:solidFill>
          <a:ln w="12700">
            <a:solidFill>
              <a:srgbClr val="008080"/>
            </a:solidFill>
            <a:prstDash val="solid"/>
          </a:ln>
        </p:spPr>
        <p:txBody>
          <a:bodyPr/>
          <a:lstStyle/>
          <a:p>
            <a:endParaRPr lang="es-CO"/>
          </a:p>
        </p:txBody>
      </p:sp>
      <p:sp>
        <p:nvSpPr>
          <p:cNvPr id="13" name="Shape 11"/>
          <p:cNvSpPr/>
          <p:nvPr/>
        </p:nvSpPr>
        <p:spPr>
          <a:xfrm>
            <a:off x="762000" y="5207000"/>
            <a:ext cx="50800" cy="3302000"/>
          </a:xfrm>
          <a:prstGeom prst="rect">
            <a:avLst/>
          </a:prstGeom>
          <a:solidFill>
            <a:srgbClr val="008080"/>
          </a:solidFill>
          <a:ln/>
        </p:spPr>
        <p:txBody>
          <a:bodyPr/>
          <a:lstStyle/>
          <a:p>
            <a:endParaRPr lang="es-CO"/>
          </a:p>
        </p:txBody>
      </p:sp>
      <p:sp>
        <p:nvSpPr>
          <p:cNvPr id="14" name="Text 12"/>
          <p:cNvSpPr/>
          <p:nvPr/>
        </p:nvSpPr>
        <p:spPr>
          <a:xfrm>
            <a:off x="1270000" y="6172200"/>
            <a:ext cx="5080000" cy="355600"/>
          </a:xfrm>
          <a:prstGeom prst="rect">
            <a:avLst/>
          </a:prstGeom>
          <a:noFill/>
          <a:ln/>
        </p:spPr>
        <p:txBody>
          <a:bodyPr wrap="none" lIns="0" tIns="0" rIns="0" bIns="0" rtlCol="0" anchor="ctr"/>
          <a:lstStyle/>
          <a:p>
            <a:pPr>
              <a:lnSpc>
                <a:spcPct val="160000"/>
              </a:lnSpc>
            </a:pPr>
            <a:r>
              <a:rPr lang="en-US" sz="1800" b="1" dirty="0">
                <a:solidFill>
                  <a:srgbClr val="008080"/>
                </a:solidFill>
                <a:latin typeface="Liter" pitchFamily="34" charset="0"/>
                <a:ea typeface="Liter" pitchFamily="34" charset="-122"/>
                <a:cs typeface="Liter" pitchFamily="34" charset="-120"/>
              </a:rPr>
              <a:t>REPRODUCIBILIDAD INTER-LABORATORIO</a:t>
            </a:r>
            <a:endParaRPr lang="en-US" sz="1800" dirty="0"/>
          </a:p>
        </p:txBody>
      </p:sp>
      <p:sp>
        <p:nvSpPr>
          <p:cNvPr id="15" name="Shape 13"/>
          <p:cNvSpPr/>
          <p:nvPr/>
        </p:nvSpPr>
        <p:spPr>
          <a:xfrm>
            <a:off x="1270000" y="6654800"/>
            <a:ext cx="13716000" cy="12700"/>
          </a:xfrm>
          <a:prstGeom prst="rect">
            <a:avLst/>
          </a:prstGeom>
          <a:solidFill>
            <a:srgbClr val="2A2A35"/>
          </a:solidFill>
          <a:ln/>
        </p:spPr>
        <p:txBody>
          <a:bodyPr/>
          <a:lstStyle/>
          <a:p>
            <a:endParaRPr lang="es-CO"/>
          </a:p>
        </p:txBody>
      </p:sp>
      <p:sp>
        <p:nvSpPr>
          <p:cNvPr id="16" name="Text 14"/>
          <p:cNvSpPr/>
          <p:nvPr/>
        </p:nvSpPr>
        <p:spPr>
          <a:xfrm>
            <a:off x="1270000" y="6553200"/>
            <a:ext cx="13716000" cy="2159000"/>
          </a:xfrm>
          <a:prstGeom prst="rect">
            <a:avLst/>
          </a:prstGeom>
          <a:noFill/>
          <a:ln/>
        </p:spPr>
        <p:txBody>
          <a:bodyPr wrap="square" lIns="0" tIns="0" rIns="0" bIns="0" rtlCol="0" anchor="t"/>
          <a:lstStyle/>
          <a:p>
            <a:pPr>
              <a:lnSpc>
                <a:spcPct val="160000"/>
              </a:lnSpc>
            </a:pPr>
            <a:r>
              <a:rPr lang="en-US" sz="1800" dirty="0">
                <a:solidFill>
                  <a:srgbClr val="E8E8E8"/>
                </a:solidFill>
                <a:latin typeface="Liter" pitchFamily="34" charset="0"/>
                <a:ea typeface="Liter" pitchFamily="34" charset="-122"/>
                <a:cs typeface="Liter" pitchFamily="34" charset="-120"/>
              </a:rPr>
              <a:t>Al eliminar la subjetividad, dos laboratorios con distintos escáneres pero mismo </a:t>
            </a:r>
            <a:r>
              <a:rPr lang="en-US" sz="1800" b="1" dirty="0">
                <a:solidFill>
                  <a:srgbClr val="008080"/>
                </a:solidFill>
                <a:latin typeface="Liter" pitchFamily="34" charset="0"/>
                <a:ea typeface="Liter" pitchFamily="34" charset="-122"/>
                <a:cs typeface="Liter" pitchFamily="34" charset="-120"/>
              </a:rPr>
              <a:t>pipeline HSV</a:t>
            </a:r>
            <a:r>
              <a:rPr lang="en-US" sz="1800" dirty="0">
                <a:solidFill>
                  <a:srgbClr val="E8E8E8"/>
                </a:solidFill>
                <a:latin typeface="Liter" pitchFamily="34" charset="0"/>
                <a:ea typeface="Liter" pitchFamily="34" charset="-122"/>
                <a:cs typeface="Liter" pitchFamily="34" charset="-120"/>
              </a:rPr>
              <a:t> obtendrán el mismo score. La clave es la </a:t>
            </a:r>
            <a:r>
              <a:rPr lang="en-US" sz="1800" b="1" dirty="0">
                <a:solidFill>
                  <a:srgbClr val="B8860B"/>
                </a:solidFill>
                <a:latin typeface="Liter" pitchFamily="34" charset="0"/>
                <a:ea typeface="Liter" pitchFamily="34" charset="-122"/>
                <a:cs typeface="Liter" pitchFamily="34" charset="-120"/>
              </a:rPr>
              <a:t>normalización del espacio de color</a:t>
            </a:r>
            <a:r>
              <a:rPr lang="en-US" sz="1800" dirty="0">
                <a:solidFill>
                  <a:srgbClr val="E8E8E8"/>
                </a:solidFill>
                <a:latin typeface="Liter" pitchFamily="34" charset="0"/>
                <a:ea typeface="Liter" pitchFamily="34" charset="-122"/>
                <a:cs typeface="Liter" pitchFamily="34" charset="-120"/>
              </a:rPr>
              <a:t>:</a:t>
            </a:r>
            <a:endParaRPr lang="en-US" sz="1800" dirty="0"/>
          </a:p>
          <a:p>
            <a:pPr>
              <a:lnSpc>
                <a:spcPct val="160000"/>
              </a:lnSpc>
              <a:spcBef>
                <a:spcPts val="800"/>
              </a:spcBef>
            </a:pPr>
            <a:r>
              <a:rPr lang="en-US" sz="1800" dirty="0">
                <a:solidFill>
                  <a:srgbClr val="E8E8E8"/>
                </a:solidFill>
                <a:latin typeface="Liter" pitchFamily="34" charset="0"/>
                <a:ea typeface="Liter" pitchFamily="34" charset="-122"/>
                <a:cs typeface="Liter" pitchFamily="34" charset="-120"/>
              </a:rPr>
              <a:t>• </a:t>
            </a:r>
            <a:r>
              <a:rPr lang="en-US" sz="1800" b="1" dirty="0">
                <a:solidFill>
                  <a:srgbClr val="E8E8E8"/>
                </a:solidFill>
                <a:latin typeface="Liter" pitchFamily="34" charset="0"/>
                <a:ea typeface="Liter" pitchFamily="34" charset="-122"/>
                <a:cs typeface="Liter" pitchFamily="34" charset="-120"/>
              </a:rPr>
              <a:t>Escáner A (Aperio):</a:t>
            </a:r>
            <a:r>
              <a:rPr lang="en-US" sz="1800" dirty="0">
                <a:solidFill>
                  <a:srgbClr val="E8E8E8"/>
                </a:solidFill>
                <a:latin typeface="Liter" pitchFamily="34" charset="0"/>
                <a:ea typeface="Liter" pitchFamily="34" charset="-122"/>
                <a:cs typeface="Liter" pitchFamily="34" charset="-120"/>
              </a:rPr>
              <a:t> V elevado, H del DAB ~20°. </a:t>
            </a:r>
            <a:r>
              <a:rPr lang="en-US" sz="1800" b="1" dirty="0">
                <a:solidFill>
                  <a:srgbClr val="E8E8E8"/>
                </a:solidFill>
                <a:latin typeface="Liter" pitchFamily="34" charset="0"/>
                <a:ea typeface="Liter" pitchFamily="34" charset="-122"/>
                <a:cs typeface="Liter" pitchFamily="34" charset="-120"/>
              </a:rPr>
              <a:t>Escáner B (Hamamatsu):</a:t>
            </a:r>
            <a:r>
              <a:rPr lang="en-US" sz="1800" dirty="0">
                <a:solidFill>
                  <a:srgbClr val="E8E8E8"/>
                </a:solidFill>
                <a:latin typeface="Liter" pitchFamily="34" charset="0"/>
                <a:ea typeface="Liter" pitchFamily="34" charset="-122"/>
                <a:cs typeface="Liter" pitchFamily="34" charset="-120"/>
              </a:rPr>
              <a:t> V moderado, H del DAB ~20°.</a:t>
            </a:r>
            <a:endParaRPr lang="en-US" sz="1800" dirty="0"/>
          </a:p>
          <a:p>
            <a:pPr>
              <a:lnSpc>
                <a:spcPct val="160000"/>
              </a:lnSpc>
              <a:spcBef>
                <a:spcPts val="800"/>
              </a:spcBef>
            </a:pPr>
            <a:r>
              <a:rPr lang="en-US" sz="1800" dirty="0">
                <a:solidFill>
                  <a:srgbClr val="E8E8E8"/>
                </a:solidFill>
                <a:latin typeface="Liter" pitchFamily="34" charset="0"/>
                <a:ea typeface="Liter" pitchFamily="34" charset="-122"/>
                <a:cs typeface="Liter" pitchFamily="34" charset="-120"/>
              </a:rPr>
              <a:t>• </a:t>
            </a:r>
            <a:r>
              <a:rPr lang="en-US" sz="1800" b="1" dirty="0">
                <a:solidFill>
                  <a:srgbClr val="E8E8E8"/>
                </a:solidFill>
                <a:latin typeface="Liter" pitchFamily="34" charset="0"/>
                <a:ea typeface="Liter" pitchFamily="34" charset="-122"/>
                <a:cs typeface="Liter" pitchFamily="34" charset="-120"/>
              </a:rPr>
              <a:t>Resultado:</a:t>
            </a:r>
            <a:r>
              <a:rPr lang="en-US" sz="1800" dirty="0">
                <a:solidFill>
                  <a:srgbClr val="E8E8E8"/>
                </a:solidFill>
                <a:latin typeface="Liter" pitchFamily="34" charset="0"/>
                <a:ea typeface="Liter" pitchFamily="34" charset="-122"/>
                <a:cs typeface="Liter" pitchFamily="34" charset="-120"/>
              </a:rPr>
              <a:t> El cluster es </a:t>
            </a:r>
            <a:r>
              <a:rPr lang="en-US" sz="1800" b="1" dirty="0">
                <a:solidFill>
                  <a:srgbClr val="008080"/>
                </a:solidFill>
                <a:latin typeface="Liter" pitchFamily="34" charset="0"/>
                <a:ea typeface="Liter" pitchFamily="34" charset="-122"/>
                <a:cs typeface="Liter" pitchFamily="34" charset="-120"/>
              </a:rPr>
              <a:t>invariante al escáner</a:t>
            </a:r>
            <a:r>
              <a:rPr lang="en-US" sz="1800" dirty="0">
                <a:solidFill>
                  <a:srgbClr val="E8E8E8"/>
                </a:solidFill>
                <a:latin typeface="Liter" pitchFamily="34" charset="0"/>
                <a:ea typeface="Liter" pitchFamily="34" charset="-122"/>
                <a:cs typeface="Liter" pitchFamily="34" charset="-120"/>
              </a:rPr>
              <a:t> porque HSV desacopla tono de luminosidad.</a:t>
            </a:r>
            <a:endParaRPr lang="en-US" sz="1800" dirty="0"/>
          </a:p>
        </p:txBody>
      </p:sp>
      <p:sp>
        <p:nvSpPr>
          <p:cNvPr id="17" name="Shape 15"/>
          <p:cNvSpPr/>
          <p:nvPr/>
        </p:nvSpPr>
        <p:spPr>
          <a:xfrm>
            <a:off x="762000" y="8763000"/>
            <a:ext cx="14732000" cy="12700"/>
          </a:xfrm>
          <a:prstGeom prst="rect">
            <a:avLst/>
          </a:prstGeom>
          <a:solidFill>
            <a:srgbClr val="2A2A35"/>
          </a:solidFill>
          <a:ln/>
        </p:spPr>
        <p:txBody>
          <a:bodyPr/>
          <a:lstStyle/>
          <a:p>
            <a:endParaRPr lang="es-CO"/>
          </a:p>
        </p:txBody>
      </p:sp>
      <p:sp>
        <p:nvSpPr>
          <p:cNvPr id="18" name="Text 16"/>
          <p:cNvSpPr/>
          <p:nvPr/>
        </p:nvSpPr>
        <p:spPr>
          <a:xfrm>
            <a:off x="762000" y="8839200"/>
            <a:ext cx="7620000" cy="254000"/>
          </a:xfrm>
          <a:prstGeom prst="rect">
            <a:avLst/>
          </a:prstGeom>
          <a:noFill/>
          <a:ln/>
        </p:spPr>
        <p:txBody>
          <a:bodyPr wrap="none" lIns="0" tIns="0" rIns="0" bIns="0" rtlCol="0" anchor="ctr"/>
          <a:lstStyle/>
          <a:p>
            <a:pPr>
              <a:lnSpc>
                <a:spcPct val="140000"/>
              </a:lnSpc>
            </a:pPr>
            <a:r>
              <a:rPr lang="en-US" sz="1400" dirty="0">
                <a:solidFill>
                  <a:srgbClr val="9CA3AF"/>
                </a:solidFill>
                <a:latin typeface="Liter" pitchFamily="34" charset="0"/>
                <a:ea typeface="Liter" pitchFamily="34" charset="-122"/>
                <a:cs typeface="Liter" pitchFamily="34" charset="-120"/>
              </a:rPr>
              <a:t>Scores estandarizados: H-score (0-300) | Allred (0-8) | Concordancia interobservador &gt;95%</a:t>
            </a:r>
            <a:endParaRPr lang="en-US" sz="1400" dirty="0"/>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A0F"/>
        </a:solidFill>
        <a:effectLst/>
      </p:bgPr>
    </p:bg>
    <p:spTree>
      <p:nvGrpSpPr>
        <p:cNvPr id="1" name=""/>
        <p:cNvGrpSpPr/>
        <p:nvPr/>
      </p:nvGrpSpPr>
      <p:grpSpPr>
        <a:xfrm>
          <a:off x="0" y="0"/>
          <a:ext cx="0" cy="0"/>
          <a:chOff x="0" y="0"/>
          <a:chExt cx="0" cy="0"/>
        </a:xfrm>
      </p:grpSpPr>
      <p:sp>
        <p:nvSpPr>
          <p:cNvPr id="2" name="Text 0"/>
          <p:cNvSpPr/>
          <p:nvPr/>
        </p:nvSpPr>
        <p:spPr>
          <a:xfrm>
            <a:off x="762000" y="508000"/>
            <a:ext cx="13970000" cy="571500"/>
          </a:xfrm>
          <a:prstGeom prst="rect">
            <a:avLst/>
          </a:prstGeom>
          <a:noFill/>
          <a:ln/>
        </p:spPr>
        <p:txBody>
          <a:bodyPr wrap="none" lIns="0" tIns="0" rIns="0" bIns="0" rtlCol="0" anchor="ctr"/>
          <a:lstStyle/>
          <a:p>
            <a:pPr>
              <a:lnSpc>
                <a:spcPct val="130000"/>
              </a:lnSpc>
            </a:pPr>
            <a:r>
              <a:rPr lang="en-US" sz="3200" kern="0" spc="50" dirty="0">
                <a:solidFill>
                  <a:srgbClr val="008080"/>
                </a:solidFill>
                <a:latin typeface="QuattrocentoSans" pitchFamily="34" charset="0"/>
                <a:ea typeface="QuattrocentoSans" pitchFamily="34" charset="-122"/>
                <a:cs typeface="QuattrocentoSans" pitchFamily="34" charset="-120"/>
              </a:rPr>
              <a:t>CONCLUSIONES TÉCNICAS</a:t>
            </a:r>
            <a:r>
              <a:rPr lang="en-US" sz="3200" kern="0" spc="50" dirty="0">
                <a:solidFill>
                  <a:srgbClr val="FFFFFF"/>
                </a:solidFill>
                <a:latin typeface="QuattrocentoSans" pitchFamily="34" charset="0"/>
                <a:ea typeface="QuattrocentoSans" pitchFamily="34" charset="-122"/>
                <a:cs typeface="QuattrocentoSans" pitchFamily="34" charset="-120"/>
              </a:rPr>
              <a:t> — Superioridad del Modelo No Supervisado</a:t>
            </a:r>
            <a:endParaRPr lang="en-US" sz="3200" dirty="0"/>
          </a:p>
        </p:txBody>
      </p:sp>
      <p:sp>
        <p:nvSpPr>
          <p:cNvPr id="3" name="Shape 1"/>
          <p:cNvSpPr/>
          <p:nvPr/>
        </p:nvSpPr>
        <p:spPr>
          <a:xfrm>
            <a:off x="762000" y="1168400"/>
            <a:ext cx="14732000" cy="12700"/>
          </a:xfrm>
          <a:prstGeom prst="rect">
            <a:avLst/>
          </a:prstGeom>
          <a:solidFill>
            <a:srgbClr val="2A2A35"/>
          </a:solidFill>
          <a:ln/>
        </p:spPr>
        <p:txBody>
          <a:bodyPr/>
          <a:lstStyle/>
          <a:p>
            <a:endParaRPr lang="es-CO"/>
          </a:p>
        </p:txBody>
      </p:sp>
      <p:sp>
        <p:nvSpPr>
          <p:cNvPr id="4" name="Shape 2"/>
          <p:cNvSpPr/>
          <p:nvPr/>
        </p:nvSpPr>
        <p:spPr>
          <a:xfrm>
            <a:off x="762000" y="1524000"/>
            <a:ext cx="14732000" cy="2159000"/>
          </a:xfrm>
          <a:prstGeom prst="rect">
            <a:avLst/>
          </a:prstGeom>
          <a:solidFill>
            <a:srgbClr val="14141B"/>
          </a:solidFill>
          <a:ln w="12700">
            <a:solidFill>
              <a:srgbClr val="008080"/>
            </a:solidFill>
            <a:prstDash val="solid"/>
          </a:ln>
        </p:spPr>
        <p:txBody>
          <a:bodyPr/>
          <a:lstStyle/>
          <a:p>
            <a:endParaRPr lang="es-CO"/>
          </a:p>
        </p:txBody>
      </p:sp>
      <p:sp>
        <p:nvSpPr>
          <p:cNvPr id="5" name="Shape 3"/>
          <p:cNvSpPr/>
          <p:nvPr/>
        </p:nvSpPr>
        <p:spPr>
          <a:xfrm>
            <a:off x="762000" y="1524000"/>
            <a:ext cx="50800" cy="2032000"/>
          </a:xfrm>
          <a:prstGeom prst="rect">
            <a:avLst/>
          </a:prstGeom>
          <a:solidFill>
            <a:srgbClr val="008080"/>
          </a:solidFill>
          <a:ln/>
        </p:spPr>
        <p:txBody>
          <a:bodyPr/>
          <a:lstStyle/>
          <a:p>
            <a:endParaRPr lang="es-CO"/>
          </a:p>
        </p:txBody>
      </p:sp>
      <p:sp>
        <p:nvSpPr>
          <p:cNvPr id="6" name="Text 4"/>
          <p:cNvSpPr/>
          <p:nvPr/>
        </p:nvSpPr>
        <p:spPr>
          <a:xfrm>
            <a:off x="1066800" y="1651000"/>
            <a:ext cx="762000" cy="508000"/>
          </a:xfrm>
          <a:prstGeom prst="rect">
            <a:avLst/>
          </a:prstGeom>
          <a:noFill/>
          <a:ln/>
        </p:spPr>
        <p:txBody>
          <a:bodyPr wrap="none" lIns="0" tIns="0" rIns="0" bIns="0" rtlCol="0" anchor="ctr"/>
          <a:lstStyle/>
          <a:p>
            <a:pPr>
              <a:lnSpc>
                <a:spcPct val="100000"/>
              </a:lnSpc>
            </a:pPr>
            <a:r>
              <a:rPr lang="en-US" sz="2800" b="1" dirty="0">
                <a:solidFill>
                  <a:srgbClr val="008080"/>
                </a:solidFill>
                <a:latin typeface="Liter" pitchFamily="34" charset="0"/>
                <a:ea typeface="Liter" pitchFamily="34" charset="-122"/>
                <a:cs typeface="Liter" pitchFamily="34" charset="-120"/>
              </a:rPr>
              <a:t>01</a:t>
            </a:r>
            <a:endParaRPr lang="en-US" sz="1600" dirty="0"/>
          </a:p>
        </p:txBody>
      </p:sp>
      <p:sp>
        <p:nvSpPr>
          <p:cNvPr id="7" name="Text 5"/>
          <p:cNvSpPr/>
          <p:nvPr/>
        </p:nvSpPr>
        <p:spPr>
          <a:xfrm>
            <a:off x="1828800" y="1651000"/>
            <a:ext cx="3810000" cy="355600"/>
          </a:xfrm>
          <a:prstGeom prst="rect">
            <a:avLst/>
          </a:prstGeom>
          <a:noFill/>
          <a:ln/>
        </p:spPr>
        <p:txBody>
          <a:bodyPr wrap="none" lIns="0" tIns="0" rIns="0" bIns="0" rtlCol="0" anchor="ctr"/>
          <a:lstStyle/>
          <a:p>
            <a:pPr>
              <a:lnSpc>
                <a:spcPct val="160000"/>
              </a:lnSpc>
            </a:pPr>
            <a:r>
              <a:rPr lang="en-US" sz="1800" b="1" dirty="0">
                <a:solidFill>
                  <a:srgbClr val="008080"/>
                </a:solidFill>
                <a:latin typeface="Liter" pitchFamily="34" charset="0"/>
                <a:ea typeface="Liter" pitchFamily="34" charset="-122"/>
                <a:cs typeface="Liter" pitchFamily="34" charset="-120"/>
              </a:rPr>
              <a:t>SUPERIORIDAD DEL MODELO</a:t>
            </a:r>
            <a:endParaRPr lang="en-US" sz="1800" dirty="0"/>
          </a:p>
        </p:txBody>
      </p:sp>
      <p:sp>
        <p:nvSpPr>
          <p:cNvPr id="8" name="Text 6"/>
          <p:cNvSpPr/>
          <p:nvPr/>
        </p:nvSpPr>
        <p:spPr>
          <a:xfrm>
            <a:off x="1066800" y="2159000"/>
            <a:ext cx="14097000" cy="1270000"/>
          </a:xfrm>
          <a:prstGeom prst="rect">
            <a:avLst/>
          </a:prstGeom>
          <a:noFill/>
          <a:ln/>
        </p:spPr>
        <p:txBody>
          <a:bodyPr wrap="square" lIns="0" tIns="0" rIns="0" bIns="0" rtlCol="0" anchor="t"/>
          <a:lstStyle/>
          <a:p>
            <a:pPr>
              <a:lnSpc>
                <a:spcPct val="160000"/>
              </a:lnSpc>
            </a:pPr>
            <a:r>
              <a:rPr lang="en-US" sz="1800" dirty="0">
                <a:solidFill>
                  <a:srgbClr val="E8E8E8"/>
                </a:solidFill>
                <a:latin typeface="Liter" pitchFamily="34" charset="0"/>
                <a:ea typeface="Liter" pitchFamily="34" charset="-122"/>
                <a:cs typeface="Liter" pitchFamily="34" charset="-120"/>
              </a:rPr>
              <a:t>K-Means en HSV logra </a:t>
            </a:r>
            <a:r>
              <a:rPr lang="en-US" sz="1800" b="1" dirty="0">
                <a:solidFill>
                  <a:srgbClr val="008080"/>
                </a:solidFill>
                <a:latin typeface="Liter" pitchFamily="34" charset="0"/>
                <a:ea typeface="Liter" pitchFamily="34" charset="-122"/>
                <a:cs typeface="Liter" pitchFamily="34" charset="-120"/>
              </a:rPr>
              <a:t>Silhouette Score de 0.695</a:t>
            </a:r>
            <a:r>
              <a:rPr lang="en-US" sz="1800" dirty="0">
                <a:solidFill>
                  <a:srgbClr val="E8E8E8"/>
                </a:solidFill>
                <a:latin typeface="Liter" pitchFamily="34" charset="0"/>
                <a:ea typeface="Liter" pitchFamily="34" charset="-122"/>
                <a:cs typeface="Liter" pitchFamily="34" charset="-120"/>
              </a:rPr>
              <a:t>, superando el umbral de 0.5 para "buena separación" y demostrando que los centroides cromáticos capturan la estructura biológica subyacente sin etiquetas de entrenamiento. La correspondencia 1:1 entre clusters y estructuras histológicas valida el modelo como </a:t>
            </a:r>
            <a:r>
              <a:rPr lang="en-US" sz="1800" b="1" dirty="0">
                <a:solidFill>
                  <a:srgbClr val="B8860B"/>
                </a:solidFill>
                <a:latin typeface="Liter" pitchFamily="34" charset="0"/>
                <a:ea typeface="Liter" pitchFamily="34" charset="-122"/>
                <a:cs typeface="Liter" pitchFamily="34" charset="-120"/>
              </a:rPr>
              <a:t>surrogado mutacional cuantitativo</a:t>
            </a:r>
            <a:r>
              <a:rPr lang="en-US" sz="1800" dirty="0">
                <a:solidFill>
                  <a:srgbClr val="E8E8E8"/>
                </a:solidFill>
                <a:latin typeface="Liter" pitchFamily="34" charset="0"/>
                <a:ea typeface="Liter" pitchFamily="34" charset="-122"/>
                <a:cs typeface="Liter" pitchFamily="34" charset="-120"/>
              </a:rPr>
              <a:t>.</a:t>
            </a:r>
            <a:endParaRPr lang="en-US" sz="1800" dirty="0"/>
          </a:p>
        </p:txBody>
      </p:sp>
      <p:sp>
        <p:nvSpPr>
          <p:cNvPr id="9" name="Shape 7"/>
          <p:cNvSpPr/>
          <p:nvPr/>
        </p:nvSpPr>
        <p:spPr>
          <a:xfrm>
            <a:off x="762000" y="3937000"/>
            <a:ext cx="14732000" cy="2159000"/>
          </a:xfrm>
          <a:prstGeom prst="rect">
            <a:avLst/>
          </a:prstGeom>
          <a:solidFill>
            <a:srgbClr val="14141B"/>
          </a:solidFill>
          <a:ln w="12700">
            <a:solidFill>
              <a:srgbClr val="B8860B"/>
            </a:solidFill>
            <a:prstDash val="solid"/>
          </a:ln>
        </p:spPr>
        <p:txBody>
          <a:bodyPr/>
          <a:lstStyle/>
          <a:p>
            <a:endParaRPr lang="es-CO"/>
          </a:p>
        </p:txBody>
      </p:sp>
      <p:sp>
        <p:nvSpPr>
          <p:cNvPr id="10" name="Shape 8"/>
          <p:cNvSpPr/>
          <p:nvPr/>
        </p:nvSpPr>
        <p:spPr>
          <a:xfrm>
            <a:off x="762000" y="3810000"/>
            <a:ext cx="50800" cy="2032000"/>
          </a:xfrm>
          <a:prstGeom prst="rect">
            <a:avLst/>
          </a:prstGeom>
          <a:solidFill>
            <a:srgbClr val="B8860B"/>
          </a:solidFill>
          <a:ln/>
        </p:spPr>
        <p:txBody>
          <a:bodyPr/>
          <a:lstStyle/>
          <a:p>
            <a:endParaRPr lang="es-CO"/>
          </a:p>
        </p:txBody>
      </p:sp>
      <p:sp>
        <p:nvSpPr>
          <p:cNvPr id="11" name="Text 9"/>
          <p:cNvSpPr/>
          <p:nvPr/>
        </p:nvSpPr>
        <p:spPr>
          <a:xfrm>
            <a:off x="1066800" y="3937000"/>
            <a:ext cx="762000" cy="508000"/>
          </a:xfrm>
          <a:prstGeom prst="rect">
            <a:avLst/>
          </a:prstGeom>
          <a:noFill/>
          <a:ln/>
        </p:spPr>
        <p:txBody>
          <a:bodyPr wrap="none" lIns="0" tIns="0" rIns="0" bIns="0" rtlCol="0" anchor="ctr"/>
          <a:lstStyle/>
          <a:p>
            <a:pPr>
              <a:lnSpc>
                <a:spcPct val="100000"/>
              </a:lnSpc>
            </a:pPr>
            <a:r>
              <a:rPr lang="en-US" sz="2800" b="1" dirty="0">
                <a:solidFill>
                  <a:srgbClr val="B8860B"/>
                </a:solidFill>
                <a:latin typeface="Liter" pitchFamily="34" charset="0"/>
                <a:ea typeface="Liter" pitchFamily="34" charset="-122"/>
                <a:cs typeface="Liter" pitchFamily="34" charset="-120"/>
              </a:rPr>
              <a:t>02</a:t>
            </a:r>
            <a:endParaRPr lang="en-US" sz="1600" dirty="0"/>
          </a:p>
        </p:txBody>
      </p:sp>
      <p:sp>
        <p:nvSpPr>
          <p:cNvPr id="12" name="Text 10"/>
          <p:cNvSpPr/>
          <p:nvPr/>
        </p:nvSpPr>
        <p:spPr>
          <a:xfrm>
            <a:off x="1828800" y="3937000"/>
            <a:ext cx="5080000" cy="355600"/>
          </a:xfrm>
          <a:prstGeom prst="rect">
            <a:avLst/>
          </a:prstGeom>
          <a:noFill/>
          <a:ln/>
        </p:spPr>
        <p:txBody>
          <a:bodyPr wrap="none" lIns="0" tIns="0" rIns="0" bIns="0" rtlCol="0" anchor="ctr"/>
          <a:lstStyle/>
          <a:p>
            <a:pPr>
              <a:lnSpc>
                <a:spcPct val="160000"/>
              </a:lnSpc>
            </a:pPr>
            <a:r>
              <a:rPr lang="en-US" sz="1800" b="1" dirty="0">
                <a:solidFill>
                  <a:srgbClr val="B8860B"/>
                </a:solidFill>
                <a:latin typeface="Liter" pitchFamily="34" charset="0"/>
                <a:ea typeface="Liter" pitchFamily="34" charset="-122"/>
                <a:cs typeface="Liter" pitchFamily="34" charset="-120"/>
              </a:rPr>
              <a:t>JUSTIFICACIÓN DEL NO SUPERVISADO</a:t>
            </a:r>
            <a:endParaRPr lang="en-US" sz="1800" dirty="0"/>
          </a:p>
        </p:txBody>
      </p:sp>
      <p:sp>
        <p:nvSpPr>
          <p:cNvPr id="13" name="Text 11"/>
          <p:cNvSpPr/>
          <p:nvPr/>
        </p:nvSpPr>
        <p:spPr>
          <a:xfrm>
            <a:off x="1066800" y="4572000"/>
            <a:ext cx="14097000" cy="1270000"/>
          </a:xfrm>
          <a:prstGeom prst="rect">
            <a:avLst/>
          </a:prstGeom>
          <a:noFill/>
          <a:ln/>
        </p:spPr>
        <p:txBody>
          <a:bodyPr wrap="square" lIns="0" tIns="0" rIns="0" bIns="0" rtlCol="0" anchor="t"/>
          <a:lstStyle/>
          <a:p>
            <a:pPr>
              <a:lnSpc>
                <a:spcPct val="160000"/>
              </a:lnSpc>
            </a:pPr>
            <a:r>
              <a:rPr lang="en-US" sz="1800" dirty="0">
                <a:solidFill>
                  <a:srgbClr val="E8E8E8"/>
                </a:solidFill>
                <a:latin typeface="Liter" pitchFamily="34" charset="0"/>
                <a:ea typeface="Liter" pitchFamily="34" charset="-122"/>
                <a:cs typeface="Liter" pitchFamily="34" charset="-120"/>
              </a:rPr>
              <a:t>El aprendizaje supervisado requiere </a:t>
            </a:r>
            <a:r>
              <a:rPr lang="en-US" sz="1800" b="1" dirty="0">
                <a:solidFill>
                  <a:srgbClr val="B8860B"/>
                </a:solidFill>
                <a:latin typeface="Liter" pitchFamily="34" charset="0"/>
                <a:ea typeface="Liter" pitchFamily="34" charset="-122"/>
                <a:cs typeface="Liter" pitchFamily="34" charset="-120"/>
              </a:rPr>
              <a:t>anotación pixel-a-píxel por patólogos expertos</a:t>
            </a:r>
            <a:r>
              <a:rPr lang="en-US" sz="1800" dirty="0">
                <a:solidFill>
                  <a:srgbClr val="E8E8E8"/>
                </a:solidFill>
                <a:latin typeface="Liter" pitchFamily="34" charset="0"/>
                <a:ea typeface="Liter" pitchFamily="34" charset="-122"/>
                <a:cs typeface="Liter" pitchFamily="34" charset="-120"/>
              </a:rPr>
              <a:t> (costo: ~4h/lámina). El clustering no supervisado opera directamente sobre la imagen cruda, escalando a miles de láminas sin cuello de botella humano. En un laboratorio de patología colombiano procesando 500 biopsias/semana, esto representa un </a:t>
            </a:r>
            <a:r>
              <a:rPr lang="en-US" sz="1800" b="1" dirty="0">
                <a:solidFill>
                  <a:srgbClr val="008080"/>
                </a:solidFill>
                <a:latin typeface="Liter" pitchFamily="34" charset="0"/>
                <a:ea typeface="Liter" pitchFamily="34" charset="-122"/>
                <a:cs typeface="Liter" pitchFamily="34" charset="-120"/>
              </a:rPr>
              <a:t>ahorro de 2,000 horas mensuales</a:t>
            </a:r>
            <a:r>
              <a:rPr lang="en-US" sz="1800" dirty="0">
                <a:solidFill>
                  <a:srgbClr val="E8E8E8"/>
                </a:solidFill>
                <a:latin typeface="Liter" pitchFamily="34" charset="0"/>
                <a:ea typeface="Liter" pitchFamily="34" charset="-122"/>
                <a:cs typeface="Liter" pitchFamily="34" charset="-120"/>
              </a:rPr>
              <a:t> de trabajo patológico.</a:t>
            </a:r>
            <a:endParaRPr lang="en-US" sz="1800" dirty="0"/>
          </a:p>
        </p:txBody>
      </p:sp>
      <p:sp>
        <p:nvSpPr>
          <p:cNvPr id="14" name="Shape 12"/>
          <p:cNvSpPr/>
          <p:nvPr/>
        </p:nvSpPr>
        <p:spPr>
          <a:xfrm>
            <a:off x="762000" y="6477000"/>
            <a:ext cx="14732000" cy="2159000"/>
          </a:xfrm>
          <a:prstGeom prst="rect">
            <a:avLst/>
          </a:prstGeom>
          <a:solidFill>
            <a:srgbClr val="14141B"/>
          </a:solidFill>
          <a:ln w="12700">
            <a:solidFill>
              <a:srgbClr val="6A5ACD"/>
            </a:solidFill>
            <a:prstDash val="solid"/>
          </a:ln>
        </p:spPr>
        <p:txBody>
          <a:bodyPr/>
          <a:lstStyle/>
          <a:p>
            <a:endParaRPr lang="es-CO"/>
          </a:p>
        </p:txBody>
      </p:sp>
      <p:sp>
        <p:nvSpPr>
          <p:cNvPr id="15" name="Shape 13"/>
          <p:cNvSpPr/>
          <p:nvPr/>
        </p:nvSpPr>
        <p:spPr>
          <a:xfrm>
            <a:off x="762000" y="6096000"/>
            <a:ext cx="50800" cy="2032000"/>
          </a:xfrm>
          <a:prstGeom prst="rect">
            <a:avLst/>
          </a:prstGeom>
          <a:solidFill>
            <a:srgbClr val="6A5ACD"/>
          </a:solidFill>
          <a:ln/>
        </p:spPr>
        <p:txBody>
          <a:bodyPr/>
          <a:lstStyle/>
          <a:p>
            <a:endParaRPr lang="es-CO"/>
          </a:p>
        </p:txBody>
      </p:sp>
      <p:sp>
        <p:nvSpPr>
          <p:cNvPr id="16" name="Text 14"/>
          <p:cNvSpPr/>
          <p:nvPr/>
        </p:nvSpPr>
        <p:spPr>
          <a:xfrm>
            <a:off x="1066800" y="6477000"/>
            <a:ext cx="762000" cy="508000"/>
          </a:xfrm>
          <a:prstGeom prst="rect">
            <a:avLst/>
          </a:prstGeom>
          <a:noFill/>
          <a:ln/>
        </p:spPr>
        <p:txBody>
          <a:bodyPr wrap="none" lIns="0" tIns="0" rIns="0" bIns="0" rtlCol="0" anchor="ctr"/>
          <a:lstStyle/>
          <a:p>
            <a:pPr>
              <a:lnSpc>
                <a:spcPct val="100000"/>
              </a:lnSpc>
            </a:pPr>
            <a:r>
              <a:rPr lang="en-US" sz="2800" b="1" dirty="0">
                <a:solidFill>
                  <a:srgbClr val="6A5ACD"/>
                </a:solidFill>
                <a:latin typeface="Liter" pitchFamily="34" charset="0"/>
                <a:ea typeface="Liter" pitchFamily="34" charset="-122"/>
                <a:cs typeface="Liter" pitchFamily="34" charset="-120"/>
              </a:rPr>
              <a:t>03</a:t>
            </a:r>
            <a:endParaRPr lang="en-US" sz="1600" dirty="0"/>
          </a:p>
        </p:txBody>
      </p:sp>
      <p:sp>
        <p:nvSpPr>
          <p:cNvPr id="17" name="Text 15"/>
          <p:cNvSpPr/>
          <p:nvPr/>
        </p:nvSpPr>
        <p:spPr>
          <a:xfrm>
            <a:off x="1828800" y="6477000"/>
            <a:ext cx="5080000" cy="355600"/>
          </a:xfrm>
          <a:prstGeom prst="rect">
            <a:avLst/>
          </a:prstGeom>
          <a:noFill/>
          <a:ln/>
        </p:spPr>
        <p:txBody>
          <a:bodyPr wrap="none" lIns="0" tIns="0" rIns="0" bIns="0" rtlCol="0" anchor="ctr"/>
          <a:lstStyle/>
          <a:p>
            <a:pPr>
              <a:lnSpc>
                <a:spcPct val="160000"/>
              </a:lnSpc>
            </a:pPr>
            <a:r>
              <a:rPr lang="en-US" sz="1800" b="1" dirty="0">
                <a:solidFill>
                  <a:srgbClr val="6A5ACD"/>
                </a:solidFill>
                <a:latin typeface="Liter" pitchFamily="34" charset="0"/>
                <a:ea typeface="Liter" pitchFamily="34" charset="-122"/>
                <a:cs typeface="Liter" pitchFamily="34" charset="-120"/>
              </a:rPr>
              <a:t>POTENCIAL DE IMPLEMENTACIÓN</a:t>
            </a:r>
            <a:endParaRPr lang="en-US" sz="1800" dirty="0"/>
          </a:p>
        </p:txBody>
      </p:sp>
      <p:sp>
        <p:nvSpPr>
          <p:cNvPr id="18" name="Text 16"/>
          <p:cNvSpPr/>
          <p:nvPr/>
        </p:nvSpPr>
        <p:spPr>
          <a:xfrm>
            <a:off x="1066800" y="6985000"/>
            <a:ext cx="14097000" cy="1270000"/>
          </a:xfrm>
          <a:prstGeom prst="rect">
            <a:avLst/>
          </a:prstGeom>
          <a:noFill/>
          <a:ln/>
        </p:spPr>
        <p:txBody>
          <a:bodyPr wrap="square" lIns="0" tIns="0" rIns="0" bIns="0" rtlCol="0" anchor="t"/>
          <a:lstStyle/>
          <a:p>
            <a:pPr>
              <a:lnSpc>
                <a:spcPct val="160000"/>
              </a:lnSpc>
            </a:pPr>
            <a:r>
              <a:rPr lang="en-US" sz="1800" dirty="0">
                <a:solidFill>
                  <a:srgbClr val="E8E8E8"/>
                </a:solidFill>
                <a:latin typeface="Liter" pitchFamily="34" charset="0"/>
                <a:ea typeface="Liter" pitchFamily="34" charset="-122"/>
                <a:cs typeface="Liter" pitchFamily="34" charset="-120"/>
              </a:rPr>
              <a:t>El pipeline (</a:t>
            </a:r>
            <a:r>
              <a:rPr lang="en-US" sz="1800" b="1" dirty="0">
                <a:solidFill>
                  <a:srgbClr val="008080"/>
                </a:solidFill>
                <a:latin typeface="Liter" pitchFamily="34" charset="0"/>
                <a:ea typeface="Liter" pitchFamily="34" charset="-122"/>
                <a:cs typeface="Liter" pitchFamily="34" charset="-120"/>
              </a:rPr>
              <a:t>OpenCV + scikit-learn</a:t>
            </a:r>
            <a:r>
              <a:rPr lang="en-US" sz="1800" dirty="0">
                <a:solidFill>
                  <a:srgbClr val="E8E8E8"/>
                </a:solidFill>
                <a:latin typeface="Liter" pitchFamily="34" charset="0"/>
                <a:ea typeface="Liter" pitchFamily="34" charset="-122"/>
                <a:cs typeface="Liter" pitchFamily="34" charset="-120"/>
              </a:rPr>
              <a:t>) es ligero, ejecutable en CPU estándar y compatible con formatos DICOM/WSI. Su integración en LIS (Laboratory Information Systems) habilita </a:t>
            </a:r>
            <a:r>
              <a:rPr lang="en-US" sz="1800" b="1" dirty="0">
                <a:solidFill>
                  <a:srgbClr val="6A5ACD"/>
                </a:solidFill>
                <a:latin typeface="Liter" pitchFamily="34" charset="0"/>
                <a:ea typeface="Liter" pitchFamily="34" charset="-122"/>
                <a:cs typeface="Liter" pitchFamily="34" charset="-120"/>
              </a:rPr>
              <a:t>screening automatizado de biopsias colorrectales</a:t>
            </a:r>
            <a:r>
              <a:rPr lang="en-US" sz="1800" dirty="0">
                <a:solidFill>
                  <a:srgbClr val="E8E8E8"/>
                </a:solidFill>
                <a:latin typeface="Liter" pitchFamily="34" charset="0"/>
                <a:ea typeface="Liter" pitchFamily="34" charset="-122"/>
                <a:cs typeface="Liter" pitchFamily="34" charset="-120"/>
              </a:rPr>
              <a:t> en tiempo real. El siguiente escalón es la validación prospectiva en cohorte multicéntrica para obtener certificación IVD (In Vitro Diagnostic).</a:t>
            </a:r>
            <a:endParaRPr lang="en-US" sz="1800" dirty="0"/>
          </a:p>
        </p:txBody>
      </p:sp>
      <p:sp>
        <p:nvSpPr>
          <p:cNvPr id="19" name="Shape 17"/>
          <p:cNvSpPr/>
          <p:nvPr/>
        </p:nvSpPr>
        <p:spPr>
          <a:xfrm>
            <a:off x="762000" y="8763000"/>
            <a:ext cx="14732000" cy="12700"/>
          </a:xfrm>
          <a:prstGeom prst="rect">
            <a:avLst/>
          </a:prstGeom>
          <a:solidFill>
            <a:srgbClr val="2A2A35"/>
          </a:solidFill>
          <a:ln/>
        </p:spPr>
        <p:txBody>
          <a:bodyPr/>
          <a:lstStyle/>
          <a:p>
            <a:endParaRPr lang="es-CO"/>
          </a:p>
        </p:txBody>
      </p:sp>
      <p:sp>
        <p:nvSpPr>
          <p:cNvPr id="20" name="Text 18"/>
          <p:cNvSpPr/>
          <p:nvPr/>
        </p:nvSpPr>
        <p:spPr>
          <a:xfrm>
            <a:off x="762000" y="8839200"/>
            <a:ext cx="6350000" cy="254000"/>
          </a:xfrm>
          <a:prstGeom prst="rect">
            <a:avLst/>
          </a:prstGeom>
          <a:noFill/>
          <a:ln/>
        </p:spPr>
        <p:txBody>
          <a:bodyPr wrap="none" lIns="0" tIns="0" rIns="0" bIns="0" rtlCol="0" anchor="ctr"/>
          <a:lstStyle/>
          <a:p>
            <a:pPr>
              <a:lnSpc>
                <a:spcPct val="140000"/>
              </a:lnSpc>
            </a:pPr>
            <a:r>
              <a:rPr lang="en-US" sz="1400" dirty="0">
                <a:solidFill>
                  <a:srgbClr val="9CA3AF"/>
                </a:solidFill>
                <a:latin typeface="Liter" pitchFamily="34" charset="0"/>
                <a:ea typeface="Liter" pitchFamily="34" charset="-122"/>
                <a:cs typeface="Liter" pitchFamily="34" charset="-120"/>
              </a:rPr>
              <a:t>Próximos pasos: Validación multicéntrica | Certificación IVD | Integración LIS</a:t>
            </a:r>
            <a:endParaRPr lang="en-US" sz="1400" dirty="0"/>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0A0F"/>
        </a:solidFill>
        <a:effectLst/>
      </p:bgPr>
    </p:bg>
    <p:spTree>
      <p:nvGrpSpPr>
        <p:cNvPr id="1" name=""/>
        <p:cNvGrpSpPr/>
        <p:nvPr/>
      </p:nvGrpSpPr>
      <p:grpSpPr>
        <a:xfrm>
          <a:off x="0" y="0"/>
          <a:ext cx="0" cy="0"/>
          <a:chOff x="0" y="0"/>
          <a:chExt cx="0" cy="0"/>
        </a:xfrm>
      </p:grpSpPr>
      <p:sp>
        <p:nvSpPr>
          <p:cNvPr id="2" name="Shape 0"/>
          <p:cNvSpPr/>
          <p:nvPr/>
        </p:nvSpPr>
        <p:spPr>
          <a:xfrm>
            <a:off x="0" y="0"/>
            <a:ext cx="16256000" cy="50800"/>
          </a:xfrm>
          <a:prstGeom prst="rect">
            <a:avLst/>
          </a:prstGeom>
          <a:gradFill flip="none" rotWithShape="1">
            <a:gsLst>
              <a:gs pos="0">
                <a:srgbClr val="008080"/>
              </a:gs>
              <a:gs pos="50000">
                <a:srgbClr val="B8860B"/>
              </a:gs>
              <a:gs pos="100000">
                <a:srgbClr val="6A5ACD"/>
              </a:gs>
            </a:gsLst>
            <a:lin ang="0" scaled="1"/>
          </a:gradFill>
          <a:ln/>
        </p:spPr>
        <p:txBody>
          <a:bodyPr/>
          <a:lstStyle/>
          <a:p>
            <a:endParaRPr lang="es-CO"/>
          </a:p>
        </p:txBody>
      </p:sp>
      <p:sp>
        <p:nvSpPr>
          <p:cNvPr id="3" name="Text 1"/>
          <p:cNvSpPr/>
          <p:nvPr/>
        </p:nvSpPr>
        <p:spPr>
          <a:xfrm>
            <a:off x="1270000" y="2540000"/>
            <a:ext cx="13716000" cy="1016000"/>
          </a:xfrm>
          <a:prstGeom prst="rect">
            <a:avLst/>
          </a:prstGeom>
          <a:noFill/>
          <a:ln/>
        </p:spPr>
        <p:txBody>
          <a:bodyPr wrap="none" lIns="0" tIns="0" rIns="0" bIns="0" rtlCol="0" anchor="ctr"/>
          <a:lstStyle/>
          <a:p>
            <a:pPr algn="ctr">
              <a:lnSpc>
                <a:spcPct val="120000"/>
              </a:lnSpc>
            </a:pPr>
            <a:r>
              <a:rPr lang="en-US" sz="4400" b="1" kern="0" spc="100" dirty="0">
                <a:solidFill>
                  <a:srgbClr val="FFFFFF"/>
                </a:solidFill>
                <a:latin typeface="QuattrocentoSans" pitchFamily="34" charset="0"/>
                <a:ea typeface="QuattrocentoSans" pitchFamily="34" charset="-122"/>
                <a:cs typeface="QuattrocentoSans" pitchFamily="34" charset="-120"/>
              </a:rPr>
              <a:t>SESION DE PREGUNTAS</a:t>
            </a:r>
            <a:endParaRPr lang="en-US" sz="4400" dirty="0"/>
          </a:p>
        </p:txBody>
      </p:sp>
      <p:sp>
        <p:nvSpPr>
          <p:cNvPr id="4" name="Text 2"/>
          <p:cNvSpPr/>
          <p:nvPr/>
        </p:nvSpPr>
        <p:spPr>
          <a:xfrm>
            <a:off x="1270000" y="3683000"/>
            <a:ext cx="13716000" cy="508000"/>
          </a:xfrm>
          <a:prstGeom prst="rect">
            <a:avLst/>
          </a:prstGeom>
          <a:noFill/>
          <a:ln/>
        </p:spPr>
        <p:txBody>
          <a:bodyPr wrap="none" lIns="0" tIns="0" rIns="0" bIns="0" rtlCol="0" anchor="ctr"/>
          <a:lstStyle/>
          <a:p>
            <a:pPr algn="ctr">
              <a:lnSpc>
                <a:spcPct val="140000"/>
              </a:lnSpc>
            </a:pPr>
            <a:r>
              <a:rPr lang="en-US" sz="2200" dirty="0">
                <a:solidFill>
                  <a:srgbClr val="9CA3AF"/>
                </a:solidFill>
                <a:latin typeface="Liter" pitchFamily="34" charset="0"/>
                <a:ea typeface="Liter" pitchFamily="34" charset="-122"/>
                <a:cs typeface="Liter" pitchFamily="34" charset="-120"/>
              </a:rPr>
              <a:t>Q&amp;A | Apéndice Técnico | Discusión de Resultados</a:t>
            </a:r>
            <a:endParaRPr lang="en-US" sz="2200" dirty="0"/>
          </a:p>
        </p:txBody>
      </p:sp>
      <p:sp>
        <p:nvSpPr>
          <p:cNvPr id="5" name="Shape 3"/>
          <p:cNvSpPr/>
          <p:nvPr/>
        </p:nvSpPr>
        <p:spPr>
          <a:xfrm>
            <a:off x="6858000" y="4445000"/>
            <a:ext cx="2540000" cy="25400"/>
          </a:xfrm>
          <a:prstGeom prst="rect">
            <a:avLst/>
          </a:prstGeom>
          <a:solidFill>
            <a:srgbClr val="008080"/>
          </a:solidFill>
          <a:ln/>
        </p:spPr>
        <p:txBody>
          <a:bodyPr/>
          <a:lstStyle/>
          <a:p>
            <a:endParaRPr lang="es-CO"/>
          </a:p>
        </p:txBody>
      </p:sp>
      <p:sp>
        <p:nvSpPr>
          <p:cNvPr id="6" name="Shape 4"/>
          <p:cNvSpPr/>
          <p:nvPr/>
        </p:nvSpPr>
        <p:spPr>
          <a:xfrm>
            <a:off x="1778000" y="5080000"/>
            <a:ext cx="12700000" cy="3302000"/>
          </a:xfrm>
          <a:prstGeom prst="rect">
            <a:avLst/>
          </a:prstGeom>
          <a:solidFill>
            <a:srgbClr val="14141B"/>
          </a:solidFill>
          <a:ln w="12700">
            <a:solidFill>
              <a:srgbClr val="2A2A35"/>
            </a:solidFill>
            <a:prstDash val="solid"/>
          </a:ln>
        </p:spPr>
        <p:txBody>
          <a:bodyPr/>
          <a:lstStyle/>
          <a:p>
            <a:endParaRPr lang="es-CO"/>
          </a:p>
        </p:txBody>
      </p:sp>
      <p:sp>
        <p:nvSpPr>
          <p:cNvPr id="7" name="Text 5"/>
          <p:cNvSpPr/>
          <p:nvPr/>
        </p:nvSpPr>
        <p:spPr>
          <a:xfrm>
            <a:off x="2286000" y="5334000"/>
            <a:ext cx="3810000" cy="304800"/>
          </a:xfrm>
          <a:prstGeom prst="rect">
            <a:avLst/>
          </a:prstGeom>
          <a:noFill/>
          <a:ln/>
        </p:spPr>
        <p:txBody>
          <a:bodyPr wrap="none" lIns="0" tIns="0" rIns="0" bIns="0" rtlCol="0" anchor="ctr"/>
          <a:lstStyle/>
          <a:p>
            <a:pPr>
              <a:lnSpc>
                <a:spcPct val="160000"/>
              </a:lnSpc>
            </a:pPr>
            <a:r>
              <a:rPr lang="en-US" sz="1800" b="1" dirty="0">
                <a:solidFill>
                  <a:srgbClr val="008080"/>
                </a:solidFill>
                <a:latin typeface="Liter" pitchFamily="34" charset="0"/>
                <a:ea typeface="Liter" pitchFamily="34" charset="-122"/>
                <a:cs typeface="Liter" pitchFamily="34" charset="-120"/>
              </a:rPr>
              <a:t>APÉNDICE TÉCNICO</a:t>
            </a:r>
            <a:endParaRPr lang="en-US" sz="1800" dirty="0"/>
          </a:p>
        </p:txBody>
      </p:sp>
      <p:sp>
        <p:nvSpPr>
          <p:cNvPr id="8" name="Shape 6"/>
          <p:cNvSpPr/>
          <p:nvPr/>
        </p:nvSpPr>
        <p:spPr>
          <a:xfrm>
            <a:off x="2286000" y="5765800"/>
            <a:ext cx="11684000" cy="12700"/>
          </a:xfrm>
          <a:prstGeom prst="rect">
            <a:avLst/>
          </a:prstGeom>
          <a:solidFill>
            <a:srgbClr val="2A2A35"/>
          </a:solidFill>
          <a:ln/>
        </p:spPr>
        <p:txBody>
          <a:bodyPr/>
          <a:lstStyle/>
          <a:p>
            <a:endParaRPr lang="es-CO"/>
          </a:p>
        </p:txBody>
      </p:sp>
      <p:sp>
        <p:nvSpPr>
          <p:cNvPr id="9" name="Text 7"/>
          <p:cNvSpPr/>
          <p:nvPr/>
        </p:nvSpPr>
        <p:spPr>
          <a:xfrm>
            <a:off x="2286000" y="5969000"/>
            <a:ext cx="5588000" cy="2349500"/>
          </a:xfrm>
          <a:prstGeom prst="rect">
            <a:avLst/>
          </a:prstGeom>
          <a:noFill/>
          <a:ln/>
        </p:spPr>
        <p:txBody>
          <a:bodyPr wrap="square" lIns="0" tIns="0" rIns="0" bIns="0" rtlCol="0" anchor="t"/>
          <a:lstStyle/>
          <a:p>
            <a:pPr>
              <a:lnSpc>
                <a:spcPct val="150000"/>
              </a:lnSpc>
            </a:pPr>
            <a:r>
              <a:rPr lang="en-US" sz="1600" b="1" dirty="0">
                <a:solidFill>
                  <a:srgbClr val="B8860B"/>
                </a:solidFill>
                <a:latin typeface="Liter" pitchFamily="34" charset="0"/>
                <a:ea typeface="Liter" pitchFamily="34" charset="-122"/>
                <a:cs typeface="Liter" pitchFamily="34" charset="-120"/>
              </a:rPr>
              <a:t>Dataset:</a:t>
            </a:r>
            <a:r>
              <a:rPr lang="en-US" sz="1600" dirty="0">
                <a:solidFill>
                  <a:srgbClr val="9CA3AF"/>
                </a:solidFill>
                <a:latin typeface="Liter" pitchFamily="34" charset="0"/>
                <a:ea typeface="Liter" pitchFamily="34" charset="-122"/>
                <a:cs typeface="Liter" pitchFamily="34" charset="-120"/>
              </a:rPr>
              <a:t> The Human Protein Atlas</a:t>
            </a:r>
            <a:endParaRPr lang="en-US" sz="1600" dirty="0"/>
          </a:p>
          <a:p>
            <a:pPr>
              <a:lnSpc>
                <a:spcPct val="150000"/>
              </a:lnSpc>
            </a:pPr>
            <a:r>
              <a:rPr lang="en-US" sz="1600" dirty="0">
                <a:solidFill>
                  <a:srgbClr val="9CA3AF"/>
                </a:solidFill>
                <a:latin typeface="Liter" pitchFamily="34" charset="0"/>
                <a:ea typeface="Liter" pitchFamily="34" charset="-122"/>
                <a:cs typeface="Liter" pitchFamily="34" charset="-120"/>
              </a:rPr>
              <a:t>Micrografía IHC colorrectal canceroso</a:t>
            </a:r>
            <a:endParaRPr lang="en-US" sz="1600" dirty="0"/>
          </a:p>
          <a:p>
            <a:pPr>
              <a:lnSpc>
                <a:spcPct val="150000"/>
              </a:lnSpc>
            </a:pPr>
            <a:r>
              <a:rPr lang="en-US" sz="1600" dirty="0">
                <a:solidFill>
                  <a:srgbClr val="9CA3AF"/>
                </a:solidFill>
                <a:latin typeface="Liter" pitchFamily="34" charset="0"/>
                <a:ea typeface="Liter" pitchFamily="34" charset="-122"/>
                <a:cs typeface="Liter" pitchFamily="34" charset="-120"/>
              </a:rPr>
              <a:t>Marcador: TP53 (antígeno nuclear)</a:t>
            </a:r>
            <a:endParaRPr lang="en-US" sz="1600" dirty="0"/>
          </a:p>
          <a:p>
            <a:pPr>
              <a:lnSpc>
                <a:spcPct val="150000"/>
              </a:lnSpc>
              <a:spcBef>
                <a:spcPts val="800"/>
              </a:spcBef>
            </a:pPr>
            <a:r>
              <a:rPr lang="en-US" sz="1600" b="1" dirty="0">
                <a:solidFill>
                  <a:srgbClr val="008080"/>
                </a:solidFill>
                <a:latin typeface="Liter" pitchFamily="34" charset="0"/>
                <a:ea typeface="Liter" pitchFamily="34" charset="-122"/>
                <a:cs typeface="Liter" pitchFamily="34" charset="-120"/>
              </a:rPr>
              <a:t>Stack técnico:</a:t>
            </a:r>
            <a:endParaRPr lang="en-US" sz="1600" dirty="0"/>
          </a:p>
          <a:p>
            <a:pPr>
              <a:lnSpc>
                <a:spcPct val="150000"/>
              </a:lnSpc>
            </a:pPr>
            <a:r>
              <a:rPr lang="en-US" sz="1600" dirty="0">
                <a:solidFill>
                  <a:srgbClr val="9CA3AF"/>
                </a:solidFill>
                <a:latin typeface="Liter" pitchFamily="34" charset="0"/>
                <a:ea typeface="Liter" pitchFamily="34" charset="-122"/>
                <a:cs typeface="Liter" pitchFamily="34" charset="-120"/>
              </a:rPr>
              <a:t>Python 3.10 | OpenCV 4.x</a:t>
            </a:r>
            <a:endParaRPr lang="en-US" sz="1600" dirty="0"/>
          </a:p>
          <a:p>
            <a:pPr>
              <a:lnSpc>
                <a:spcPct val="150000"/>
              </a:lnSpc>
            </a:pPr>
            <a:r>
              <a:rPr lang="en-US" sz="1600" dirty="0">
                <a:solidFill>
                  <a:srgbClr val="9CA3AF"/>
                </a:solidFill>
                <a:latin typeface="Liter" pitchFamily="34" charset="0"/>
                <a:ea typeface="Liter" pitchFamily="34" charset="-122"/>
                <a:cs typeface="Liter" pitchFamily="34" charset="-120"/>
              </a:rPr>
              <a:t>scikit-learn 1.3 | NumPy | Matplotlib</a:t>
            </a:r>
            <a:endParaRPr lang="en-US" sz="1600" dirty="0"/>
          </a:p>
        </p:txBody>
      </p:sp>
      <p:sp>
        <p:nvSpPr>
          <p:cNvPr id="10" name="Text 8"/>
          <p:cNvSpPr/>
          <p:nvPr/>
        </p:nvSpPr>
        <p:spPr>
          <a:xfrm>
            <a:off x="8128000" y="5969000"/>
            <a:ext cx="5842000" cy="2349500"/>
          </a:xfrm>
          <a:prstGeom prst="rect">
            <a:avLst/>
          </a:prstGeom>
          <a:noFill/>
          <a:ln/>
        </p:spPr>
        <p:txBody>
          <a:bodyPr wrap="square" lIns="0" tIns="0" rIns="0" bIns="0" rtlCol="0" anchor="t"/>
          <a:lstStyle/>
          <a:p>
            <a:pPr>
              <a:lnSpc>
                <a:spcPct val="150000"/>
              </a:lnSpc>
            </a:pPr>
            <a:r>
              <a:rPr lang="en-US" sz="1600" b="1" dirty="0">
                <a:solidFill>
                  <a:srgbClr val="6A5ACD"/>
                </a:solidFill>
                <a:latin typeface="Liter" pitchFamily="34" charset="0"/>
                <a:ea typeface="Liter" pitchFamily="34" charset="-122"/>
                <a:cs typeface="Liter" pitchFamily="34" charset="-120"/>
              </a:rPr>
              <a:t>Parámetros K-Means:</a:t>
            </a:r>
            <a:endParaRPr lang="en-US" sz="1600" dirty="0"/>
          </a:p>
          <a:p>
            <a:pPr>
              <a:lnSpc>
                <a:spcPct val="150000"/>
              </a:lnSpc>
            </a:pPr>
            <a:r>
              <a:rPr lang="en-US" sz="1600" dirty="0">
                <a:solidFill>
                  <a:srgbClr val="9CA3AF"/>
                </a:solidFill>
                <a:latin typeface="Liter" pitchFamily="34" charset="0"/>
                <a:ea typeface="Liter" pitchFamily="34" charset="-122"/>
                <a:cs typeface="Liter" pitchFamily="34" charset="-120"/>
              </a:rPr>
              <a:t>n_clusters=3 | random_state=42</a:t>
            </a:r>
            <a:endParaRPr lang="en-US" sz="1600" dirty="0"/>
          </a:p>
          <a:p>
            <a:pPr>
              <a:lnSpc>
                <a:spcPct val="150000"/>
              </a:lnSpc>
            </a:pPr>
            <a:r>
              <a:rPr lang="en-US" sz="1600" dirty="0">
                <a:solidFill>
                  <a:srgbClr val="9CA3AF"/>
                </a:solidFill>
                <a:latin typeface="Liter" pitchFamily="34" charset="0"/>
                <a:ea typeface="Liter" pitchFamily="34" charset="-122"/>
                <a:cs typeface="Liter" pitchFamily="34" charset="-120"/>
              </a:rPr>
              <a:t>n_init=10 | max_iter=300</a:t>
            </a:r>
            <a:endParaRPr lang="en-US" sz="1600" dirty="0"/>
          </a:p>
          <a:p>
            <a:pPr>
              <a:lnSpc>
                <a:spcPct val="150000"/>
              </a:lnSpc>
              <a:spcBef>
                <a:spcPts val="800"/>
              </a:spcBef>
            </a:pPr>
            <a:r>
              <a:rPr lang="en-US" sz="1600" b="1" dirty="0">
                <a:solidFill>
                  <a:srgbClr val="6A5ACD"/>
                </a:solidFill>
                <a:latin typeface="Liter" pitchFamily="34" charset="0"/>
                <a:ea typeface="Liter" pitchFamily="34" charset="-122"/>
                <a:cs typeface="Liter" pitchFamily="34" charset="-120"/>
              </a:rPr>
              <a:t>Parámetros Mean Shift:</a:t>
            </a:r>
            <a:endParaRPr lang="en-US" sz="1600" dirty="0"/>
          </a:p>
          <a:p>
            <a:pPr>
              <a:lnSpc>
                <a:spcPct val="150000"/>
              </a:lnSpc>
            </a:pPr>
            <a:r>
              <a:rPr lang="en-US" sz="1600" dirty="0">
                <a:solidFill>
                  <a:srgbClr val="9CA3AF"/>
                </a:solidFill>
                <a:latin typeface="Liter" pitchFamily="34" charset="0"/>
                <a:ea typeface="Liter" pitchFamily="34" charset="-122"/>
                <a:cs typeface="Liter" pitchFamily="34" charset="-120"/>
              </a:rPr>
              <a:t>estimate_bandwidth | quantile=0.1</a:t>
            </a:r>
            <a:endParaRPr lang="en-US" sz="1600" dirty="0"/>
          </a:p>
          <a:p>
            <a:pPr>
              <a:lnSpc>
                <a:spcPct val="150000"/>
              </a:lnSpc>
            </a:pPr>
            <a:r>
              <a:rPr lang="en-US" sz="1600" dirty="0">
                <a:solidFill>
                  <a:srgbClr val="9CA3AF"/>
                </a:solidFill>
                <a:latin typeface="Liter" pitchFamily="34" charset="0"/>
                <a:ea typeface="Liter" pitchFamily="34" charset="-122"/>
                <a:cs typeface="Liter" pitchFamily="34" charset="-120"/>
              </a:rPr>
              <a:t>n_samples=1,000 | bin_seeding=True</a:t>
            </a:r>
            <a:endParaRPr lang="en-US" sz="1600" dirty="0"/>
          </a:p>
        </p:txBody>
      </p:sp>
      <p:sp>
        <p:nvSpPr>
          <p:cNvPr id="11" name="Shape 9"/>
          <p:cNvSpPr/>
          <p:nvPr/>
        </p:nvSpPr>
        <p:spPr>
          <a:xfrm>
            <a:off x="0" y="9093200"/>
            <a:ext cx="16256000" cy="50800"/>
          </a:xfrm>
          <a:prstGeom prst="rect">
            <a:avLst/>
          </a:prstGeom>
          <a:gradFill flip="none" rotWithShape="1">
            <a:gsLst>
              <a:gs pos="0">
                <a:srgbClr val="6A5ACD"/>
              </a:gs>
              <a:gs pos="50000">
                <a:srgbClr val="B8860B"/>
              </a:gs>
              <a:gs pos="100000">
                <a:srgbClr val="008080"/>
              </a:gs>
            </a:gsLst>
            <a:lin ang="0" scaled="1"/>
          </a:gradFill>
          <a:ln/>
        </p:spPr>
        <p:txBody>
          <a:bodyPr/>
          <a:lstStyle/>
          <a:p>
            <a:endParaRPr lang="es-CO"/>
          </a:p>
        </p:txBody>
      </p:sp>
    </p:spTree>
  </p:cSld>
  <p:clrMapOvr>
    <a:masterClrMapping/>
  </p:clrMapOvr>
  <p:transition>
    <p:fade/>
  </p:transition>
</p:sld>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160</TotalTime>
  <Words>2032</Words>
  <Application>Microsoft Office PowerPoint</Application>
  <PresentationFormat>Personalizado</PresentationFormat>
  <Paragraphs>267</Paragraphs>
  <Slides>12</Slides>
  <Notes>12</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12</vt:i4>
      </vt:variant>
    </vt:vector>
  </HeadingPairs>
  <TitlesOfParts>
    <vt:vector size="18" baseType="lpstr">
      <vt:lpstr>Arial</vt:lpstr>
      <vt:lpstr>Quattrocento Sans</vt:lpstr>
      <vt:lpstr>Liter</vt:lpstr>
      <vt:lpstr>QuattrocentoSans</vt:lpstr>
      <vt:lpstr>Google Sans Text</vt:lpstr>
      <vt:lpstr>Custom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Segmentación Automatizada de Cáncer Colorrectal y Cuantificación de TP53</dc:title>
  <dc:subject>Segmentación Automatizada de Cáncer Colorrectal y Cuantificación de TP53</dc:subject>
  <dc:creator>Kimi</dc:creator>
  <cp:lastModifiedBy>ZULUAGA RESTREPO EMANUEL</cp:lastModifiedBy>
  <cp:revision>3</cp:revision>
  <dcterms:created xsi:type="dcterms:W3CDTF">2026-05-06T17:30:00Z</dcterms:created>
  <dcterms:modified xsi:type="dcterms:W3CDTF">2026-05-07T03:18:21Z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{"Label":"Segmentación Automatizada de Cáncer Colorrectal y Cuantificación de TP53","ContentProducer":"001191110108MACG2KBH8F10000","ProduceID":"19dfe565-1bb2-8824-8000-00009337a08c","ReservedCode1":"","ContentPropagator":"001191110108MACG2KBH8F20000","PropagateID":"19dfe565-1bb2-8824-8000-00009337a08c","ReservedCode2":""}</vt:lpwstr>
  </property>
</Properties>
</file>